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(20s): "Criminals don't hide in single transactions — they hide in networks. Chakravyuh finds the network, across banks, and hands the officer a finished case. The loop on the right is our hero ring: 2.4 crore going round six accounts in under three hours. By the end you will see why no single bank can catch it, and how we do." Point at the status box: stages 1–4 are built and verified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(40s): "Laundering is 2 to 5 percent of world GDP, under 1 percent is ever caught, banks spend 206 billion dollars a year on compliance, and still about 95 percent of alerts are false. The reason is structural: software checks each transfer alone. TD Bank left 92 percent of its volume unmonitored while three networks moved 670 million dollars through it. India froze 4.5 lakh mule accounts in one sweep, but freezing accounts after the fact doesn't touch the network." Then the table: "Existing systems score transactions. We score networks, and return a finished case." If asked "isn't this an LLM wrapper?": the LLM does no detection; graph analysis finds and proves the structure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(45s). Rule #1: detection is deterministic. "A regulator cannot accept 'the model felt it was suspicious'. Graph algorithms find and prove the structure; the LLM only turns a verified finding into language." Stages 1–4 are built and committed, 5 is being built now, 6–8 tonight. Identities resolve BEFORE the graph is built, because a circle is invisible while its accounts look like strangers. Data: 80,000 transactions, 12 hidden rings, only 0.32 percent of transactions. Ring transactions by method: mule 154, structuring 65, circular 23, velocity 16. If told "your data is fake": synthetic by design, rings at known positions so accuracy is measurable; real systems learn from filed reports, which are analyst opinions, not convictions.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"Banks store the same person many times: different systems, spellings, blank fields. Here is a real person from our data written four ways, including on the watchlist as 'Balaji Malhorta'. We merge records in three tiers. Precision is exactly 1.0: not one false merge, because a false merge means accusing an innocent person. Missing a link is acceptable; inventing one is not." Key number: 147 ring accounts collapse to 82 real people. That is what makes the circles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MOMENT (60s). "Three people, each with one account in each bank. Hop 1→2 happens entirely inside Bank A, so Bank B is blind to it. Hop 3→4 is entirely inside Bank B, so Bank A is blind. Each bank sees 5 of 6 hops and the loop never closes. Together, the 2.4 crore comes straight back to where it started." Privacy: "Banks can't pool customer data. The consortium only sees salted PAN hashes, amount bands and hour buckets. That alone finds 2,050 lookalike loops, so each bank privately checks the junctions it holds and answers yes or no. 2,050 becomes 5, all real rings. The consortium never sees an amount." If asked "why not just pool data?": customer data can't simply be pooled; we share only hashes, bands and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small detectors, each hunting one shape. One signal alone is weak; a circle plus speed is not. Every threshold has a real-world reason: 10 lakh is the Cash Transaction Report limit, 50,000 is where PAN becomes mandatory for cash. We never tuned a threshold after looking at the score." Lanes: "A criminal we already know may move money in a shape that looks innocent, so known people get a lower bar. That is risk-based monitoring and enhanced due diligence." Pre-empt: "Did you only catch them because you knew who they were? No: with nobody on the watchlist we still catch 11 of 12 with zero false alarms." If told lower thresholds harass wrongly listed people: extra scrutiny only creates a case for a human, never an automatic freeze, and every decision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slowly: 11 of 12 rings, zero false alarms, identity precision exactly 1.0, the consortium narrowing 2,050 candidates to 5, whole run about 6 seconds. Own the miss before anyone finds it: the slow 6-day loop; precision over recall is deliberate. If asked how we know detectors aren't tuned to the answers: the answer key is readable only by scoring code, thresholds come from real rules, and we kept the ring we missed. Then tonight's plan: case builder, then the two AI agents (one writes, one attacks every number), then the officer approves. An AI inventing a detail in a legal filing would be a disaster; the verifier is our safety net. Everything is committed after each stage (judges check commits at 2:30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run the three commands in order (under a minute in total). Point at precision 1.0000, the hero check (BANK_A and BANK_B not found, CONSORTIUM found), and 11 of 12 with the discovery-only line. Describe beats 6–7 as tonight's work. Then ask the four questions and write down the answers; they are real decisions for tonight. Close: "Existing systems score transactions. Chakravyuh scores networks, and hands the officer a finished case."
BACKUP Q&amp;A:
- Isn't this an LLM wrapper? The LLM does no detection; graph analysis finds and proves the structure first, and the AI only writes it up.
- What if the criminal isn't on a watchlist? Detectors sweep the whole map; with nobody listed we still catch 11 of 12, 0 false alarms.
- Your data is fake. Synthetic by design, rings at known positions so accuracy is measurable.
- Lower thresholds harass wrongly listed people? A hit only creates a case for a human, never a freeze; everything is logged.
- Why not pool data? Customer data can't simply be pooled; we share only hashes, bands and buckets, and banks confirm their own part.
- Tuned to the answers? The answer key is read only by scoring code; thresholds come from real rules; we kept the one ring we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72800" cy="274320"/>
          </a:xfrm>
          <a:prstGeom prst="rect">
            <a:avLst/>
          </a:prstGeom>
          <a:noFill/>
          <a:ln/>
        </p:spPr>
        <p:txBody>
          <a:bodyPr wrap="square" lIns="0" tIns="0" rIns="0" bIns="0" rtlCol="0" anchor="t"/>
          <a:lstStyle/>
          <a:p>
            <a:pPr indent="0" marL="0">
              <a:buNone/>
            </a:pPr>
            <a:r>
              <a:rPr lang="en-US" sz="1100" b="1" spc="300" kern="0" dirty="0">
                <a:solidFill>
                  <a:srgbClr val="22D3EE"/>
                </a:solidFill>
                <a:latin typeface="Calibri" pitchFamily="34" charset="0"/>
                <a:ea typeface="Calibri" pitchFamily="34" charset="-122"/>
                <a:cs typeface="Calibri" pitchFamily="34" charset="-120"/>
              </a:rPr>
              <a:t>TEAM TECH CODERS  ·  7-300  ·  PROBLEM STATEMENT FC-02  ·  FINTECH &amp; CYBER</a:t>
            </a:r>
            <a:endParaRPr lang="en-US" sz="1100" dirty="0"/>
          </a:p>
        </p:txBody>
      </p:sp>
      <p:sp>
        <p:nvSpPr>
          <p:cNvPr id="3" name="Shape 1"/>
          <p:cNvSpPr/>
          <p:nvPr/>
        </p:nvSpPr>
        <p:spPr>
          <a:xfrm>
            <a:off x="640080" y="1234440"/>
            <a:ext cx="731520" cy="731520"/>
          </a:xfrm>
          <a:prstGeom prst="ellipse">
            <a:avLst/>
          </a:prstGeom>
          <a:solidFill>
            <a:srgbClr val="071A24"/>
          </a:solidFill>
          <a:ln w="15875">
            <a:solidFill>
              <a:srgbClr val="22D3EE"/>
            </a:solidFill>
            <a:prstDash val="solid"/>
          </a:ln>
        </p:spPr>
      </p:sp>
      <p:pic>
        <p:nvPicPr>
          <p:cNvPr id="4" name="Image 0" descr="preencoded.png">    </p:cNvPr>
          <p:cNvPicPr>
            <a:picLocks noChangeAspect="1"/>
          </p:cNvPicPr>
          <p:nvPr/>
        </p:nvPicPr>
        <p:blipFill>
          <a:blip r:embed="rId2"/>
          <a:stretch>
            <a:fillRect/>
          </a:stretch>
        </p:blipFill>
        <p:spPr>
          <a:xfrm>
            <a:off x="822960" y="1417320"/>
            <a:ext cx="365760" cy="365760"/>
          </a:xfrm>
          <a:prstGeom prst="rect">
            <a:avLst/>
          </a:prstGeom>
        </p:spPr>
      </p:pic>
      <p:sp>
        <p:nvSpPr>
          <p:cNvPr id="5" name="Text 2"/>
          <p:cNvSpPr txBox="1"/>
          <p:nvPr/>
        </p:nvSpPr>
        <p:spPr>
          <a:xfrm>
            <a:off x="640080" y="2103120"/>
            <a:ext cx="6858000" cy="100584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CHAKRAVYUH</a:t>
            </a:r>
            <a:endParaRPr lang="en-US" sz="6400" dirty="0"/>
          </a:p>
        </p:txBody>
      </p:sp>
      <p:sp>
        <p:nvSpPr>
          <p:cNvPr id="6" name="Text 3"/>
          <p:cNvSpPr txBox="1"/>
          <p:nvPr/>
        </p:nvSpPr>
        <p:spPr>
          <a:xfrm>
            <a:off x="640080" y="3108960"/>
            <a:ext cx="6858000" cy="502920"/>
          </a:xfrm>
          <a:prstGeom prst="rect">
            <a:avLst/>
          </a:prstGeom>
          <a:noFill/>
          <a:ln/>
        </p:spPr>
        <p:txBody>
          <a:bodyPr wrap="square" lIns="0" tIns="0" rIns="0" bIns="0" rtlCol="0" anchor="ctr"/>
          <a:lstStyle/>
          <a:p>
            <a:pPr indent="0" marL="0">
              <a:buNone/>
            </a:pPr>
            <a:r>
              <a:rPr lang="en-US" sz="2400" dirty="0">
                <a:solidFill>
                  <a:srgbClr val="E8EEF6"/>
                </a:solidFill>
                <a:latin typeface="Cambria" pitchFamily="34" charset="0"/>
                <a:ea typeface="Cambria" pitchFamily="34" charset="-122"/>
                <a:cs typeface="Cambria" pitchFamily="34" charset="-120"/>
              </a:rPr>
              <a:t>Finding the </a:t>
            </a:r>
            <a:pPr indent="0" marL="0">
              <a:buNone/>
            </a:pPr>
            <a:r>
              <a:rPr lang="en-US" sz="2400" b="1" i="1" dirty="0">
                <a:solidFill>
                  <a:srgbClr val="22D3EE"/>
                </a:solidFill>
                <a:latin typeface="Cambria" pitchFamily="34" charset="0"/>
                <a:ea typeface="Cambria" pitchFamily="34" charset="-122"/>
                <a:cs typeface="Cambria" pitchFamily="34" charset="-120"/>
              </a:rPr>
              <a:t>gang</a:t>
            </a:r>
            <a:pPr indent="0" marL="0">
              <a:buNone/>
            </a:pPr>
            <a:r>
              <a:rPr lang="en-US" sz="2400" dirty="0">
                <a:solidFill>
                  <a:srgbClr val="E8EEF6"/>
                </a:solidFill>
                <a:latin typeface="Cambria" pitchFamily="34" charset="0"/>
                <a:ea typeface="Cambria" pitchFamily="34" charset="-122"/>
                <a:cs typeface="Cambria" pitchFamily="34" charset="-120"/>
              </a:rPr>
              <a:t> hidden inside a bank’s ledger</a:t>
            </a:r>
            <a:endParaRPr lang="en-US" sz="2400" dirty="0"/>
          </a:p>
        </p:txBody>
      </p:sp>
      <p:sp>
        <p:nvSpPr>
          <p:cNvPr id="7" name="Text 4"/>
          <p:cNvSpPr txBox="1"/>
          <p:nvPr/>
        </p:nvSpPr>
        <p:spPr>
          <a:xfrm>
            <a:off x="640080" y="3794760"/>
            <a:ext cx="6309360" cy="914400"/>
          </a:xfrm>
          <a:prstGeom prst="rect">
            <a:avLst/>
          </a:prstGeom>
          <a:noFill/>
          <a:ln/>
        </p:spPr>
        <p:txBody>
          <a:bodyPr wrap="square" lIns="0" tIns="0" rIns="0" bIns="0" rtlCol="0" anchor="t"/>
          <a:lstStyle/>
          <a:p>
            <a:pPr indent="0" marL="0">
              <a:buNone/>
            </a:pPr>
            <a:r>
              <a:rPr lang="en-US" sz="1400" dirty="0">
                <a:solidFill>
                  <a:srgbClr val="9AAEC6"/>
                </a:solidFill>
                <a:latin typeface="Calibri" pitchFamily="34" charset="0"/>
                <a:ea typeface="Calibri" pitchFamily="34" charset="-122"/>
                <a:cs typeface="Calibri" pitchFamily="34" charset="-120"/>
              </a:rPr>
              <a:t>An anti-money-laundering system that finds laundering networks, not suspicious transactions — across banks that never share customer data — and hands a human officer a finished, evidence-backed case to approve.</a:t>
            </a:r>
            <a:endParaRPr lang="en-US" sz="1400" dirty="0"/>
          </a:p>
        </p:txBody>
      </p:sp>
      <p:sp>
        <p:nvSpPr>
          <p:cNvPr id="8" name="Shape 5"/>
          <p:cNvSpPr/>
          <p:nvPr/>
        </p:nvSpPr>
        <p:spPr>
          <a:xfrm>
            <a:off x="640080" y="4983480"/>
            <a:ext cx="1595628" cy="237744"/>
          </a:xfrm>
          <a:prstGeom prst="roundRect">
            <a:avLst>
              <a:gd name="adj" fmla="val 50000"/>
            </a:avLst>
          </a:prstGeom>
          <a:solidFill>
            <a:srgbClr val="06202A"/>
          </a:solidFill>
          <a:ln w="9525">
            <a:solidFill>
              <a:srgbClr val="22D3EE"/>
            </a:solidFill>
            <a:prstDash val="solid"/>
          </a:ln>
        </p:spPr>
      </p:sp>
      <p:sp>
        <p:nvSpPr>
          <p:cNvPr id="9" name="Text 6"/>
          <p:cNvSpPr txBox="1"/>
          <p:nvPr/>
        </p:nvSpPr>
        <p:spPr>
          <a:xfrm>
            <a:off x="640080" y="4983480"/>
            <a:ext cx="1595628" cy="237744"/>
          </a:xfrm>
          <a:prstGeom prst="rect">
            <a:avLst/>
          </a:prstGeom>
          <a:noFill/>
          <a:ln/>
        </p:spPr>
        <p:txBody>
          <a:bodyPr wrap="square" lIns="0" tIns="0" rIns="0" bIns="0" rtlCol="0" anchor="ctr"/>
          <a:lstStyle/>
          <a:p>
            <a:pPr algn="ctr" indent="0" marL="0">
              <a:buNone/>
            </a:pPr>
            <a:r>
              <a:rPr lang="en-US" sz="900" b="1" spc="100" kern="0" dirty="0">
                <a:solidFill>
                  <a:srgbClr val="22D3EE"/>
                </a:solidFill>
                <a:latin typeface="Calibri" pitchFamily="34" charset="0"/>
                <a:ea typeface="Calibri" pitchFamily="34" charset="-122"/>
                <a:cs typeface="Calibri" pitchFamily="34" charset="-120"/>
              </a:rPr>
              <a:t>ENTITY RESOLUTION</a:t>
            </a:r>
            <a:endParaRPr lang="en-US" sz="900" dirty="0"/>
          </a:p>
        </p:txBody>
      </p:sp>
      <p:sp>
        <p:nvSpPr>
          <p:cNvPr id="10" name="Shape 7"/>
          <p:cNvSpPr/>
          <p:nvPr/>
        </p:nvSpPr>
        <p:spPr>
          <a:xfrm>
            <a:off x="2345436" y="4983480"/>
            <a:ext cx="1440180" cy="237744"/>
          </a:xfrm>
          <a:prstGeom prst="roundRect">
            <a:avLst>
              <a:gd name="adj" fmla="val 50000"/>
            </a:avLst>
          </a:prstGeom>
          <a:solidFill>
            <a:srgbClr val="06202A"/>
          </a:solidFill>
          <a:ln w="9525">
            <a:solidFill>
              <a:srgbClr val="22D3EE"/>
            </a:solidFill>
            <a:prstDash val="solid"/>
          </a:ln>
        </p:spPr>
      </p:sp>
      <p:sp>
        <p:nvSpPr>
          <p:cNvPr id="11" name="Text 8"/>
          <p:cNvSpPr txBox="1"/>
          <p:nvPr/>
        </p:nvSpPr>
        <p:spPr>
          <a:xfrm>
            <a:off x="2345436" y="4983480"/>
            <a:ext cx="1440180" cy="237744"/>
          </a:xfrm>
          <a:prstGeom prst="rect">
            <a:avLst/>
          </a:prstGeom>
          <a:noFill/>
          <a:ln/>
        </p:spPr>
        <p:txBody>
          <a:bodyPr wrap="square" lIns="0" tIns="0" rIns="0" bIns="0" rtlCol="0" anchor="ctr"/>
          <a:lstStyle/>
          <a:p>
            <a:pPr algn="ctr" indent="0" marL="0">
              <a:buNone/>
            </a:pPr>
            <a:r>
              <a:rPr lang="en-US" sz="900" b="1" spc="100" kern="0" dirty="0">
                <a:solidFill>
                  <a:srgbClr val="22D3EE"/>
                </a:solidFill>
                <a:latin typeface="Calibri" pitchFamily="34" charset="0"/>
                <a:ea typeface="Calibri" pitchFamily="34" charset="-122"/>
                <a:cs typeface="Calibri" pitchFamily="34" charset="-120"/>
              </a:rPr>
              <a:t>GRAPH DETECTION</a:t>
            </a:r>
            <a:endParaRPr lang="en-US" sz="900" dirty="0"/>
          </a:p>
        </p:txBody>
      </p:sp>
      <p:sp>
        <p:nvSpPr>
          <p:cNvPr id="12" name="Shape 9"/>
          <p:cNvSpPr/>
          <p:nvPr/>
        </p:nvSpPr>
        <p:spPr>
          <a:xfrm>
            <a:off x="3895344" y="4983480"/>
            <a:ext cx="2528316" cy="237744"/>
          </a:xfrm>
          <a:prstGeom prst="roundRect">
            <a:avLst>
              <a:gd name="adj" fmla="val 50000"/>
            </a:avLst>
          </a:prstGeom>
          <a:solidFill>
            <a:srgbClr val="06202A"/>
          </a:solidFill>
          <a:ln w="9525">
            <a:solidFill>
              <a:srgbClr val="22D3EE"/>
            </a:solidFill>
            <a:prstDash val="solid"/>
          </a:ln>
        </p:spPr>
      </p:sp>
      <p:sp>
        <p:nvSpPr>
          <p:cNvPr id="13" name="Text 10"/>
          <p:cNvSpPr txBox="1"/>
          <p:nvPr/>
        </p:nvSpPr>
        <p:spPr>
          <a:xfrm>
            <a:off x="3895344" y="4983480"/>
            <a:ext cx="2528316" cy="237744"/>
          </a:xfrm>
          <a:prstGeom prst="rect">
            <a:avLst/>
          </a:prstGeom>
          <a:noFill/>
          <a:ln/>
        </p:spPr>
        <p:txBody>
          <a:bodyPr wrap="square" lIns="0" tIns="0" rIns="0" bIns="0" rtlCol="0" anchor="ctr"/>
          <a:lstStyle/>
          <a:p>
            <a:pPr algn="ctr" indent="0" marL="0">
              <a:buNone/>
            </a:pPr>
            <a:r>
              <a:rPr lang="en-US" sz="900" b="1" spc="100" kern="0" dirty="0">
                <a:solidFill>
                  <a:srgbClr val="22D3EE"/>
                </a:solidFill>
                <a:latin typeface="Calibri" pitchFamily="34" charset="0"/>
                <a:ea typeface="Calibri" pitchFamily="34" charset="-122"/>
                <a:cs typeface="Calibri" pitchFamily="34" charset="-120"/>
              </a:rPr>
              <a:t>PRIVACY-PRESERVING CROSS-BANK</a:t>
            </a:r>
            <a:endParaRPr lang="en-US" sz="900" dirty="0"/>
          </a:p>
        </p:txBody>
      </p:sp>
      <p:sp>
        <p:nvSpPr>
          <p:cNvPr id="14" name="Shape 11"/>
          <p:cNvSpPr/>
          <p:nvPr/>
        </p:nvSpPr>
        <p:spPr>
          <a:xfrm>
            <a:off x="6533388" y="4983480"/>
            <a:ext cx="1440180" cy="237744"/>
          </a:xfrm>
          <a:prstGeom prst="roundRect">
            <a:avLst>
              <a:gd name="adj" fmla="val 50000"/>
            </a:avLst>
          </a:prstGeom>
          <a:solidFill>
            <a:srgbClr val="06202A"/>
          </a:solidFill>
          <a:ln w="9525">
            <a:solidFill>
              <a:srgbClr val="22D3EE"/>
            </a:solidFill>
            <a:prstDash val="solid"/>
          </a:ln>
        </p:spPr>
      </p:sp>
      <p:sp>
        <p:nvSpPr>
          <p:cNvPr id="15" name="Text 12"/>
          <p:cNvSpPr txBox="1"/>
          <p:nvPr/>
        </p:nvSpPr>
        <p:spPr>
          <a:xfrm>
            <a:off x="6533388" y="4983480"/>
            <a:ext cx="1440180" cy="237744"/>
          </a:xfrm>
          <a:prstGeom prst="rect">
            <a:avLst/>
          </a:prstGeom>
          <a:noFill/>
          <a:ln/>
        </p:spPr>
        <p:txBody>
          <a:bodyPr wrap="square" lIns="0" tIns="0" rIns="0" bIns="0" rtlCol="0" anchor="ctr"/>
          <a:lstStyle/>
          <a:p>
            <a:pPr algn="ctr" indent="0" marL="0">
              <a:buNone/>
            </a:pPr>
            <a:r>
              <a:rPr lang="en-US" sz="900" b="1" spc="100" kern="0" dirty="0">
                <a:solidFill>
                  <a:srgbClr val="22D3EE"/>
                </a:solidFill>
                <a:latin typeface="Calibri" pitchFamily="34" charset="0"/>
                <a:ea typeface="Calibri" pitchFamily="34" charset="-122"/>
                <a:cs typeface="Calibri" pitchFamily="34" charset="-120"/>
              </a:rPr>
              <a:t>AI CASE WRITING</a:t>
            </a:r>
            <a:endParaRPr lang="en-US" sz="900" dirty="0"/>
          </a:p>
        </p:txBody>
      </p:sp>
      <p:sp>
        <p:nvSpPr>
          <p:cNvPr id="16" name="Shape 13"/>
          <p:cNvSpPr/>
          <p:nvPr/>
        </p:nvSpPr>
        <p:spPr>
          <a:xfrm>
            <a:off x="8083296" y="4983480"/>
            <a:ext cx="1362456" cy="237744"/>
          </a:xfrm>
          <a:prstGeom prst="roundRect">
            <a:avLst>
              <a:gd name="adj" fmla="val 50000"/>
            </a:avLst>
          </a:prstGeom>
          <a:solidFill>
            <a:srgbClr val="06202A"/>
          </a:solidFill>
          <a:ln w="9525">
            <a:solidFill>
              <a:srgbClr val="22D3EE"/>
            </a:solidFill>
            <a:prstDash val="solid"/>
          </a:ln>
        </p:spPr>
      </p:sp>
      <p:sp>
        <p:nvSpPr>
          <p:cNvPr id="17" name="Text 14"/>
          <p:cNvSpPr txBox="1"/>
          <p:nvPr/>
        </p:nvSpPr>
        <p:spPr>
          <a:xfrm>
            <a:off x="8083296" y="4983480"/>
            <a:ext cx="1362456" cy="237744"/>
          </a:xfrm>
          <a:prstGeom prst="rect">
            <a:avLst/>
          </a:prstGeom>
          <a:noFill/>
          <a:ln/>
        </p:spPr>
        <p:txBody>
          <a:bodyPr wrap="square" lIns="0" tIns="0" rIns="0" bIns="0" rtlCol="0" anchor="ctr"/>
          <a:lstStyle/>
          <a:p>
            <a:pPr algn="ctr" indent="0" marL="0">
              <a:buNone/>
            </a:pPr>
            <a:r>
              <a:rPr lang="en-US" sz="900" b="1" spc="100" kern="0" dirty="0">
                <a:solidFill>
                  <a:srgbClr val="22D3EE"/>
                </a:solidFill>
                <a:latin typeface="Calibri" pitchFamily="34" charset="0"/>
                <a:ea typeface="Calibri" pitchFamily="34" charset="-122"/>
                <a:cs typeface="Calibri" pitchFamily="34" charset="-120"/>
              </a:rPr>
              <a:t>HUMAN APPROVAL</a:t>
            </a:r>
            <a:endParaRPr lang="en-US" sz="900" dirty="0"/>
          </a:p>
        </p:txBody>
      </p:sp>
      <p:sp>
        <p:nvSpPr>
          <p:cNvPr id="18" name="Shape 15"/>
          <p:cNvSpPr/>
          <p:nvPr/>
        </p:nvSpPr>
        <p:spPr>
          <a:xfrm>
            <a:off x="640080" y="5532120"/>
            <a:ext cx="5120640" cy="566928"/>
          </a:xfrm>
          <a:prstGeom prst="roundRect">
            <a:avLst>
              <a:gd name="adj" fmla="val 16129"/>
            </a:avLst>
          </a:prstGeom>
          <a:solidFill>
            <a:srgbClr val="0B2A22"/>
          </a:solidFill>
          <a:ln w="12700">
            <a:solidFill>
              <a:srgbClr val="34D399"/>
            </a:solidFill>
            <a:prstDash val="solid"/>
          </a:ln>
        </p:spPr>
      </p:sp>
      <p:pic>
        <p:nvPicPr>
          <p:cNvPr id="19" name="Image 1" descr="preencoded.png">    </p:cNvPr>
          <p:cNvPicPr>
            <a:picLocks noChangeAspect="1"/>
          </p:cNvPicPr>
          <p:nvPr/>
        </p:nvPicPr>
        <p:blipFill>
          <a:blip r:embed="rId3"/>
          <a:stretch>
            <a:fillRect/>
          </a:stretch>
        </p:blipFill>
        <p:spPr>
          <a:xfrm>
            <a:off x="804672" y="5669280"/>
            <a:ext cx="292608" cy="292608"/>
          </a:xfrm>
          <a:prstGeom prst="rect">
            <a:avLst/>
          </a:prstGeom>
        </p:spPr>
      </p:pic>
      <p:sp>
        <p:nvSpPr>
          <p:cNvPr id="20" name="Text 16"/>
          <p:cNvSpPr txBox="1"/>
          <p:nvPr/>
        </p:nvSpPr>
        <p:spPr>
          <a:xfrm>
            <a:off x="1207008" y="5532120"/>
            <a:ext cx="4480560" cy="566928"/>
          </a:xfrm>
          <a:prstGeom prst="rect">
            <a:avLst/>
          </a:prstGeom>
          <a:noFill/>
          <a:ln/>
        </p:spPr>
        <p:txBody>
          <a:bodyPr wrap="square" lIns="0" tIns="0" rIns="0" bIns="0" rtlCol="0" anchor="ctr"/>
          <a:lstStyle/>
          <a:p>
            <a:pPr indent="0" marL="0">
              <a:buNone/>
            </a:pPr>
            <a:r>
              <a:rPr lang="en-US" sz="1250" dirty="0">
                <a:solidFill>
                  <a:srgbClr val="E8EEF6"/>
                </a:solidFill>
                <a:latin typeface="Calibri" pitchFamily="34" charset="0"/>
                <a:ea typeface="Calibri" pitchFamily="34" charset="-122"/>
                <a:cs typeface="Calibri" pitchFamily="34" charset="-120"/>
              </a:rPr>
              <a:t>Stages 1–4 built, verified and committed. Running on 80,000 transactions.</a:t>
            </a:r>
            <a:endParaRPr lang="en-US" sz="1250" dirty="0"/>
          </a:p>
        </p:txBody>
      </p:sp>
      <p:sp>
        <p:nvSpPr>
          <p:cNvPr id="21" name="Shape 17"/>
          <p:cNvSpPr/>
          <p:nvPr/>
        </p:nvSpPr>
        <p:spPr>
          <a:xfrm>
            <a:off x="9695483" y="1623060"/>
            <a:ext cx="712704" cy="411480"/>
          </a:xfrm>
          <a:prstGeom prst="line">
            <a:avLst/>
          </a:prstGeom>
          <a:noFill/>
          <a:ln w="22225">
            <a:solidFill>
              <a:srgbClr val="22D3EE">
                <a:alpha val="80000"/>
              </a:srgbClr>
            </a:solidFill>
            <a:prstDash val="solid"/>
            <a:tailEnd type="triangle"/>
          </a:ln>
        </p:spPr>
      </p:sp>
      <p:sp>
        <p:nvSpPr>
          <p:cNvPr id="22" name="Shape 18"/>
          <p:cNvSpPr/>
          <p:nvPr/>
        </p:nvSpPr>
        <p:spPr>
          <a:xfrm>
            <a:off x="10685350" y="2514600"/>
            <a:ext cx="914" cy="822960"/>
          </a:xfrm>
          <a:prstGeom prst="line">
            <a:avLst/>
          </a:prstGeom>
          <a:noFill/>
          <a:ln w="22225">
            <a:solidFill>
              <a:srgbClr val="22D3EE">
                <a:alpha val="80000"/>
              </a:srgbClr>
            </a:solidFill>
            <a:prstDash val="solid"/>
            <a:tailEnd type="triangle"/>
          </a:ln>
        </p:spPr>
      </p:sp>
      <p:sp>
        <p:nvSpPr>
          <p:cNvPr id="23" name="Shape 19"/>
          <p:cNvSpPr/>
          <p:nvPr/>
        </p:nvSpPr>
        <p:spPr>
          <a:xfrm flipH="1">
            <a:off x="9695483" y="3817620"/>
            <a:ext cx="712704" cy="411480"/>
          </a:xfrm>
          <a:prstGeom prst="line">
            <a:avLst/>
          </a:prstGeom>
          <a:noFill/>
          <a:ln w="22225">
            <a:solidFill>
              <a:srgbClr val="22D3EE">
                <a:alpha val="80000"/>
              </a:srgbClr>
            </a:solidFill>
            <a:prstDash val="solid"/>
            <a:tailEnd type="triangle"/>
          </a:ln>
        </p:spPr>
      </p:sp>
      <p:sp>
        <p:nvSpPr>
          <p:cNvPr id="24" name="Shape 20"/>
          <p:cNvSpPr/>
          <p:nvPr/>
        </p:nvSpPr>
        <p:spPr>
          <a:xfrm flipH="1" flipV="1">
            <a:off x="8428453" y="3817620"/>
            <a:ext cx="712704" cy="411480"/>
          </a:xfrm>
          <a:prstGeom prst="line">
            <a:avLst/>
          </a:prstGeom>
          <a:noFill/>
          <a:ln w="22225">
            <a:solidFill>
              <a:srgbClr val="22D3EE">
                <a:alpha val="80000"/>
              </a:srgbClr>
            </a:solidFill>
            <a:prstDash val="solid"/>
            <a:tailEnd type="triangle"/>
          </a:ln>
        </p:spPr>
      </p:sp>
      <p:sp>
        <p:nvSpPr>
          <p:cNvPr id="25" name="Shape 21"/>
          <p:cNvSpPr/>
          <p:nvPr/>
        </p:nvSpPr>
        <p:spPr>
          <a:xfrm flipV="1">
            <a:off x="8151290" y="2514600"/>
            <a:ext cx="914" cy="822960"/>
          </a:xfrm>
          <a:prstGeom prst="line">
            <a:avLst/>
          </a:prstGeom>
          <a:noFill/>
          <a:ln w="22225">
            <a:solidFill>
              <a:srgbClr val="22D3EE">
                <a:alpha val="80000"/>
              </a:srgbClr>
            </a:solidFill>
            <a:prstDash val="solid"/>
            <a:tailEnd type="triangle"/>
          </a:ln>
        </p:spPr>
      </p:sp>
      <p:sp>
        <p:nvSpPr>
          <p:cNvPr id="26" name="Shape 22"/>
          <p:cNvSpPr/>
          <p:nvPr/>
        </p:nvSpPr>
        <p:spPr>
          <a:xfrm flipV="1">
            <a:off x="8428453" y="1623060"/>
            <a:ext cx="712704" cy="411480"/>
          </a:xfrm>
          <a:prstGeom prst="line">
            <a:avLst/>
          </a:prstGeom>
          <a:noFill/>
          <a:ln w="22225">
            <a:solidFill>
              <a:srgbClr val="22D3EE">
                <a:alpha val="80000"/>
              </a:srgbClr>
            </a:solidFill>
            <a:prstDash val="solid"/>
            <a:tailEnd type="triangle"/>
          </a:ln>
        </p:spPr>
      </p:sp>
      <p:sp>
        <p:nvSpPr>
          <p:cNvPr id="27" name="Shape 23"/>
          <p:cNvSpPr/>
          <p:nvPr/>
        </p:nvSpPr>
        <p:spPr>
          <a:xfrm>
            <a:off x="9144000" y="1188720"/>
            <a:ext cx="548640" cy="548640"/>
          </a:xfrm>
          <a:prstGeom prst="ellipse">
            <a:avLst/>
          </a:prstGeom>
          <a:solidFill>
            <a:srgbClr val="06303C"/>
          </a:solidFill>
          <a:ln w="19050">
            <a:solidFill>
              <a:srgbClr val="22D3EE"/>
            </a:solidFill>
            <a:prstDash val="solid"/>
          </a:ln>
        </p:spPr>
      </p:sp>
      <p:sp>
        <p:nvSpPr>
          <p:cNvPr id="28" name="Text 24"/>
          <p:cNvSpPr txBox="1"/>
          <p:nvPr/>
        </p:nvSpPr>
        <p:spPr>
          <a:xfrm>
            <a:off x="9144000" y="1188720"/>
            <a:ext cx="548640" cy="548640"/>
          </a:xfrm>
          <a:prstGeom prst="rect">
            <a:avLst/>
          </a:prstGeom>
          <a:noFill/>
          <a:ln/>
        </p:spPr>
        <p:txBody>
          <a:bodyPr wrap="square" lIns="0" tIns="0" rIns="0" bIns="0" rtlCol="0" anchor="ctr"/>
          <a:lstStyle/>
          <a:p>
            <a:pPr algn="ctr" indent="0" marL="0">
              <a:buNone/>
            </a:pPr>
            <a:r>
              <a:rPr lang="en-US" sz="1400" b="1" dirty="0">
                <a:solidFill>
                  <a:srgbClr val="22D3EE"/>
                </a:solidFill>
                <a:latin typeface="Calibri" pitchFamily="34" charset="0"/>
                <a:ea typeface="Calibri" pitchFamily="34" charset="-122"/>
                <a:cs typeface="Calibri" pitchFamily="34" charset="-120"/>
              </a:rPr>
              <a:t>A</a:t>
            </a:r>
            <a:endParaRPr lang="en-US" sz="1400" dirty="0"/>
          </a:p>
        </p:txBody>
      </p:sp>
      <p:sp>
        <p:nvSpPr>
          <p:cNvPr id="29" name="Shape 25"/>
          <p:cNvSpPr/>
          <p:nvPr/>
        </p:nvSpPr>
        <p:spPr>
          <a:xfrm>
            <a:off x="10411030" y="1920240"/>
            <a:ext cx="548640" cy="548640"/>
          </a:xfrm>
          <a:prstGeom prst="ellipse">
            <a:avLst/>
          </a:prstGeom>
          <a:solidFill>
            <a:srgbClr val="06303C"/>
          </a:solidFill>
          <a:ln w="19050">
            <a:solidFill>
              <a:srgbClr val="22D3EE"/>
            </a:solidFill>
            <a:prstDash val="solid"/>
          </a:ln>
        </p:spPr>
      </p:sp>
      <p:sp>
        <p:nvSpPr>
          <p:cNvPr id="30" name="Text 26"/>
          <p:cNvSpPr txBox="1"/>
          <p:nvPr/>
        </p:nvSpPr>
        <p:spPr>
          <a:xfrm>
            <a:off x="10411030" y="1920240"/>
            <a:ext cx="548640" cy="548640"/>
          </a:xfrm>
          <a:prstGeom prst="rect">
            <a:avLst/>
          </a:prstGeom>
          <a:noFill/>
          <a:ln/>
        </p:spPr>
        <p:txBody>
          <a:bodyPr wrap="square" lIns="0" tIns="0" rIns="0" bIns="0" rtlCol="0" anchor="ctr"/>
          <a:lstStyle/>
          <a:p>
            <a:pPr algn="ctr" indent="0" marL="0">
              <a:buNone/>
            </a:pPr>
            <a:r>
              <a:rPr lang="en-US" sz="1400" b="1" dirty="0">
                <a:solidFill>
                  <a:srgbClr val="22D3EE"/>
                </a:solidFill>
                <a:latin typeface="Calibri" pitchFamily="34" charset="0"/>
                <a:ea typeface="Calibri" pitchFamily="34" charset="-122"/>
                <a:cs typeface="Calibri" pitchFamily="34" charset="-120"/>
              </a:rPr>
              <a:t>A</a:t>
            </a:r>
            <a:endParaRPr lang="en-US" sz="1400" dirty="0"/>
          </a:p>
        </p:txBody>
      </p:sp>
      <p:sp>
        <p:nvSpPr>
          <p:cNvPr id="31" name="Shape 27"/>
          <p:cNvSpPr/>
          <p:nvPr/>
        </p:nvSpPr>
        <p:spPr>
          <a:xfrm>
            <a:off x="10411030" y="3383280"/>
            <a:ext cx="548640" cy="548640"/>
          </a:xfrm>
          <a:prstGeom prst="ellipse">
            <a:avLst/>
          </a:prstGeom>
          <a:solidFill>
            <a:srgbClr val="3A2A0C"/>
          </a:solidFill>
          <a:ln w="19050">
            <a:solidFill>
              <a:srgbClr val="F5A524"/>
            </a:solidFill>
            <a:prstDash val="solid"/>
          </a:ln>
        </p:spPr>
      </p:sp>
      <p:sp>
        <p:nvSpPr>
          <p:cNvPr id="32" name="Text 28"/>
          <p:cNvSpPr txBox="1"/>
          <p:nvPr/>
        </p:nvSpPr>
        <p:spPr>
          <a:xfrm>
            <a:off x="10411030" y="3383280"/>
            <a:ext cx="548640" cy="548640"/>
          </a:xfrm>
          <a:prstGeom prst="rect">
            <a:avLst/>
          </a:prstGeom>
          <a:noFill/>
          <a:ln/>
        </p:spPr>
        <p:txBody>
          <a:bodyPr wrap="square" lIns="0" tIns="0" rIns="0" bIns="0" rtlCol="0" anchor="ctr"/>
          <a:lstStyle/>
          <a:p>
            <a:pPr algn="ctr" indent="0" marL="0">
              <a:buNone/>
            </a:pPr>
            <a:r>
              <a:rPr lang="en-US" sz="1400" b="1" dirty="0">
                <a:solidFill>
                  <a:srgbClr val="F5A524"/>
                </a:solidFill>
                <a:latin typeface="Calibri" pitchFamily="34" charset="0"/>
                <a:ea typeface="Calibri" pitchFamily="34" charset="-122"/>
                <a:cs typeface="Calibri" pitchFamily="34" charset="-120"/>
              </a:rPr>
              <a:t>B</a:t>
            </a:r>
            <a:endParaRPr lang="en-US" sz="1400" dirty="0"/>
          </a:p>
        </p:txBody>
      </p:sp>
      <p:sp>
        <p:nvSpPr>
          <p:cNvPr id="33" name="Shape 29"/>
          <p:cNvSpPr/>
          <p:nvPr/>
        </p:nvSpPr>
        <p:spPr>
          <a:xfrm>
            <a:off x="9144000" y="4114800"/>
            <a:ext cx="548640" cy="548640"/>
          </a:xfrm>
          <a:prstGeom prst="ellipse">
            <a:avLst/>
          </a:prstGeom>
          <a:solidFill>
            <a:srgbClr val="3A2A0C"/>
          </a:solidFill>
          <a:ln w="19050">
            <a:solidFill>
              <a:srgbClr val="F5A524"/>
            </a:solidFill>
            <a:prstDash val="solid"/>
          </a:ln>
        </p:spPr>
      </p:sp>
      <p:sp>
        <p:nvSpPr>
          <p:cNvPr id="34" name="Text 30"/>
          <p:cNvSpPr txBox="1"/>
          <p:nvPr/>
        </p:nvSpPr>
        <p:spPr>
          <a:xfrm>
            <a:off x="9144000" y="4114800"/>
            <a:ext cx="548640" cy="548640"/>
          </a:xfrm>
          <a:prstGeom prst="rect">
            <a:avLst/>
          </a:prstGeom>
          <a:noFill/>
          <a:ln/>
        </p:spPr>
        <p:txBody>
          <a:bodyPr wrap="square" lIns="0" tIns="0" rIns="0" bIns="0" rtlCol="0" anchor="ctr"/>
          <a:lstStyle/>
          <a:p>
            <a:pPr algn="ctr" indent="0" marL="0">
              <a:buNone/>
            </a:pPr>
            <a:r>
              <a:rPr lang="en-US" sz="1400" b="1" dirty="0">
                <a:solidFill>
                  <a:srgbClr val="F5A524"/>
                </a:solidFill>
                <a:latin typeface="Calibri" pitchFamily="34" charset="0"/>
                <a:ea typeface="Calibri" pitchFamily="34" charset="-122"/>
                <a:cs typeface="Calibri" pitchFamily="34" charset="-120"/>
              </a:rPr>
              <a:t>B</a:t>
            </a:r>
            <a:endParaRPr lang="en-US" sz="1400" dirty="0"/>
          </a:p>
        </p:txBody>
      </p:sp>
      <p:sp>
        <p:nvSpPr>
          <p:cNvPr id="35" name="Shape 31"/>
          <p:cNvSpPr/>
          <p:nvPr/>
        </p:nvSpPr>
        <p:spPr>
          <a:xfrm>
            <a:off x="7876970" y="3383280"/>
            <a:ext cx="548640" cy="548640"/>
          </a:xfrm>
          <a:prstGeom prst="ellipse">
            <a:avLst/>
          </a:prstGeom>
          <a:solidFill>
            <a:srgbClr val="06303C"/>
          </a:solidFill>
          <a:ln w="19050">
            <a:solidFill>
              <a:srgbClr val="22D3EE"/>
            </a:solidFill>
            <a:prstDash val="solid"/>
          </a:ln>
        </p:spPr>
      </p:sp>
      <p:sp>
        <p:nvSpPr>
          <p:cNvPr id="36" name="Text 32"/>
          <p:cNvSpPr txBox="1"/>
          <p:nvPr/>
        </p:nvSpPr>
        <p:spPr>
          <a:xfrm>
            <a:off x="7876970" y="3383280"/>
            <a:ext cx="548640" cy="548640"/>
          </a:xfrm>
          <a:prstGeom prst="rect">
            <a:avLst/>
          </a:prstGeom>
          <a:noFill/>
          <a:ln/>
        </p:spPr>
        <p:txBody>
          <a:bodyPr wrap="square" lIns="0" tIns="0" rIns="0" bIns="0" rtlCol="0" anchor="ctr"/>
          <a:lstStyle/>
          <a:p>
            <a:pPr algn="ctr" indent="0" marL="0">
              <a:buNone/>
            </a:pPr>
            <a:r>
              <a:rPr lang="en-US" sz="1400" b="1" dirty="0">
                <a:solidFill>
                  <a:srgbClr val="22D3EE"/>
                </a:solidFill>
                <a:latin typeface="Calibri" pitchFamily="34" charset="0"/>
                <a:ea typeface="Calibri" pitchFamily="34" charset="-122"/>
                <a:cs typeface="Calibri" pitchFamily="34" charset="-120"/>
              </a:rPr>
              <a:t>A</a:t>
            </a:r>
            <a:endParaRPr lang="en-US" sz="1400" dirty="0"/>
          </a:p>
        </p:txBody>
      </p:sp>
      <p:sp>
        <p:nvSpPr>
          <p:cNvPr id="37" name="Shape 33"/>
          <p:cNvSpPr/>
          <p:nvPr/>
        </p:nvSpPr>
        <p:spPr>
          <a:xfrm>
            <a:off x="7876970" y="1920240"/>
            <a:ext cx="548640" cy="548640"/>
          </a:xfrm>
          <a:prstGeom prst="ellipse">
            <a:avLst/>
          </a:prstGeom>
          <a:solidFill>
            <a:srgbClr val="3A2A0C"/>
          </a:solidFill>
          <a:ln w="19050">
            <a:solidFill>
              <a:srgbClr val="F5A524"/>
            </a:solidFill>
            <a:prstDash val="solid"/>
          </a:ln>
        </p:spPr>
      </p:sp>
      <p:sp>
        <p:nvSpPr>
          <p:cNvPr id="38" name="Text 34"/>
          <p:cNvSpPr txBox="1"/>
          <p:nvPr/>
        </p:nvSpPr>
        <p:spPr>
          <a:xfrm>
            <a:off x="7876970" y="1920240"/>
            <a:ext cx="548640" cy="548640"/>
          </a:xfrm>
          <a:prstGeom prst="rect">
            <a:avLst/>
          </a:prstGeom>
          <a:noFill/>
          <a:ln/>
        </p:spPr>
        <p:txBody>
          <a:bodyPr wrap="square" lIns="0" tIns="0" rIns="0" bIns="0" rtlCol="0" anchor="ctr"/>
          <a:lstStyle/>
          <a:p>
            <a:pPr algn="ctr" indent="0" marL="0">
              <a:buNone/>
            </a:pPr>
            <a:r>
              <a:rPr lang="en-US" sz="1400" b="1" dirty="0">
                <a:solidFill>
                  <a:srgbClr val="F5A524"/>
                </a:solidFill>
                <a:latin typeface="Calibri" pitchFamily="34" charset="0"/>
                <a:ea typeface="Calibri" pitchFamily="34" charset="-122"/>
                <a:cs typeface="Calibri" pitchFamily="34" charset="-120"/>
              </a:rPr>
              <a:t>B</a:t>
            </a:r>
            <a:endParaRPr lang="en-US" sz="1400" dirty="0"/>
          </a:p>
        </p:txBody>
      </p:sp>
      <p:sp>
        <p:nvSpPr>
          <p:cNvPr id="39" name="Text 35"/>
          <p:cNvSpPr txBox="1"/>
          <p:nvPr/>
        </p:nvSpPr>
        <p:spPr>
          <a:xfrm>
            <a:off x="8412480" y="2514600"/>
            <a:ext cx="2011680" cy="457200"/>
          </a:xfrm>
          <a:prstGeom prst="rect">
            <a:avLst/>
          </a:prstGeom>
          <a:noFill/>
          <a:ln/>
        </p:spPr>
        <p:txBody>
          <a:bodyPr wrap="square" lIns="0" tIns="0" rIns="0" bIns="0" rtlCol="0" anchor="t"/>
          <a:lstStyle/>
          <a:p>
            <a:pPr algn="ctr" indent="0" marL="0">
              <a:buNone/>
            </a:pPr>
            <a:r>
              <a:rPr lang="en-US" sz="2600" b="1" dirty="0">
                <a:solidFill>
                  <a:srgbClr val="FFFFFF"/>
                </a:solidFill>
                <a:latin typeface="Cambria" pitchFamily="34" charset="0"/>
                <a:ea typeface="Cambria" pitchFamily="34" charset="-122"/>
                <a:cs typeface="Cambria" pitchFamily="34" charset="-120"/>
              </a:rPr>
              <a:t>₹2.4 Cr</a:t>
            </a:r>
            <a:endParaRPr lang="en-US" sz="2600" dirty="0"/>
          </a:p>
        </p:txBody>
      </p:sp>
      <p:sp>
        <p:nvSpPr>
          <p:cNvPr id="40" name="Text 36"/>
          <p:cNvSpPr txBox="1"/>
          <p:nvPr/>
        </p:nvSpPr>
        <p:spPr>
          <a:xfrm>
            <a:off x="8321040" y="2999232"/>
            <a:ext cx="2194560" cy="274320"/>
          </a:xfrm>
          <a:prstGeom prst="rect">
            <a:avLst/>
          </a:prstGeom>
          <a:noFill/>
          <a:ln/>
        </p:spPr>
        <p:txBody>
          <a:bodyPr wrap="square" lIns="0" tIns="0" rIns="0" bIns="0" rtlCol="0" anchor="t"/>
          <a:lstStyle/>
          <a:p>
            <a:pPr algn="ctr" indent="0" marL="0">
              <a:buNone/>
            </a:pPr>
            <a:r>
              <a:rPr lang="en-US" sz="1100" dirty="0">
                <a:solidFill>
                  <a:srgbClr val="9AAEC6"/>
                </a:solidFill>
                <a:latin typeface="Calibri" pitchFamily="34" charset="0"/>
                <a:ea typeface="Calibri" pitchFamily="34" charset="-122"/>
                <a:cs typeface="Calibri" pitchFamily="34" charset="-120"/>
              </a:rPr>
              <a:t>around one loop in 2h 58m</a:t>
            </a:r>
            <a:endParaRPr lang="en-US" sz="1100" dirty="0"/>
          </a:p>
        </p:txBody>
      </p:sp>
      <p:sp>
        <p:nvSpPr>
          <p:cNvPr id="41" name="Shape 37"/>
          <p:cNvSpPr/>
          <p:nvPr/>
        </p:nvSpPr>
        <p:spPr>
          <a:xfrm>
            <a:off x="8686800" y="3355848"/>
            <a:ext cx="109728" cy="109728"/>
          </a:xfrm>
          <a:prstGeom prst="ellipse">
            <a:avLst/>
          </a:prstGeom>
          <a:solidFill>
            <a:srgbClr val="22D3EE"/>
          </a:solidFill>
          <a:ln w="12700">
            <a:solidFill>
              <a:srgbClr val="22D3EE"/>
            </a:solidFill>
            <a:prstDash val="solid"/>
          </a:ln>
        </p:spPr>
      </p:sp>
      <p:sp>
        <p:nvSpPr>
          <p:cNvPr id="42" name="Text 38"/>
          <p:cNvSpPr txBox="1"/>
          <p:nvPr/>
        </p:nvSpPr>
        <p:spPr>
          <a:xfrm>
            <a:off x="8851392" y="3291840"/>
            <a:ext cx="548640" cy="237744"/>
          </a:xfrm>
          <a:prstGeom prst="rect">
            <a:avLst/>
          </a:prstGeom>
          <a:noFill/>
          <a:ln/>
        </p:spPr>
        <p:txBody>
          <a:bodyPr wrap="square" lIns="0" tIns="0" rIns="0" bIns="0" rtlCol="0" anchor="ctr"/>
          <a:lstStyle/>
          <a:p>
            <a:pPr indent="0" marL="0">
              <a:buNone/>
            </a:pPr>
            <a:r>
              <a:rPr lang="en-US" sz="1000" dirty="0">
                <a:solidFill>
                  <a:srgbClr val="9AAEC6"/>
                </a:solidFill>
                <a:latin typeface="Calibri" pitchFamily="34" charset="0"/>
                <a:ea typeface="Calibri" pitchFamily="34" charset="-122"/>
                <a:cs typeface="Calibri" pitchFamily="34" charset="-120"/>
              </a:rPr>
              <a:t>Bank A</a:t>
            </a:r>
            <a:endParaRPr lang="en-US" sz="1000" dirty="0"/>
          </a:p>
        </p:txBody>
      </p:sp>
      <p:sp>
        <p:nvSpPr>
          <p:cNvPr id="43" name="Shape 39"/>
          <p:cNvSpPr/>
          <p:nvPr/>
        </p:nvSpPr>
        <p:spPr>
          <a:xfrm>
            <a:off x="9528048" y="3355848"/>
            <a:ext cx="109728" cy="109728"/>
          </a:xfrm>
          <a:prstGeom prst="ellipse">
            <a:avLst/>
          </a:prstGeom>
          <a:solidFill>
            <a:srgbClr val="F5A524"/>
          </a:solidFill>
          <a:ln w="12700">
            <a:solidFill>
              <a:srgbClr val="F5A524"/>
            </a:solidFill>
            <a:prstDash val="solid"/>
          </a:ln>
        </p:spPr>
      </p:sp>
      <p:sp>
        <p:nvSpPr>
          <p:cNvPr id="44" name="Text 40"/>
          <p:cNvSpPr txBox="1"/>
          <p:nvPr/>
        </p:nvSpPr>
        <p:spPr>
          <a:xfrm>
            <a:off x="9692640" y="3291840"/>
            <a:ext cx="548640" cy="237744"/>
          </a:xfrm>
          <a:prstGeom prst="rect">
            <a:avLst/>
          </a:prstGeom>
          <a:noFill/>
          <a:ln/>
        </p:spPr>
        <p:txBody>
          <a:bodyPr wrap="square" lIns="0" tIns="0" rIns="0" bIns="0" rtlCol="0" anchor="ctr"/>
          <a:lstStyle/>
          <a:p>
            <a:pPr indent="0" marL="0">
              <a:buNone/>
            </a:pPr>
            <a:r>
              <a:rPr lang="en-US" sz="1000" dirty="0">
                <a:solidFill>
                  <a:srgbClr val="9AAEC6"/>
                </a:solidFill>
                <a:latin typeface="Calibri" pitchFamily="34" charset="0"/>
                <a:ea typeface="Calibri" pitchFamily="34" charset="-122"/>
                <a:cs typeface="Calibri" pitchFamily="34" charset="-120"/>
              </a:rPr>
              <a:t>Bank 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THE PROBLEM  ·  THE INSIGHT</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guard, checking one person at a time</a:t>
            </a:r>
            <a:endParaRPr lang="en-US" sz="3200" dirty="0"/>
          </a:p>
        </p:txBody>
      </p:sp>
      <p:sp>
        <p:nvSpPr>
          <p:cNvPr id="4" name="Text 2"/>
          <p:cNvSpPr txBox="1"/>
          <p:nvPr/>
        </p:nvSpPr>
        <p:spPr>
          <a:xfrm>
            <a:off x="548640" y="6446520"/>
            <a:ext cx="2743200" cy="228600"/>
          </a:xfrm>
          <a:prstGeom prst="rect">
            <a:avLst/>
          </a:prstGeom>
          <a:noFill/>
          <a:ln/>
        </p:spPr>
        <p:txBody>
          <a:bodyPr wrap="square" lIns="0" tIns="0" rIns="0" bIns="0" rtlCol="0" anchor="ctr"/>
          <a:lstStyle/>
          <a:p>
            <a:pPr indent="0" marL="0">
              <a:buNone/>
            </a:pPr>
            <a:r>
              <a:rPr lang="en-US" sz="900" spc="400" kern="0" dirty="0">
                <a:solidFill>
                  <a:srgbClr val="5E7390"/>
                </a:solidFill>
                <a:latin typeface="Calibri" pitchFamily="34" charset="0"/>
                <a:ea typeface="Calibri" pitchFamily="34" charset="-122"/>
                <a:cs typeface="Calibri" pitchFamily="34" charset="-120"/>
              </a:rPr>
              <a:t>CHAKRAVYUH</a:t>
            </a:r>
            <a:endParaRPr lang="en-US" sz="900" dirty="0"/>
          </a:p>
        </p:txBody>
      </p:sp>
      <p:sp>
        <p:nvSpPr>
          <p:cNvPr id="5" name="Text 3"/>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00" dirty="0">
                <a:solidFill>
                  <a:srgbClr val="5E7390"/>
                </a:solidFill>
                <a:latin typeface="Calibri" pitchFamily="34" charset="0"/>
                <a:ea typeface="Calibri" pitchFamily="34" charset="-122"/>
                <a:cs typeface="Calibri" pitchFamily="34" charset="-120"/>
              </a:rPr>
              <a:t>02</a:t>
            </a:r>
            <a:endParaRPr lang="en-US" sz="900" dirty="0"/>
          </a:p>
        </p:txBody>
      </p:sp>
      <p:sp>
        <p:nvSpPr>
          <p:cNvPr id="6" name="Text 4"/>
          <p:cNvSpPr txBox="1"/>
          <p:nvPr/>
        </p:nvSpPr>
        <p:spPr>
          <a:xfrm>
            <a:off x="548640" y="1463040"/>
            <a:ext cx="5074920" cy="914400"/>
          </a:xfrm>
          <a:prstGeom prst="rect">
            <a:avLst/>
          </a:prstGeom>
          <a:noFill/>
          <a:ln/>
        </p:spPr>
        <p:txBody>
          <a:bodyPr wrap="square" lIns="0" tIns="0" rIns="0" bIns="0" rtlCol="0" anchor="t"/>
          <a:lstStyle/>
          <a:p>
            <a:pPr indent="0" marL="0">
              <a:buNone/>
            </a:pPr>
            <a:r>
              <a:rPr lang="en-US" sz="1250" dirty="0">
                <a:solidFill>
                  <a:srgbClr val="E8EEF6"/>
                </a:solidFill>
                <a:latin typeface="Calibri" pitchFamily="34" charset="0"/>
                <a:ea typeface="Calibri" pitchFamily="34" charset="-122"/>
                <a:cs typeface="Calibri" pitchFamily="34" charset="-120"/>
              </a:rPr>
              <a:t>Launderers split dirty money into many small, ordinary-looking transfers across accounts and banks. Software judges each transfer on its own, so each one passes. The crime only shows when you look at all of them together.</a:t>
            </a:r>
            <a:endParaRPr lang="en-US" sz="1250" dirty="0"/>
          </a:p>
        </p:txBody>
      </p:sp>
      <p:sp>
        <p:nvSpPr>
          <p:cNvPr id="7" name="Shape 5"/>
          <p:cNvSpPr/>
          <p:nvPr/>
        </p:nvSpPr>
        <p:spPr>
          <a:xfrm>
            <a:off x="548640" y="2487168"/>
            <a:ext cx="2487168" cy="1005840"/>
          </a:xfrm>
          <a:prstGeom prst="roundRect">
            <a:avLst>
              <a:gd name="adj" fmla="val 9091"/>
            </a:avLst>
          </a:prstGeom>
          <a:solidFill>
            <a:srgbClr val="0E1829"/>
          </a:solidFill>
          <a:ln w="9525">
            <a:solidFill>
              <a:srgbClr val="1F3352"/>
            </a:solidFill>
            <a:prstDash val="solid"/>
          </a:ln>
        </p:spPr>
      </p:sp>
      <p:sp>
        <p:nvSpPr>
          <p:cNvPr id="8" name="Text 6"/>
          <p:cNvSpPr txBox="1"/>
          <p:nvPr/>
        </p:nvSpPr>
        <p:spPr>
          <a:xfrm>
            <a:off x="731520" y="2578608"/>
            <a:ext cx="2103120" cy="457200"/>
          </a:xfrm>
          <a:prstGeom prst="rect">
            <a:avLst/>
          </a:prstGeom>
          <a:noFill/>
          <a:ln/>
        </p:spPr>
        <p:txBody>
          <a:bodyPr wrap="square" lIns="0" tIns="0" rIns="0" bIns="0" rtlCol="0" anchor="ctr"/>
          <a:lstStyle/>
          <a:p>
            <a:pPr indent="0" marL="0">
              <a:buNone/>
            </a:pPr>
            <a:r>
              <a:rPr lang="en-US" sz="2400" b="1" dirty="0">
                <a:solidFill>
                  <a:srgbClr val="F5A524"/>
                </a:solidFill>
                <a:latin typeface="Cambria" pitchFamily="34" charset="0"/>
                <a:ea typeface="Cambria" pitchFamily="34" charset="-122"/>
                <a:cs typeface="Cambria" pitchFamily="34" charset="-120"/>
              </a:rPr>
              <a:t>2–5%</a:t>
            </a:r>
            <a:endParaRPr lang="en-US" sz="2400" dirty="0"/>
          </a:p>
        </p:txBody>
      </p:sp>
      <p:sp>
        <p:nvSpPr>
          <p:cNvPr id="9" name="Text 7"/>
          <p:cNvSpPr txBox="1"/>
          <p:nvPr/>
        </p:nvSpPr>
        <p:spPr>
          <a:xfrm>
            <a:off x="731520" y="3054096"/>
            <a:ext cx="2194560" cy="384048"/>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of global GDP laundered yearly ($800B–$2T)</a:t>
            </a:r>
            <a:endParaRPr lang="en-US" sz="1050" dirty="0"/>
          </a:p>
        </p:txBody>
      </p:sp>
      <p:sp>
        <p:nvSpPr>
          <p:cNvPr id="10" name="Shape 8"/>
          <p:cNvSpPr/>
          <p:nvPr/>
        </p:nvSpPr>
        <p:spPr>
          <a:xfrm>
            <a:off x="3136392" y="2487168"/>
            <a:ext cx="2487168" cy="1005840"/>
          </a:xfrm>
          <a:prstGeom prst="roundRect">
            <a:avLst>
              <a:gd name="adj" fmla="val 9091"/>
            </a:avLst>
          </a:prstGeom>
          <a:solidFill>
            <a:srgbClr val="0E1829"/>
          </a:solidFill>
          <a:ln w="9525">
            <a:solidFill>
              <a:srgbClr val="1F3352"/>
            </a:solidFill>
            <a:prstDash val="solid"/>
          </a:ln>
        </p:spPr>
      </p:sp>
      <p:sp>
        <p:nvSpPr>
          <p:cNvPr id="11" name="Text 9"/>
          <p:cNvSpPr txBox="1"/>
          <p:nvPr/>
        </p:nvSpPr>
        <p:spPr>
          <a:xfrm>
            <a:off x="3319272" y="2578608"/>
            <a:ext cx="2103120" cy="457200"/>
          </a:xfrm>
          <a:prstGeom prst="rect">
            <a:avLst/>
          </a:prstGeom>
          <a:noFill/>
          <a:ln/>
        </p:spPr>
        <p:txBody>
          <a:bodyPr wrap="square" lIns="0" tIns="0" rIns="0" bIns="0" rtlCol="0" anchor="ctr"/>
          <a:lstStyle/>
          <a:p>
            <a:pPr indent="0" marL="0">
              <a:buNone/>
            </a:pPr>
            <a:r>
              <a:rPr lang="en-US" sz="2400" b="1" dirty="0">
                <a:solidFill>
                  <a:srgbClr val="F5A524"/>
                </a:solidFill>
                <a:latin typeface="Cambria" pitchFamily="34" charset="0"/>
                <a:ea typeface="Cambria" pitchFamily="34" charset="-122"/>
                <a:cs typeface="Cambria" pitchFamily="34" charset="-120"/>
              </a:rPr>
              <a:t>&lt;1%</a:t>
            </a:r>
            <a:endParaRPr lang="en-US" sz="2400" dirty="0"/>
          </a:p>
        </p:txBody>
      </p:sp>
      <p:sp>
        <p:nvSpPr>
          <p:cNvPr id="12" name="Text 10"/>
          <p:cNvSpPr txBox="1"/>
          <p:nvPr/>
        </p:nvSpPr>
        <p:spPr>
          <a:xfrm>
            <a:off x="3319272" y="3054096"/>
            <a:ext cx="2194560" cy="384048"/>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of illicit flows ever seized or frozen</a:t>
            </a:r>
            <a:endParaRPr lang="en-US" sz="1050" dirty="0"/>
          </a:p>
        </p:txBody>
      </p:sp>
      <p:sp>
        <p:nvSpPr>
          <p:cNvPr id="13" name="Shape 11"/>
          <p:cNvSpPr/>
          <p:nvPr/>
        </p:nvSpPr>
        <p:spPr>
          <a:xfrm>
            <a:off x="548640" y="3602736"/>
            <a:ext cx="2487168" cy="1005840"/>
          </a:xfrm>
          <a:prstGeom prst="roundRect">
            <a:avLst>
              <a:gd name="adj" fmla="val 9091"/>
            </a:avLst>
          </a:prstGeom>
          <a:solidFill>
            <a:srgbClr val="0E1829"/>
          </a:solidFill>
          <a:ln w="9525">
            <a:solidFill>
              <a:srgbClr val="1F3352"/>
            </a:solidFill>
            <a:prstDash val="solid"/>
          </a:ln>
        </p:spPr>
      </p:sp>
      <p:sp>
        <p:nvSpPr>
          <p:cNvPr id="14" name="Text 12"/>
          <p:cNvSpPr txBox="1"/>
          <p:nvPr/>
        </p:nvSpPr>
        <p:spPr>
          <a:xfrm>
            <a:off x="731520" y="3694176"/>
            <a:ext cx="2103120" cy="457200"/>
          </a:xfrm>
          <a:prstGeom prst="rect">
            <a:avLst/>
          </a:prstGeom>
          <a:noFill/>
          <a:ln/>
        </p:spPr>
        <p:txBody>
          <a:bodyPr wrap="square" lIns="0" tIns="0" rIns="0" bIns="0" rtlCol="0" anchor="ctr"/>
          <a:lstStyle/>
          <a:p>
            <a:pPr indent="0" marL="0">
              <a:buNone/>
            </a:pPr>
            <a:r>
              <a:rPr lang="en-US" sz="2400" b="1" dirty="0">
                <a:solidFill>
                  <a:srgbClr val="F5A524"/>
                </a:solidFill>
                <a:latin typeface="Cambria" pitchFamily="34" charset="0"/>
                <a:ea typeface="Cambria" pitchFamily="34" charset="-122"/>
                <a:cs typeface="Cambria" pitchFamily="34" charset="-120"/>
              </a:rPr>
              <a:t>~95%</a:t>
            </a:r>
            <a:endParaRPr lang="en-US" sz="2400" dirty="0"/>
          </a:p>
        </p:txBody>
      </p:sp>
      <p:sp>
        <p:nvSpPr>
          <p:cNvPr id="15" name="Text 13"/>
          <p:cNvSpPr txBox="1"/>
          <p:nvPr/>
        </p:nvSpPr>
        <p:spPr>
          <a:xfrm>
            <a:off x="731520" y="4169664"/>
            <a:ext cx="2194560" cy="384048"/>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of AML alerts are false alarms</a:t>
            </a:r>
            <a:endParaRPr lang="en-US" sz="1050" dirty="0"/>
          </a:p>
        </p:txBody>
      </p:sp>
      <p:sp>
        <p:nvSpPr>
          <p:cNvPr id="16" name="Shape 14"/>
          <p:cNvSpPr/>
          <p:nvPr/>
        </p:nvSpPr>
        <p:spPr>
          <a:xfrm>
            <a:off x="3136392" y="3602736"/>
            <a:ext cx="2487168" cy="1005840"/>
          </a:xfrm>
          <a:prstGeom prst="roundRect">
            <a:avLst>
              <a:gd name="adj" fmla="val 9091"/>
            </a:avLst>
          </a:prstGeom>
          <a:solidFill>
            <a:srgbClr val="0E1829"/>
          </a:solidFill>
          <a:ln w="9525">
            <a:solidFill>
              <a:srgbClr val="1F3352"/>
            </a:solidFill>
            <a:prstDash val="solid"/>
          </a:ln>
        </p:spPr>
      </p:sp>
      <p:sp>
        <p:nvSpPr>
          <p:cNvPr id="17" name="Text 15"/>
          <p:cNvSpPr txBox="1"/>
          <p:nvPr/>
        </p:nvSpPr>
        <p:spPr>
          <a:xfrm>
            <a:off x="3319272" y="3694176"/>
            <a:ext cx="2103120" cy="457200"/>
          </a:xfrm>
          <a:prstGeom prst="rect">
            <a:avLst/>
          </a:prstGeom>
          <a:noFill/>
          <a:ln/>
        </p:spPr>
        <p:txBody>
          <a:bodyPr wrap="square" lIns="0" tIns="0" rIns="0" bIns="0" rtlCol="0" anchor="ctr"/>
          <a:lstStyle/>
          <a:p>
            <a:pPr indent="0" marL="0">
              <a:buNone/>
            </a:pPr>
            <a:r>
              <a:rPr lang="en-US" sz="2400" b="1" dirty="0">
                <a:solidFill>
                  <a:srgbClr val="F5A524"/>
                </a:solidFill>
                <a:latin typeface="Cambria" pitchFamily="34" charset="0"/>
                <a:ea typeface="Cambria" pitchFamily="34" charset="-122"/>
                <a:cs typeface="Cambria" pitchFamily="34" charset="-120"/>
              </a:rPr>
              <a:t>$206B</a:t>
            </a:r>
            <a:endParaRPr lang="en-US" sz="2400" dirty="0"/>
          </a:p>
        </p:txBody>
      </p:sp>
      <p:sp>
        <p:nvSpPr>
          <p:cNvPr id="18" name="Text 16"/>
          <p:cNvSpPr txBox="1"/>
          <p:nvPr/>
        </p:nvSpPr>
        <p:spPr>
          <a:xfrm>
            <a:off x="3319272" y="4169664"/>
            <a:ext cx="2194560" cy="384048"/>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spent on compliance every year</a:t>
            </a:r>
            <a:endParaRPr lang="en-US" sz="1050" dirty="0"/>
          </a:p>
        </p:txBody>
      </p:sp>
      <p:sp>
        <p:nvSpPr>
          <p:cNvPr id="19" name="Shape 17"/>
          <p:cNvSpPr/>
          <p:nvPr/>
        </p:nvSpPr>
        <p:spPr>
          <a:xfrm>
            <a:off x="548640" y="4754880"/>
            <a:ext cx="2487168" cy="1325880"/>
          </a:xfrm>
          <a:prstGeom prst="roundRect">
            <a:avLst>
              <a:gd name="adj" fmla="val 6897"/>
            </a:avLst>
          </a:prstGeom>
          <a:solidFill>
            <a:srgbClr val="12203A"/>
          </a:solidFill>
          <a:ln w="9525">
            <a:solidFill>
              <a:srgbClr val="1F3352"/>
            </a:solidFill>
            <a:prstDash val="solid"/>
          </a:ln>
        </p:spPr>
      </p:sp>
      <p:sp>
        <p:nvSpPr>
          <p:cNvPr id="20" name="Text 18"/>
          <p:cNvSpPr txBox="1"/>
          <p:nvPr/>
        </p:nvSpPr>
        <p:spPr>
          <a:xfrm>
            <a:off x="713232" y="4846320"/>
            <a:ext cx="2194560" cy="11704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TD Bank, 2024. </a:t>
            </a:r>
            <a:pPr indent="0" marL="0">
              <a:buNone/>
            </a:pPr>
            <a:r>
              <a:rPr lang="en-US" sz="1050" dirty="0">
                <a:solidFill>
                  <a:srgbClr val="9AAEC6"/>
                </a:solidFill>
                <a:latin typeface="Calibri" pitchFamily="34" charset="0"/>
                <a:ea typeface="Calibri" pitchFamily="34" charset="-122"/>
                <a:cs typeface="Calibri" pitchFamily="34" charset="-120"/>
              </a:rPr>
              <a:t>92% of its volume ($18.3T) unmonitored. Three networks moved $670M+ through it. Over $3B in penalties.</a:t>
            </a:r>
            <a:endParaRPr lang="en-US" sz="1050" dirty="0"/>
          </a:p>
        </p:txBody>
      </p:sp>
      <p:sp>
        <p:nvSpPr>
          <p:cNvPr id="21" name="Shape 19"/>
          <p:cNvSpPr/>
          <p:nvPr/>
        </p:nvSpPr>
        <p:spPr>
          <a:xfrm>
            <a:off x="3136392" y="4754880"/>
            <a:ext cx="2487168" cy="1325880"/>
          </a:xfrm>
          <a:prstGeom prst="roundRect">
            <a:avLst>
              <a:gd name="adj" fmla="val 6897"/>
            </a:avLst>
          </a:prstGeom>
          <a:solidFill>
            <a:srgbClr val="2A1219"/>
          </a:solidFill>
          <a:ln w="9525">
            <a:solidFill>
              <a:srgbClr val="5A2430"/>
            </a:solidFill>
            <a:prstDash val="solid"/>
          </a:ln>
        </p:spPr>
      </p:sp>
      <p:sp>
        <p:nvSpPr>
          <p:cNvPr id="22" name="Text 20"/>
          <p:cNvSpPr txBox="1"/>
          <p:nvPr/>
        </p:nvSpPr>
        <p:spPr>
          <a:xfrm>
            <a:off x="3300984" y="4846320"/>
            <a:ext cx="2194560" cy="1170432"/>
          </a:xfrm>
          <a:prstGeom prst="rect">
            <a:avLst/>
          </a:prstGeom>
          <a:noFill/>
          <a:ln/>
        </p:spPr>
        <p:txBody>
          <a:bodyPr wrap="square" lIns="0" tIns="0" rIns="0" bIns="0" rtlCol="0" anchor="ctr"/>
          <a:lstStyle/>
          <a:p>
            <a:pPr indent="0" marL="0">
              <a:buNone/>
            </a:pPr>
            <a:r>
              <a:rPr lang="en-US" sz="1050" b="1" dirty="0">
                <a:solidFill>
                  <a:srgbClr val="F5A524"/>
                </a:solidFill>
                <a:latin typeface="Calibri" pitchFamily="34" charset="0"/>
                <a:ea typeface="Calibri" pitchFamily="34" charset="-122"/>
                <a:cs typeface="Calibri" pitchFamily="34" charset="-120"/>
              </a:rPr>
              <a:t>India: 4.5 lakh mule accounts frozen </a:t>
            </a:r>
            <a:pPr indent="0" marL="0">
              <a:buNone/>
            </a:pPr>
            <a:r>
              <a:rPr lang="en-US" sz="1050" dirty="0">
                <a:solidFill>
                  <a:srgbClr val="E8EEF6"/>
                </a:solidFill>
                <a:latin typeface="Calibri" pitchFamily="34" charset="0"/>
                <a:ea typeface="Calibri" pitchFamily="34" charset="-122"/>
                <a:cs typeface="Calibri" pitchFamily="34" charset="-120"/>
              </a:rPr>
              <a:t>in one sweep (Nov 2024). Freezing after the fact misses the network behind them.</a:t>
            </a:r>
            <a:endParaRPr lang="en-US" sz="1050" dirty="0"/>
          </a:p>
        </p:txBody>
      </p:sp>
      <p:sp>
        <p:nvSpPr>
          <p:cNvPr id="23" name="Text 21"/>
          <p:cNvSpPr txBox="1"/>
          <p:nvPr/>
        </p:nvSpPr>
        <p:spPr>
          <a:xfrm>
            <a:off x="548640" y="6172200"/>
            <a:ext cx="5120640" cy="228600"/>
          </a:xfrm>
          <a:prstGeom prst="rect">
            <a:avLst/>
          </a:prstGeom>
          <a:noFill/>
          <a:ln/>
        </p:spPr>
        <p:txBody>
          <a:bodyPr wrap="square" lIns="0" tIns="0" rIns="0" bIns="0" rtlCol="0" anchor="t"/>
          <a:lstStyle/>
          <a:p>
            <a:pPr indent="0" marL="0">
              <a:buNone/>
            </a:pPr>
            <a:r>
              <a:rPr lang="en-US" sz="750" dirty="0">
                <a:solidFill>
                  <a:srgbClr val="5E7390"/>
                </a:solidFill>
                <a:latin typeface="Calibri" pitchFamily="34" charset="0"/>
                <a:ea typeface="Calibri" pitchFamily="34" charset="-122"/>
                <a:cs typeface="Calibri" pitchFamily="34" charset="-120"/>
              </a:rPr>
              <a:t>Sources: UNODC; LexisNexis Risk Solutions (2023); US DOJ (Oct 2024); Govt. of India via Business Standard (Nov 2024); industry estimates.</a:t>
            </a:r>
            <a:endParaRPr lang="en-US" sz="750" dirty="0"/>
          </a:p>
        </p:txBody>
      </p:sp>
      <p:sp>
        <p:nvSpPr>
          <p:cNvPr id="24" name="Text 22"/>
          <p:cNvSpPr txBox="1"/>
          <p:nvPr/>
        </p:nvSpPr>
        <p:spPr>
          <a:xfrm>
            <a:off x="5943600" y="1463040"/>
            <a:ext cx="566928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Why watching the crowd wins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0" y="1874520"/>
          <a:ext cx="5715000" cy="914400"/>
        </p:xfrm>
        <a:graphic>
          <a:graphicData uri="http://schemas.openxmlformats.org/drawingml/2006/table">
            <a:tbl>
              <a:tblPr/>
              <a:tblGrid>
                <a:gridCol w="1143000"/>
                <a:gridCol w="1417320"/>
                <a:gridCol w="1188720"/>
                <a:gridCol w="1965960"/>
              </a:tblGrid>
              <a:tr h="548640">
                <a:tc>
                  <a:txBody>
                    <a:bodyPr/>
                    <a:lstStyle/>
                    <a:p>
                      <a:pPr indent="0" marL="0">
                        <a:buNone/>
                      </a:pPr>
                      <a:endParaRPr lang="en-US" sz="110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F1D33"/>
                    </a:solidFill>
                  </a:tcPr>
                </a:tc>
                <a:tc>
                  <a:txBody>
                    <a:bodyPr/>
                    <a:lstStyle/>
                    <a:p>
                      <a:pPr indent="0" marL="0">
                        <a:buNone/>
                      </a:pPr>
                      <a:r>
                        <a:rPr lang="en-US" sz="1100" b="1" dirty="0">
                          <a:solidFill>
                            <a:srgbClr val="9AAEC6"/>
                          </a:solidFill>
                          <a:latin typeface="Calibri" pitchFamily="34" charset="0"/>
                          <a:ea typeface="Calibri" pitchFamily="34" charset="-122"/>
                          <a:cs typeface="Calibri" pitchFamily="34" charset="-120"/>
                        </a:rPr>
                        <a:t>Rule engines</a:t>
                      </a:r>
                      <a:endParaRPr lang="en-US" sz="110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F1D33"/>
                    </a:solidFill>
                  </a:tcPr>
                </a:tc>
                <a:tc>
                  <a:txBody>
                    <a:bodyPr/>
                    <a:lstStyle/>
                    <a:p>
                      <a:pPr indent="0" marL="0">
                        <a:buNone/>
                      </a:pPr>
                      <a:r>
                        <a:rPr lang="en-US" sz="1100" b="1" dirty="0">
                          <a:solidFill>
                            <a:srgbClr val="9AAEC6"/>
                          </a:solidFill>
                          <a:latin typeface="Calibri" pitchFamily="34" charset="0"/>
                          <a:ea typeface="Calibri" pitchFamily="34" charset="-122"/>
                          <a:cs typeface="Calibri" pitchFamily="34" charset="-120"/>
                        </a:rPr>
                        <a:t>ML scores</a:t>
                      </a:r>
                      <a:endParaRPr lang="en-US" sz="110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F1D33"/>
                    </a:solidFill>
                  </a:tcPr>
                </a:tc>
                <a:tc>
                  <a:txBody>
                    <a:bodyPr/>
                    <a:lstStyle/>
                    <a:p>
                      <a:pPr indent="0" marL="0">
                        <a:buNone/>
                      </a:pPr>
                      <a:r>
                        <a:rPr lang="en-US" sz="1100" b="1" dirty="0">
                          <a:solidFill>
                            <a:srgbClr val="22D3EE"/>
                          </a:solidFill>
                          <a:latin typeface="Calibri" pitchFamily="34" charset="0"/>
                          <a:ea typeface="Calibri" pitchFamily="34" charset="-122"/>
                          <a:cs typeface="Calibri" pitchFamily="34" charset="-120"/>
                        </a:rPr>
                        <a:t>Chakravyuh</a:t>
                      </a:r>
                      <a:endParaRPr lang="en-US" sz="110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F1D33"/>
                    </a:solidFill>
                  </a:tcPr>
                </a:tc>
              </a:tr>
              <a:tr h="548640">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What is judged</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One transaction</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One account</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whole network</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82330"/>
                    </a:solidFill>
                  </a:tcPr>
                </a:tc>
              </a:tr>
              <a:tr h="548640">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Who is who</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Same person 3–4×, unlinked</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Accounts at face value</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Records merged into real people, zero false merges</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82330"/>
                    </a:solidFill>
                  </a:tcPr>
                </a:tc>
              </a:tr>
              <a:tr h="548640">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Across banks</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Each bank sees half</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Needs pooled data</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Salted hashes; each bank confirms its part</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82330"/>
                    </a:solidFill>
                  </a:tcPr>
                </a:tc>
              </a:tr>
              <a:tr h="548640">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An alert: ~4 hrs of work, ~95% false</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A score</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 written, evidence-backed case</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82330"/>
                    </a:solidFill>
                  </a:tcPr>
                </a:tc>
              </a:tr>
              <a:tr h="548640">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Role of AI</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Decides</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Writes and checks only; graph logic decides</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82330"/>
                    </a:solidFill>
                  </a:tcPr>
                </a:tc>
              </a:tr>
              <a:tr h="548640">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Explainable</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Yes, but noisy</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dirty="0">
                          <a:solidFill>
                            <a:srgbClr val="9AAEC6"/>
                          </a:solidFill>
                          <a:latin typeface="Calibri" pitchFamily="34" charset="0"/>
                          <a:ea typeface="Calibri" pitchFamily="34" charset="-122"/>
                          <a:cs typeface="Calibri" pitchFamily="34" charset="-120"/>
                        </a:rPr>
                        <a:t>Hard</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E1829"/>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Every claim cites exact transactions</a:t>
                      </a:r>
                      <a:endParaRPr lang="en-US" sz="1050" dirty="0">
                        <a:latin typeface="Calibri" charset="0"/>
                        <a:ea typeface="Calibri" charset="0"/>
                        <a:cs typeface="Calibri" charset="0"/>
                      </a:endParaRPr>
                    </a:p>
                  </a:txBody>
                  <a:tcPr marL="73152" marR="73152" marT="36576" marB="36576" anchor="ctr">
                    <a:lnL w="9525" cap="flat" cmpd="sng" algn="ctr">
                      <a:solidFill>
                        <a:srgbClr val="1F3352"/>
                      </a:solidFill>
                      <a:prstDash val="solid"/>
                      <a:round/>
                      <a:headEnd type="none" w="med" len="med"/>
                      <a:tailEnd type="none" w="med" len="med"/>
                    </a:lnL>
                    <a:lnR w="9525" cap="flat" cmpd="sng" algn="ctr">
                      <a:solidFill>
                        <a:srgbClr val="1F3352"/>
                      </a:solidFill>
                      <a:prstDash val="solid"/>
                      <a:round/>
                      <a:headEnd type="none" w="med" len="med"/>
                      <a:tailEnd type="none" w="med" len="med"/>
                    </a:lnR>
                    <a:lnT w="9525" cap="flat" cmpd="sng" algn="ctr">
                      <a:solidFill>
                        <a:srgbClr val="1F3352"/>
                      </a:solidFill>
                      <a:prstDash val="solid"/>
                      <a:round/>
                      <a:headEnd type="none" w="med" len="med"/>
                      <a:tailEnd type="none" w="med" len="med"/>
                    </a:lnT>
                    <a:lnB w="9525" cap="flat" cmpd="sng" algn="ctr">
                      <a:solidFill>
                        <a:srgbClr val="1F3352"/>
                      </a:solidFill>
                      <a:prstDash val="solid"/>
                      <a:round/>
                      <a:headEnd type="none" w="med" len="med"/>
                      <a:tailEnd type="none" w="med" len="med"/>
                    </a:lnB>
                    <a:solidFill>
                      <a:srgbClr val="082330"/>
                    </a:solidFill>
                  </a:tcPr>
                </a:tc>
              </a:tr>
            </a:tbl>
          </a:graphicData>
        </a:graphic>
      </p:graphicFrame>
      <p:sp>
        <p:nvSpPr>
          <p:cNvPr id="26" name="Text 23"/>
          <p:cNvSpPr txBox="1"/>
          <p:nvPr/>
        </p:nvSpPr>
        <p:spPr>
          <a:xfrm>
            <a:off x="5943600" y="5806440"/>
            <a:ext cx="5715000" cy="548640"/>
          </a:xfrm>
          <a:prstGeom prst="rect">
            <a:avLst/>
          </a:prstGeom>
          <a:noFill/>
          <a:ln/>
        </p:spPr>
        <p:txBody>
          <a:bodyPr wrap="square" lIns="0" tIns="0" rIns="0" bIns="0" rtlCol="0" anchor="ctr"/>
          <a:lstStyle/>
          <a:p>
            <a:pPr indent="0" marL="0">
              <a:buNone/>
            </a:pPr>
            <a:r>
              <a:rPr lang="en-US" sz="1300" i="1" dirty="0">
                <a:solidFill>
                  <a:srgbClr val="22D3EE"/>
                </a:solidFill>
                <a:latin typeface="Cambria" pitchFamily="34" charset="0"/>
                <a:ea typeface="Cambria" pitchFamily="34" charset="-122"/>
                <a:cs typeface="Cambria" pitchFamily="34" charset="-120"/>
              </a:rPr>
              <a:t>“Existing systems score transactions. We score networks, and return a finished case instead of an alert.”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THE SYSTEM  ·  STAGE 1 DATA</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Eight stages, from raw transactions to a signed-off case</a:t>
            </a:r>
            <a:endParaRPr lang="en-US" sz="3200" dirty="0"/>
          </a:p>
        </p:txBody>
      </p:sp>
      <p:sp>
        <p:nvSpPr>
          <p:cNvPr id="4" name="Text 2"/>
          <p:cNvSpPr txBox="1"/>
          <p:nvPr/>
        </p:nvSpPr>
        <p:spPr>
          <a:xfrm>
            <a:off x="548640" y="1307592"/>
            <a:ext cx="11064240" cy="365760"/>
          </a:xfrm>
          <a:prstGeom prst="rect">
            <a:avLst/>
          </a:prstGeom>
          <a:noFill/>
          <a:ln/>
        </p:spPr>
        <p:txBody>
          <a:bodyPr wrap="square" lIns="0" tIns="0" rIns="0" bIns="0" rtlCol="0" anchor="ctr"/>
          <a:lstStyle/>
          <a:p>
            <a:pPr indent="0" marL="0">
              <a:buNone/>
            </a:pPr>
            <a:r>
              <a:rPr lang="en-US" sz="1500" dirty="0">
                <a:solidFill>
                  <a:srgbClr val="9AAEC6"/>
                </a:solidFill>
                <a:latin typeface="Calibri" pitchFamily="34" charset="0"/>
                <a:ea typeface="Calibri" pitchFamily="34" charset="-122"/>
                <a:cs typeface="Calibri" pitchFamily="34" charset="-120"/>
              </a:rPr>
              <a:t>Stages 1–4 find and prove the crime with plain graph logic. AI appears only in 6–7, to write and attack the case. A human decides.</a:t>
            </a:r>
            <a:endParaRPr lang="en-US" sz="1500" dirty="0"/>
          </a:p>
        </p:txBody>
      </p:sp>
      <p:sp>
        <p:nvSpPr>
          <p:cNvPr id="5" name="Text 3"/>
          <p:cNvSpPr txBox="1"/>
          <p:nvPr/>
        </p:nvSpPr>
        <p:spPr>
          <a:xfrm>
            <a:off x="548640" y="6446520"/>
            <a:ext cx="2743200" cy="228600"/>
          </a:xfrm>
          <a:prstGeom prst="rect">
            <a:avLst/>
          </a:prstGeom>
          <a:noFill/>
          <a:ln/>
        </p:spPr>
        <p:txBody>
          <a:bodyPr wrap="square" lIns="0" tIns="0" rIns="0" bIns="0" rtlCol="0" anchor="ctr"/>
          <a:lstStyle/>
          <a:p>
            <a:pPr indent="0" marL="0">
              <a:buNone/>
            </a:pPr>
            <a:r>
              <a:rPr lang="en-US" sz="900" spc="400" kern="0" dirty="0">
                <a:solidFill>
                  <a:srgbClr val="5E7390"/>
                </a:solidFill>
                <a:latin typeface="Calibri" pitchFamily="34" charset="0"/>
                <a:ea typeface="Calibri" pitchFamily="34" charset="-122"/>
                <a:cs typeface="Calibri" pitchFamily="34" charset="-120"/>
              </a:rPr>
              <a:t>CHAKRAVYUH</a:t>
            </a:r>
            <a:endParaRPr lang="en-US" sz="900" dirty="0"/>
          </a:p>
        </p:txBody>
      </p:sp>
      <p:sp>
        <p:nvSpPr>
          <p:cNvPr id="6" name="Text 4"/>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00" dirty="0">
                <a:solidFill>
                  <a:srgbClr val="5E7390"/>
                </a:solidFill>
                <a:latin typeface="Calibri" pitchFamily="34" charset="0"/>
                <a:ea typeface="Calibri" pitchFamily="34" charset="-122"/>
                <a:cs typeface="Calibri" pitchFamily="34" charset="-120"/>
              </a:rPr>
              <a:t>03</a:t>
            </a:r>
            <a:endParaRPr lang="en-US" sz="900" dirty="0"/>
          </a:p>
        </p:txBody>
      </p:sp>
      <p:sp>
        <p:nvSpPr>
          <p:cNvPr id="7" name="Shape 5"/>
          <p:cNvSpPr/>
          <p:nvPr/>
        </p:nvSpPr>
        <p:spPr>
          <a:xfrm>
            <a:off x="548640" y="1810512"/>
            <a:ext cx="2606040" cy="1417320"/>
          </a:xfrm>
          <a:prstGeom prst="roundRect">
            <a:avLst>
              <a:gd name="adj" fmla="val 6452"/>
            </a:avLst>
          </a:prstGeom>
          <a:solidFill>
            <a:srgbClr val="0C1C2C"/>
          </a:solidFill>
          <a:ln w="9525">
            <a:solidFill>
              <a:srgbClr val="1D4A5A"/>
            </a:solidFill>
            <a:prstDash val="solid"/>
          </a:ln>
        </p:spPr>
      </p:sp>
      <p:sp>
        <p:nvSpPr>
          <p:cNvPr id="8" name="Text 6"/>
          <p:cNvSpPr txBox="1"/>
          <p:nvPr/>
        </p:nvSpPr>
        <p:spPr>
          <a:xfrm>
            <a:off x="731520" y="1920240"/>
            <a:ext cx="36576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1</a:t>
            </a:r>
            <a:endParaRPr lang="en-US" sz="1800" dirty="0"/>
          </a:p>
        </p:txBody>
      </p:sp>
      <p:sp>
        <p:nvSpPr>
          <p:cNvPr id="9" name="Shape 7"/>
          <p:cNvSpPr/>
          <p:nvPr/>
        </p:nvSpPr>
        <p:spPr>
          <a:xfrm>
            <a:off x="2560320" y="1920240"/>
            <a:ext cx="429768" cy="429768"/>
          </a:xfrm>
          <a:prstGeom prst="ellipse">
            <a:avLst/>
          </a:prstGeom>
          <a:solidFill>
            <a:srgbClr val="071A24"/>
          </a:solidFill>
          <a:ln w="15875">
            <a:solidFill>
              <a:srgbClr val="22D3EE"/>
            </a:solidFill>
            <a:prstDash val="solid"/>
          </a:ln>
        </p:spPr>
      </p:sp>
      <p:pic>
        <p:nvPicPr>
          <p:cNvPr id="10" name="Image 0" descr="preencoded.png">    </p:cNvPr>
          <p:cNvPicPr>
            <a:picLocks noChangeAspect="1"/>
          </p:cNvPicPr>
          <p:nvPr/>
        </p:nvPicPr>
        <p:blipFill>
          <a:blip r:embed="rId2"/>
          <a:stretch>
            <a:fillRect/>
          </a:stretch>
        </p:blipFill>
        <p:spPr>
          <a:xfrm>
            <a:off x="2667762" y="2027682"/>
            <a:ext cx="214884" cy="214884"/>
          </a:xfrm>
          <a:prstGeom prst="rect">
            <a:avLst/>
          </a:prstGeom>
        </p:spPr>
      </p:pic>
      <p:sp>
        <p:nvSpPr>
          <p:cNvPr id="11" name="Text 8"/>
          <p:cNvSpPr txBox="1"/>
          <p:nvPr/>
        </p:nvSpPr>
        <p:spPr>
          <a:xfrm>
            <a:off x="731520" y="2359152"/>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Synthetic data</a:t>
            </a:r>
            <a:endParaRPr lang="en-US" sz="1350" dirty="0"/>
          </a:p>
        </p:txBody>
      </p:sp>
      <p:sp>
        <p:nvSpPr>
          <p:cNvPr id="12" name="Text 9"/>
          <p:cNvSpPr txBox="1"/>
          <p:nvPr/>
        </p:nvSpPr>
        <p:spPr>
          <a:xfrm>
            <a:off x="731520" y="2615184"/>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80k transactions, 12 hidden rings</a:t>
            </a:r>
            <a:endParaRPr lang="en-US" sz="1050" dirty="0"/>
          </a:p>
        </p:txBody>
      </p:sp>
      <p:sp>
        <p:nvSpPr>
          <p:cNvPr id="13" name="Shape 10"/>
          <p:cNvSpPr/>
          <p:nvPr/>
        </p:nvSpPr>
        <p:spPr>
          <a:xfrm>
            <a:off x="731520" y="2907792"/>
            <a:ext cx="822960" cy="237744"/>
          </a:xfrm>
          <a:prstGeom prst="roundRect">
            <a:avLst>
              <a:gd name="adj" fmla="val 50000"/>
            </a:avLst>
          </a:prstGeom>
          <a:solidFill>
            <a:srgbClr val="0E3326"/>
          </a:solidFill>
          <a:ln w="9525">
            <a:solidFill>
              <a:srgbClr val="34D399"/>
            </a:solidFill>
            <a:prstDash val="solid"/>
          </a:ln>
        </p:spPr>
      </p:sp>
      <p:sp>
        <p:nvSpPr>
          <p:cNvPr id="14" name="Text 11"/>
          <p:cNvSpPr txBox="1"/>
          <p:nvPr/>
        </p:nvSpPr>
        <p:spPr>
          <a:xfrm>
            <a:off x="731520" y="2907792"/>
            <a:ext cx="822960" cy="237744"/>
          </a:xfrm>
          <a:prstGeom prst="rect">
            <a:avLst/>
          </a:prstGeom>
          <a:noFill/>
          <a:ln/>
        </p:spPr>
        <p:txBody>
          <a:bodyPr wrap="square" lIns="0" tIns="0" rIns="0" bIns="0" rtlCol="0" anchor="ctr"/>
          <a:lstStyle/>
          <a:p>
            <a:pPr algn="ctr" indent="0" marL="0">
              <a:buNone/>
            </a:pPr>
            <a:r>
              <a:rPr lang="en-US" sz="900" b="1" spc="100" kern="0" dirty="0">
                <a:solidFill>
                  <a:srgbClr val="34D399"/>
                </a:solidFill>
                <a:latin typeface="Calibri" pitchFamily="34" charset="0"/>
                <a:ea typeface="Calibri" pitchFamily="34" charset="-122"/>
                <a:cs typeface="Calibri" pitchFamily="34" charset="-120"/>
              </a:rPr>
              <a:t>✓ DONE</a:t>
            </a:r>
            <a:endParaRPr lang="en-US" sz="900" dirty="0"/>
          </a:p>
        </p:txBody>
      </p:sp>
      <p:sp>
        <p:nvSpPr>
          <p:cNvPr id="15" name="Shape 12"/>
          <p:cNvSpPr/>
          <p:nvPr/>
        </p:nvSpPr>
        <p:spPr>
          <a:xfrm>
            <a:off x="3191256" y="2514600"/>
            <a:ext cx="155448" cy="0"/>
          </a:xfrm>
          <a:prstGeom prst="line">
            <a:avLst/>
          </a:prstGeom>
          <a:noFill/>
          <a:ln w="12700">
            <a:solidFill>
              <a:srgbClr val="5E7390"/>
            </a:solidFill>
            <a:prstDash val="solid"/>
            <a:tailEnd type="triangle"/>
          </a:ln>
        </p:spPr>
      </p:sp>
      <p:sp>
        <p:nvSpPr>
          <p:cNvPr id="16" name="Shape 13"/>
          <p:cNvSpPr/>
          <p:nvPr/>
        </p:nvSpPr>
        <p:spPr>
          <a:xfrm>
            <a:off x="3383280" y="1810512"/>
            <a:ext cx="2606040" cy="1417320"/>
          </a:xfrm>
          <a:prstGeom prst="roundRect">
            <a:avLst>
              <a:gd name="adj" fmla="val 6452"/>
            </a:avLst>
          </a:prstGeom>
          <a:solidFill>
            <a:srgbClr val="0C1C2C"/>
          </a:solidFill>
          <a:ln w="9525">
            <a:solidFill>
              <a:srgbClr val="1D4A5A"/>
            </a:solidFill>
            <a:prstDash val="solid"/>
          </a:ln>
        </p:spPr>
      </p:sp>
      <p:sp>
        <p:nvSpPr>
          <p:cNvPr id="17" name="Text 14"/>
          <p:cNvSpPr txBox="1"/>
          <p:nvPr/>
        </p:nvSpPr>
        <p:spPr>
          <a:xfrm>
            <a:off x="3566160" y="1920240"/>
            <a:ext cx="36576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2</a:t>
            </a:r>
            <a:endParaRPr lang="en-US" sz="1800" dirty="0"/>
          </a:p>
        </p:txBody>
      </p:sp>
      <p:sp>
        <p:nvSpPr>
          <p:cNvPr id="18" name="Shape 15"/>
          <p:cNvSpPr/>
          <p:nvPr/>
        </p:nvSpPr>
        <p:spPr>
          <a:xfrm>
            <a:off x="5394960" y="1920240"/>
            <a:ext cx="429768" cy="429768"/>
          </a:xfrm>
          <a:prstGeom prst="ellipse">
            <a:avLst/>
          </a:prstGeom>
          <a:solidFill>
            <a:srgbClr val="071A24"/>
          </a:solidFill>
          <a:ln w="15875">
            <a:solidFill>
              <a:srgbClr val="22D3EE"/>
            </a:solidFill>
            <a:prstDash val="solid"/>
          </a:ln>
        </p:spPr>
      </p:sp>
      <p:pic>
        <p:nvPicPr>
          <p:cNvPr id="19" name="Image 1" descr="preencoded.png">    </p:cNvPr>
          <p:cNvPicPr>
            <a:picLocks noChangeAspect="1"/>
          </p:cNvPicPr>
          <p:nvPr/>
        </p:nvPicPr>
        <p:blipFill>
          <a:blip r:embed="rId3"/>
          <a:stretch>
            <a:fillRect/>
          </a:stretch>
        </p:blipFill>
        <p:spPr>
          <a:xfrm>
            <a:off x="5502402" y="2027682"/>
            <a:ext cx="214884" cy="214884"/>
          </a:xfrm>
          <a:prstGeom prst="rect">
            <a:avLst/>
          </a:prstGeom>
        </p:spPr>
      </p:pic>
      <p:sp>
        <p:nvSpPr>
          <p:cNvPr id="20" name="Text 16"/>
          <p:cNvSpPr txBox="1"/>
          <p:nvPr/>
        </p:nvSpPr>
        <p:spPr>
          <a:xfrm>
            <a:off x="3566160" y="2359152"/>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Entity resolution</a:t>
            </a:r>
            <a:endParaRPr lang="en-US" sz="1350" dirty="0"/>
          </a:p>
        </p:txBody>
      </p:sp>
      <p:sp>
        <p:nvSpPr>
          <p:cNvPr id="21" name="Text 17"/>
          <p:cNvSpPr txBox="1"/>
          <p:nvPr/>
        </p:nvSpPr>
        <p:spPr>
          <a:xfrm>
            <a:off x="3566160" y="2615184"/>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Records → real people</a:t>
            </a:r>
            <a:endParaRPr lang="en-US" sz="1050" dirty="0"/>
          </a:p>
        </p:txBody>
      </p:sp>
      <p:sp>
        <p:nvSpPr>
          <p:cNvPr id="22" name="Shape 18"/>
          <p:cNvSpPr/>
          <p:nvPr/>
        </p:nvSpPr>
        <p:spPr>
          <a:xfrm>
            <a:off x="3566160" y="2907792"/>
            <a:ext cx="822960" cy="237744"/>
          </a:xfrm>
          <a:prstGeom prst="roundRect">
            <a:avLst>
              <a:gd name="adj" fmla="val 50000"/>
            </a:avLst>
          </a:prstGeom>
          <a:solidFill>
            <a:srgbClr val="0E3326"/>
          </a:solidFill>
          <a:ln w="9525">
            <a:solidFill>
              <a:srgbClr val="34D399"/>
            </a:solidFill>
            <a:prstDash val="solid"/>
          </a:ln>
        </p:spPr>
      </p:sp>
      <p:sp>
        <p:nvSpPr>
          <p:cNvPr id="23" name="Text 19"/>
          <p:cNvSpPr txBox="1"/>
          <p:nvPr/>
        </p:nvSpPr>
        <p:spPr>
          <a:xfrm>
            <a:off x="3566160" y="2907792"/>
            <a:ext cx="822960" cy="237744"/>
          </a:xfrm>
          <a:prstGeom prst="rect">
            <a:avLst/>
          </a:prstGeom>
          <a:noFill/>
          <a:ln/>
        </p:spPr>
        <p:txBody>
          <a:bodyPr wrap="square" lIns="0" tIns="0" rIns="0" bIns="0" rtlCol="0" anchor="ctr"/>
          <a:lstStyle/>
          <a:p>
            <a:pPr algn="ctr" indent="0" marL="0">
              <a:buNone/>
            </a:pPr>
            <a:r>
              <a:rPr lang="en-US" sz="900" b="1" spc="100" kern="0" dirty="0">
                <a:solidFill>
                  <a:srgbClr val="34D399"/>
                </a:solidFill>
                <a:latin typeface="Calibri" pitchFamily="34" charset="0"/>
                <a:ea typeface="Calibri" pitchFamily="34" charset="-122"/>
                <a:cs typeface="Calibri" pitchFamily="34" charset="-120"/>
              </a:rPr>
              <a:t>✓ DONE</a:t>
            </a:r>
            <a:endParaRPr lang="en-US" sz="900" dirty="0"/>
          </a:p>
        </p:txBody>
      </p:sp>
      <p:sp>
        <p:nvSpPr>
          <p:cNvPr id="24" name="Shape 20"/>
          <p:cNvSpPr/>
          <p:nvPr/>
        </p:nvSpPr>
        <p:spPr>
          <a:xfrm>
            <a:off x="6025896" y="2514600"/>
            <a:ext cx="155448" cy="0"/>
          </a:xfrm>
          <a:prstGeom prst="line">
            <a:avLst/>
          </a:prstGeom>
          <a:noFill/>
          <a:ln w="12700">
            <a:solidFill>
              <a:srgbClr val="5E7390"/>
            </a:solidFill>
            <a:prstDash val="solid"/>
            <a:tailEnd type="triangle"/>
          </a:ln>
        </p:spPr>
      </p:sp>
      <p:sp>
        <p:nvSpPr>
          <p:cNvPr id="25" name="Shape 21"/>
          <p:cNvSpPr/>
          <p:nvPr/>
        </p:nvSpPr>
        <p:spPr>
          <a:xfrm>
            <a:off x="6217920" y="1810512"/>
            <a:ext cx="2606040" cy="1417320"/>
          </a:xfrm>
          <a:prstGeom prst="roundRect">
            <a:avLst>
              <a:gd name="adj" fmla="val 6452"/>
            </a:avLst>
          </a:prstGeom>
          <a:solidFill>
            <a:srgbClr val="0C1C2C"/>
          </a:solidFill>
          <a:ln w="9525">
            <a:solidFill>
              <a:srgbClr val="1D4A5A"/>
            </a:solidFill>
            <a:prstDash val="solid"/>
          </a:ln>
        </p:spPr>
      </p:sp>
      <p:sp>
        <p:nvSpPr>
          <p:cNvPr id="26" name="Text 22"/>
          <p:cNvSpPr txBox="1"/>
          <p:nvPr/>
        </p:nvSpPr>
        <p:spPr>
          <a:xfrm>
            <a:off x="6400800" y="1920240"/>
            <a:ext cx="36576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3</a:t>
            </a:r>
            <a:endParaRPr lang="en-US" sz="1800" dirty="0"/>
          </a:p>
        </p:txBody>
      </p:sp>
      <p:sp>
        <p:nvSpPr>
          <p:cNvPr id="27" name="Shape 23"/>
          <p:cNvSpPr/>
          <p:nvPr/>
        </p:nvSpPr>
        <p:spPr>
          <a:xfrm>
            <a:off x="8229600" y="1920240"/>
            <a:ext cx="429768" cy="429768"/>
          </a:xfrm>
          <a:prstGeom prst="ellipse">
            <a:avLst/>
          </a:prstGeom>
          <a:solidFill>
            <a:srgbClr val="071A24"/>
          </a:solidFill>
          <a:ln w="15875">
            <a:solidFill>
              <a:srgbClr val="22D3EE"/>
            </a:solidFill>
            <a:prstDash val="solid"/>
          </a:ln>
        </p:spPr>
      </p:sp>
      <p:pic>
        <p:nvPicPr>
          <p:cNvPr id="28" name="Image 2" descr="preencoded.png">    </p:cNvPr>
          <p:cNvPicPr>
            <a:picLocks noChangeAspect="1"/>
          </p:cNvPicPr>
          <p:nvPr/>
        </p:nvPicPr>
        <p:blipFill>
          <a:blip r:embed="rId4"/>
          <a:stretch>
            <a:fillRect/>
          </a:stretch>
        </p:blipFill>
        <p:spPr>
          <a:xfrm>
            <a:off x="8337042" y="2027682"/>
            <a:ext cx="214884" cy="214884"/>
          </a:xfrm>
          <a:prstGeom prst="rect">
            <a:avLst/>
          </a:prstGeom>
        </p:spPr>
      </p:pic>
      <p:sp>
        <p:nvSpPr>
          <p:cNvPr id="29" name="Text 24"/>
          <p:cNvSpPr txBox="1"/>
          <p:nvPr/>
        </p:nvSpPr>
        <p:spPr>
          <a:xfrm>
            <a:off x="6400800" y="2359152"/>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Graph builder</a:t>
            </a:r>
            <a:endParaRPr lang="en-US" sz="1350" dirty="0"/>
          </a:p>
        </p:txBody>
      </p:sp>
      <p:sp>
        <p:nvSpPr>
          <p:cNvPr id="30" name="Text 25"/>
          <p:cNvSpPr txBox="1"/>
          <p:nvPr/>
        </p:nvSpPr>
        <p:spPr>
          <a:xfrm>
            <a:off x="6400800" y="2615184"/>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People as nodes, money as edges</a:t>
            </a:r>
            <a:endParaRPr lang="en-US" sz="1050" dirty="0"/>
          </a:p>
        </p:txBody>
      </p:sp>
      <p:sp>
        <p:nvSpPr>
          <p:cNvPr id="31" name="Shape 26"/>
          <p:cNvSpPr/>
          <p:nvPr/>
        </p:nvSpPr>
        <p:spPr>
          <a:xfrm>
            <a:off x="6400800" y="2907792"/>
            <a:ext cx="822960" cy="237744"/>
          </a:xfrm>
          <a:prstGeom prst="roundRect">
            <a:avLst>
              <a:gd name="adj" fmla="val 50000"/>
            </a:avLst>
          </a:prstGeom>
          <a:solidFill>
            <a:srgbClr val="0E3326"/>
          </a:solidFill>
          <a:ln w="9525">
            <a:solidFill>
              <a:srgbClr val="34D399"/>
            </a:solidFill>
            <a:prstDash val="solid"/>
          </a:ln>
        </p:spPr>
      </p:sp>
      <p:sp>
        <p:nvSpPr>
          <p:cNvPr id="32" name="Text 27"/>
          <p:cNvSpPr txBox="1"/>
          <p:nvPr/>
        </p:nvSpPr>
        <p:spPr>
          <a:xfrm>
            <a:off x="6400800" y="2907792"/>
            <a:ext cx="822960" cy="237744"/>
          </a:xfrm>
          <a:prstGeom prst="rect">
            <a:avLst/>
          </a:prstGeom>
          <a:noFill/>
          <a:ln/>
        </p:spPr>
        <p:txBody>
          <a:bodyPr wrap="square" lIns="0" tIns="0" rIns="0" bIns="0" rtlCol="0" anchor="ctr"/>
          <a:lstStyle/>
          <a:p>
            <a:pPr algn="ctr" indent="0" marL="0">
              <a:buNone/>
            </a:pPr>
            <a:r>
              <a:rPr lang="en-US" sz="900" b="1" spc="100" kern="0" dirty="0">
                <a:solidFill>
                  <a:srgbClr val="34D399"/>
                </a:solidFill>
                <a:latin typeface="Calibri" pitchFamily="34" charset="0"/>
                <a:ea typeface="Calibri" pitchFamily="34" charset="-122"/>
                <a:cs typeface="Calibri" pitchFamily="34" charset="-120"/>
              </a:rPr>
              <a:t>✓ DONE</a:t>
            </a:r>
            <a:endParaRPr lang="en-US" sz="900" dirty="0"/>
          </a:p>
        </p:txBody>
      </p:sp>
      <p:sp>
        <p:nvSpPr>
          <p:cNvPr id="33" name="Shape 28"/>
          <p:cNvSpPr/>
          <p:nvPr/>
        </p:nvSpPr>
        <p:spPr>
          <a:xfrm>
            <a:off x="8860536" y="2514600"/>
            <a:ext cx="155448" cy="0"/>
          </a:xfrm>
          <a:prstGeom prst="line">
            <a:avLst/>
          </a:prstGeom>
          <a:noFill/>
          <a:ln w="12700">
            <a:solidFill>
              <a:srgbClr val="5E7390"/>
            </a:solidFill>
            <a:prstDash val="solid"/>
            <a:tailEnd type="triangle"/>
          </a:ln>
        </p:spPr>
      </p:sp>
      <p:sp>
        <p:nvSpPr>
          <p:cNvPr id="34" name="Shape 29"/>
          <p:cNvSpPr/>
          <p:nvPr/>
        </p:nvSpPr>
        <p:spPr>
          <a:xfrm>
            <a:off x="9052560" y="1810512"/>
            <a:ext cx="2606040" cy="1417320"/>
          </a:xfrm>
          <a:prstGeom prst="roundRect">
            <a:avLst>
              <a:gd name="adj" fmla="val 6452"/>
            </a:avLst>
          </a:prstGeom>
          <a:solidFill>
            <a:srgbClr val="0C1C2C"/>
          </a:solidFill>
          <a:ln w="9525">
            <a:solidFill>
              <a:srgbClr val="1D4A5A"/>
            </a:solidFill>
            <a:prstDash val="solid"/>
          </a:ln>
        </p:spPr>
      </p:sp>
      <p:sp>
        <p:nvSpPr>
          <p:cNvPr id="35" name="Text 30"/>
          <p:cNvSpPr txBox="1"/>
          <p:nvPr/>
        </p:nvSpPr>
        <p:spPr>
          <a:xfrm>
            <a:off x="9235440" y="1920240"/>
            <a:ext cx="36576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4</a:t>
            </a:r>
            <a:endParaRPr lang="en-US" sz="1800" dirty="0"/>
          </a:p>
        </p:txBody>
      </p:sp>
      <p:sp>
        <p:nvSpPr>
          <p:cNvPr id="36" name="Shape 31"/>
          <p:cNvSpPr/>
          <p:nvPr/>
        </p:nvSpPr>
        <p:spPr>
          <a:xfrm>
            <a:off x="11064240" y="1920240"/>
            <a:ext cx="429768" cy="429768"/>
          </a:xfrm>
          <a:prstGeom prst="ellipse">
            <a:avLst/>
          </a:prstGeom>
          <a:solidFill>
            <a:srgbClr val="071A24"/>
          </a:solidFill>
          <a:ln w="15875">
            <a:solidFill>
              <a:srgbClr val="22D3EE"/>
            </a:solidFill>
            <a:prstDash val="solid"/>
          </a:ln>
        </p:spPr>
      </p:sp>
      <p:pic>
        <p:nvPicPr>
          <p:cNvPr id="37" name="Image 3" descr="preencoded.png">    </p:cNvPr>
          <p:cNvPicPr>
            <a:picLocks noChangeAspect="1"/>
          </p:cNvPicPr>
          <p:nvPr/>
        </p:nvPicPr>
        <p:blipFill>
          <a:blip r:embed="rId5"/>
          <a:stretch>
            <a:fillRect/>
          </a:stretch>
        </p:blipFill>
        <p:spPr>
          <a:xfrm>
            <a:off x="11171682" y="2027682"/>
            <a:ext cx="214884" cy="214884"/>
          </a:xfrm>
          <a:prstGeom prst="rect">
            <a:avLst/>
          </a:prstGeom>
        </p:spPr>
      </p:pic>
      <p:sp>
        <p:nvSpPr>
          <p:cNvPr id="38" name="Text 32"/>
          <p:cNvSpPr txBox="1"/>
          <p:nvPr/>
        </p:nvSpPr>
        <p:spPr>
          <a:xfrm>
            <a:off x="9235440" y="2359152"/>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Detection swarm</a:t>
            </a:r>
            <a:endParaRPr lang="en-US" sz="1350" dirty="0"/>
          </a:p>
        </p:txBody>
      </p:sp>
      <p:sp>
        <p:nvSpPr>
          <p:cNvPr id="39" name="Text 33"/>
          <p:cNvSpPr txBox="1"/>
          <p:nvPr/>
        </p:nvSpPr>
        <p:spPr>
          <a:xfrm>
            <a:off x="9235440" y="2615184"/>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4 deterministic detectors, 2 lanes</a:t>
            </a:r>
            <a:endParaRPr lang="en-US" sz="1050" dirty="0"/>
          </a:p>
        </p:txBody>
      </p:sp>
      <p:sp>
        <p:nvSpPr>
          <p:cNvPr id="40" name="Shape 34"/>
          <p:cNvSpPr/>
          <p:nvPr/>
        </p:nvSpPr>
        <p:spPr>
          <a:xfrm>
            <a:off x="9235440" y="2907792"/>
            <a:ext cx="822960" cy="237744"/>
          </a:xfrm>
          <a:prstGeom prst="roundRect">
            <a:avLst>
              <a:gd name="adj" fmla="val 50000"/>
            </a:avLst>
          </a:prstGeom>
          <a:solidFill>
            <a:srgbClr val="0E3326"/>
          </a:solidFill>
          <a:ln w="9525">
            <a:solidFill>
              <a:srgbClr val="34D399"/>
            </a:solidFill>
            <a:prstDash val="solid"/>
          </a:ln>
        </p:spPr>
      </p:sp>
      <p:sp>
        <p:nvSpPr>
          <p:cNvPr id="41" name="Text 35"/>
          <p:cNvSpPr txBox="1"/>
          <p:nvPr/>
        </p:nvSpPr>
        <p:spPr>
          <a:xfrm>
            <a:off x="9235440" y="2907792"/>
            <a:ext cx="822960" cy="237744"/>
          </a:xfrm>
          <a:prstGeom prst="rect">
            <a:avLst/>
          </a:prstGeom>
          <a:noFill/>
          <a:ln/>
        </p:spPr>
        <p:txBody>
          <a:bodyPr wrap="square" lIns="0" tIns="0" rIns="0" bIns="0" rtlCol="0" anchor="ctr"/>
          <a:lstStyle/>
          <a:p>
            <a:pPr algn="ctr" indent="0" marL="0">
              <a:buNone/>
            </a:pPr>
            <a:r>
              <a:rPr lang="en-US" sz="900" b="1" spc="100" kern="0" dirty="0">
                <a:solidFill>
                  <a:srgbClr val="34D399"/>
                </a:solidFill>
                <a:latin typeface="Calibri" pitchFamily="34" charset="0"/>
                <a:ea typeface="Calibri" pitchFamily="34" charset="-122"/>
                <a:cs typeface="Calibri" pitchFamily="34" charset="-120"/>
              </a:rPr>
              <a:t>✓ DONE</a:t>
            </a:r>
            <a:endParaRPr lang="en-US" sz="900" dirty="0"/>
          </a:p>
        </p:txBody>
      </p:sp>
      <p:sp>
        <p:nvSpPr>
          <p:cNvPr id="42" name="Shape 36"/>
          <p:cNvSpPr/>
          <p:nvPr/>
        </p:nvSpPr>
        <p:spPr>
          <a:xfrm>
            <a:off x="548640" y="3383280"/>
            <a:ext cx="2606040" cy="1417320"/>
          </a:xfrm>
          <a:prstGeom prst="roundRect">
            <a:avLst>
              <a:gd name="adj" fmla="val 6452"/>
            </a:avLst>
          </a:prstGeom>
          <a:solidFill>
            <a:srgbClr val="0E1829"/>
          </a:solidFill>
          <a:ln w="9525">
            <a:solidFill>
              <a:srgbClr val="1F3352"/>
            </a:solidFill>
            <a:prstDash val="solid"/>
          </a:ln>
        </p:spPr>
      </p:sp>
      <p:sp>
        <p:nvSpPr>
          <p:cNvPr id="43" name="Text 37"/>
          <p:cNvSpPr txBox="1"/>
          <p:nvPr/>
        </p:nvSpPr>
        <p:spPr>
          <a:xfrm>
            <a:off x="731520" y="3493008"/>
            <a:ext cx="36576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5</a:t>
            </a:r>
            <a:endParaRPr lang="en-US" sz="1800" dirty="0"/>
          </a:p>
        </p:txBody>
      </p:sp>
      <p:sp>
        <p:nvSpPr>
          <p:cNvPr id="44" name="Shape 38"/>
          <p:cNvSpPr/>
          <p:nvPr/>
        </p:nvSpPr>
        <p:spPr>
          <a:xfrm>
            <a:off x="2560320" y="3493008"/>
            <a:ext cx="429768" cy="429768"/>
          </a:xfrm>
          <a:prstGeom prst="ellipse">
            <a:avLst/>
          </a:prstGeom>
          <a:solidFill>
            <a:srgbClr val="071A24"/>
          </a:solidFill>
          <a:ln w="15875">
            <a:solidFill>
              <a:srgbClr val="22D3EE"/>
            </a:solidFill>
            <a:prstDash val="solid"/>
          </a:ln>
        </p:spPr>
      </p:sp>
      <p:pic>
        <p:nvPicPr>
          <p:cNvPr id="45" name="Image 4" descr="preencoded.png">    </p:cNvPr>
          <p:cNvPicPr>
            <a:picLocks noChangeAspect="1"/>
          </p:cNvPicPr>
          <p:nvPr/>
        </p:nvPicPr>
        <p:blipFill>
          <a:blip r:embed="rId6"/>
          <a:stretch>
            <a:fillRect/>
          </a:stretch>
        </p:blipFill>
        <p:spPr>
          <a:xfrm>
            <a:off x="2667762" y="3600450"/>
            <a:ext cx="214884" cy="214884"/>
          </a:xfrm>
          <a:prstGeom prst="rect">
            <a:avLst/>
          </a:prstGeom>
        </p:spPr>
      </p:pic>
      <p:sp>
        <p:nvSpPr>
          <p:cNvPr id="46" name="Text 39"/>
          <p:cNvSpPr txBox="1"/>
          <p:nvPr/>
        </p:nvSpPr>
        <p:spPr>
          <a:xfrm>
            <a:off x="731520" y="3931920"/>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Case builder</a:t>
            </a:r>
            <a:endParaRPr lang="en-US" sz="1350" dirty="0"/>
          </a:p>
        </p:txBody>
      </p:sp>
      <p:sp>
        <p:nvSpPr>
          <p:cNvPr id="47" name="Text 40"/>
          <p:cNvSpPr txBox="1"/>
          <p:nvPr/>
        </p:nvSpPr>
        <p:spPr>
          <a:xfrm>
            <a:off x="731520" y="4187952"/>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Seed → merge → expand → prune</a:t>
            </a:r>
            <a:endParaRPr lang="en-US" sz="1050" dirty="0"/>
          </a:p>
        </p:txBody>
      </p:sp>
      <p:sp>
        <p:nvSpPr>
          <p:cNvPr id="48" name="Shape 41"/>
          <p:cNvSpPr/>
          <p:nvPr/>
        </p:nvSpPr>
        <p:spPr>
          <a:xfrm>
            <a:off x="731520" y="4480560"/>
            <a:ext cx="822960" cy="237744"/>
          </a:xfrm>
          <a:prstGeom prst="roundRect">
            <a:avLst>
              <a:gd name="adj" fmla="val 50000"/>
            </a:avLst>
          </a:prstGeom>
          <a:solidFill>
            <a:srgbClr val="3A2A0C"/>
          </a:solidFill>
          <a:ln w="9525">
            <a:solidFill>
              <a:srgbClr val="F5A524"/>
            </a:solidFill>
            <a:prstDash val="solid"/>
          </a:ln>
        </p:spPr>
      </p:sp>
      <p:sp>
        <p:nvSpPr>
          <p:cNvPr id="49" name="Text 42"/>
          <p:cNvSpPr txBox="1"/>
          <p:nvPr/>
        </p:nvSpPr>
        <p:spPr>
          <a:xfrm>
            <a:off x="731520" y="4480560"/>
            <a:ext cx="822960" cy="237744"/>
          </a:xfrm>
          <a:prstGeom prst="rect">
            <a:avLst/>
          </a:prstGeom>
          <a:noFill/>
          <a:ln/>
        </p:spPr>
        <p:txBody>
          <a:bodyPr wrap="square" lIns="0" tIns="0" rIns="0" bIns="0" rtlCol="0" anchor="ctr"/>
          <a:lstStyle/>
          <a:p>
            <a:pPr algn="ctr" indent="0" marL="0">
              <a:buNone/>
            </a:pPr>
            <a:r>
              <a:rPr lang="en-US" sz="900" b="1" spc="100" kern="0" dirty="0">
                <a:solidFill>
                  <a:srgbClr val="F5A524"/>
                </a:solidFill>
                <a:latin typeface="Calibri" pitchFamily="34" charset="0"/>
                <a:ea typeface="Calibri" pitchFamily="34" charset="-122"/>
                <a:cs typeface="Calibri" pitchFamily="34" charset="-120"/>
              </a:rPr>
              <a:t>BUILDING</a:t>
            </a:r>
            <a:endParaRPr lang="en-US" sz="900" dirty="0"/>
          </a:p>
        </p:txBody>
      </p:sp>
      <p:sp>
        <p:nvSpPr>
          <p:cNvPr id="50" name="Shape 43"/>
          <p:cNvSpPr/>
          <p:nvPr/>
        </p:nvSpPr>
        <p:spPr>
          <a:xfrm>
            <a:off x="3191256" y="4087368"/>
            <a:ext cx="155448" cy="0"/>
          </a:xfrm>
          <a:prstGeom prst="line">
            <a:avLst/>
          </a:prstGeom>
          <a:noFill/>
          <a:ln w="12700">
            <a:solidFill>
              <a:srgbClr val="5E7390"/>
            </a:solidFill>
            <a:prstDash val="solid"/>
            <a:tailEnd type="triangle"/>
          </a:ln>
        </p:spPr>
      </p:sp>
      <p:sp>
        <p:nvSpPr>
          <p:cNvPr id="51" name="Shape 44"/>
          <p:cNvSpPr/>
          <p:nvPr/>
        </p:nvSpPr>
        <p:spPr>
          <a:xfrm>
            <a:off x="3383280" y="3383280"/>
            <a:ext cx="2606040" cy="1417320"/>
          </a:xfrm>
          <a:prstGeom prst="roundRect">
            <a:avLst>
              <a:gd name="adj" fmla="val 6452"/>
            </a:avLst>
          </a:prstGeom>
          <a:solidFill>
            <a:srgbClr val="0E1829"/>
          </a:solidFill>
          <a:ln w="9525">
            <a:solidFill>
              <a:srgbClr val="1F3352"/>
            </a:solidFill>
            <a:prstDash val="solid"/>
          </a:ln>
        </p:spPr>
      </p:sp>
      <p:sp>
        <p:nvSpPr>
          <p:cNvPr id="52" name="Text 45"/>
          <p:cNvSpPr txBox="1"/>
          <p:nvPr/>
        </p:nvSpPr>
        <p:spPr>
          <a:xfrm>
            <a:off x="3566160" y="3493008"/>
            <a:ext cx="365760" cy="365760"/>
          </a:xfrm>
          <a:prstGeom prst="rect">
            <a:avLst/>
          </a:prstGeom>
          <a:noFill/>
          <a:ln/>
        </p:spPr>
        <p:txBody>
          <a:bodyPr wrap="square" lIns="0" tIns="0" rIns="0" bIns="0" rtlCol="0" anchor="ctr"/>
          <a:lstStyle/>
          <a:p>
            <a:pPr indent="0" marL="0">
              <a:buNone/>
            </a:pPr>
            <a:r>
              <a:rPr lang="en-US" sz="1800" b="1" dirty="0">
                <a:solidFill>
                  <a:srgbClr val="A78BFA"/>
                </a:solidFill>
                <a:latin typeface="Cambria" pitchFamily="34" charset="0"/>
                <a:ea typeface="Cambria" pitchFamily="34" charset="-122"/>
                <a:cs typeface="Cambria" pitchFamily="34" charset="-120"/>
              </a:rPr>
              <a:t>6</a:t>
            </a:r>
            <a:endParaRPr lang="en-US" sz="1800" dirty="0"/>
          </a:p>
        </p:txBody>
      </p:sp>
      <p:sp>
        <p:nvSpPr>
          <p:cNvPr id="53" name="Shape 46"/>
          <p:cNvSpPr/>
          <p:nvPr/>
        </p:nvSpPr>
        <p:spPr>
          <a:xfrm>
            <a:off x="5394960" y="3493008"/>
            <a:ext cx="429768" cy="429768"/>
          </a:xfrm>
          <a:prstGeom prst="ellipse">
            <a:avLst/>
          </a:prstGeom>
          <a:solidFill>
            <a:srgbClr val="1A1638"/>
          </a:solidFill>
          <a:ln w="15875">
            <a:solidFill>
              <a:srgbClr val="A78BFA"/>
            </a:solidFill>
            <a:prstDash val="solid"/>
          </a:ln>
        </p:spPr>
      </p:sp>
      <p:pic>
        <p:nvPicPr>
          <p:cNvPr id="54" name="Image 5" descr="preencoded.png">    </p:cNvPr>
          <p:cNvPicPr>
            <a:picLocks noChangeAspect="1"/>
          </p:cNvPicPr>
          <p:nvPr/>
        </p:nvPicPr>
        <p:blipFill>
          <a:blip r:embed="rId7"/>
          <a:stretch>
            <a:fillRect/>
          </a:stretch>
        </p:blipFill>
        <p:spPr>
          <a:xfrm>
            <a:off x="5502402" y="3600450"/>
            <a:ext cx="214884" cy="214884"/>
          </a:xfrm>
          <a:prstGeom prst="rect">
            <a:avLst/>
          </a:prstGeom>
        </p:spPr>
      </p:pic>
      <p:sp>
        <p:nvSpPr>
          <p:cNvPr id="55" name="Text 47"/>
          <p:cNvSpPr txBox="1"/>
          <p:nvPr/>
        </p:nvSpPr>
        <p:spPr>
          <a:xfrm>
            <a:off x="3566160" y="3931920"/>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Investigator AI</a:t>
            </a:r>
            <a:endParaRPr lang="en-US" sz="1350" dirty="0"/>
          </a:p>
        </p:txBody>
      </p:sp>
      <p:sp>
        <p:nvSpPr>
          <p:cNvPr id="56" name="Text 48"/>
          <p:cNvSpPr txBox="1"/>
          <p:nvPr/>
        </p:nvSpPr>
        <p:spPr>
          <a:xfrm>
            <a:off x="3566160" y="4187952"/>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Writes the case from evidence only</a:t>
            </a:r>
            <a:endParaRPr lang="en-US" sz="1050" dirty="0"/>
          </a:p>
        </p:txBody>
      </p:sp>
      <p:sp>
        <p:nvSpPr>
          <p:cNvPr id="57" name="Shape 49"/>
          <p:cNvSpPr/>
          <p:nvPr/>
        </p:nvSpPr>
        <p:spPr>
          <a:xfrm>
            <a:off x="3566160" y="4480560"/>
            <a:ext cx="822960" cy="237744"/>
          </a:xfrm>
          <a:prstGeom prst="roundRect">
            <a:avLst>
              <a:gd name="adj" fmla="val 50000"/>
            </a:avLst>
          </a:prstGeom>
          <a:solidFill>
            <a:srgbClr val="0B1320"/>
          </a:solidFill>
          <a:ln w="9525">
            <a:solidFill>
              <a:srgbClr val="5E7390"/>
            </a:solidFill>
            <a:prstDash val="solid"/>
          </a:ln>
        </p:spPr>
      </p:sp>
      <p:sp>
        <p:nvSpPr>
          <p:cNvPr id="58" name="Text 50"/>
          <p:cNvSpPr txBox="1"/>
          <p:nvPr/>
        </p:nvSpPr>
        <p:spPr>
          <a:xfrm>
            <a:off x="3566160" y="4480560"/>
            <a:ext cx="822960" cy="237744"/>
          </a:xfrm>
          <a:prstGeom prst="rect">
            <a:avLst/>
          </a:prstGeom>
          <a:noFill/>
          <a:ln/>
        </p:spPr>
        <p:txBody>
          <a:bodyPr wrap="square" lIns="0" tIns="0" rIns="0" bIns="0" rtlCol="0" anchor="ctr"/>
          <a:lstStyle/>
          <a:p>
            <a:pPr algn="ctr" indent="0" marL="0">
              <a:buNone/>
            </a:pPr>
            <a:r>
              <a:rPr lang="en-US" sz="900" b="1" spc="100" kern="0" dirty="0">
                <a:solidFill>
                  <a:srgbClr val="5E7390"/>
                </a:solidFill>
                <a:latin typeface="Calibri" pitchFamily="34" charset="0"/>
                <a:ea typeface="Calibri" pitchFamily="34" charset="-122"/>
                <a:cs typeface="Calibri" pitchFamily="34" charset="-120"/>
              </a:rPr>
              <a:t>NEXT</a:t>
            </a:r>
            <a:endParaRPr lang="en-US" sz="900" dirty="0"/>
          </a:p>
        </p:txBody>
      </p:sp>
      <p:sp>
        <p:nvSpPr>
          <p:cNvPr id="59" name="Shape 51"/>
          <p:cNvSpPr/>
          <p:nvPr/>
        </p:nvSpPr>
        <p:spPr>
          <a:xfrm>
            <a:off x="6025896" y="4087368"/>
            <a:ext cx="155448" cy="0"/>
          </a:xfrm>
          <a:prstGeom prst="line">
            <a:avLst/>
          </a:prstGeom>
          <a:noFill/>
          <a:ln w="12700">
            <a:solidFill>
              <a:srgbClr val="5E7390"/>
            </a:solidFill>
            <a:prstDash val="solid"/>
            <a:tailEnd type="triangle"/>
          </a:ln>
        </p:spPr>
      </p:sp>
      <p:sp>
        <p:nvSpPr>
          <p:cNvPr id="60" name="Shape 52"/>
          <p:cNvSpPr/>
          <p:nvPr/>
        </p:nvSpPr>
        <p:spPr>
          <a:xfrm>
            <a:off x="6217920" y="3383280"/>
            <a:ext cx="2606040" cy="1417320"/>
          </a:xfrm>
          <a:prstGeom prst="roundRect">
            <a:avLst>
              <a:gd name="adj" fmla="val 6452"/>
            </a:avLst>
          </a:prstGeom>
          <a:solidFill>
            <a:srgbClr val="0E1829"/>
          </a:solidFill>
          <a:ln w="9525">
            <a:solidFill>
              <a:srgbClr val="1F3352"/>
            </a:solidFill>
            <a:prstDash val="solid"/>
          </a:ln>
        </p:spPr>
      </p:sp>
      <p:sp>
        <p:nvSpPr>
          <p:cNvPr id="61" name="Text 53"/>
          <p:cNvSpPr txBox="1"/>
          <p:nvPr/>
        </p:nvSpPr>
        <p:spPr>
          <a:xfrm>
            <a:off x="6400800" y="3493008"/>
            <a:ext cx="365760" cy="365760"/>
          </a:xfrm>
          <a:prstGeom prst="rect">
            <a:avLst/>
          </a:prstGeom>
          <a:noFill/>
          <a:ln/>
        </p:spPr>
        <p:txBody>
          <a:bodyPr wrap="square" lIns="0" tIns="0" rIns="0" bIns="0" rtlCol="0" anchor="ctr"/>
          <a:lstStyle/>
          <a:p>
            <a:pPr indent="0" marL="0">
              <a:buNone/>
            </a:pPr>
            <a:r>
              <a:rPr lang="en-US" sz="1800" b="1" dirty="0">
                <a:solidFill>
                  <a:srgbClr val="A78BFA"/>
                </a:solidFill>
                <a:latin typeface="Cambria" pitchFamily="34" charset="0"/>
                <a:ea typeface="Cambria" pitchFamily="34" charset="-122"/>
                <a:cs typeface="Cambria" pitchFamily="34" charset="-120"/>
              </a:rPr>
              <a:t>7</a:t>
            </a:r>
            <a:endParaRPr lang="en-US" sz="1800" dirty="0"/>
          </a:p>
        </p:txBody>
      </p:sp>
      <p:sp>
        <p:nvSpPr>
          <p:cNvPr id="62" name="Shape 54"/>
          <p:cNvSpPr/>
          <p:nvPr/>
        </p:nvSpPr>
        <p:spPr>
          <a:xfrm>
            <a:off x="8229600" y="3493008"/>
            <a:ext cx="429768" cy="429768"/>
          </a:xfrm>
          <a:prstGeom prst="ellipse">
            <a:avLst/>
          </a:prstGeom>
          <a:solidFill>
            <a:srgbClr val="1A1638"/>
          </a:solidFill>
          <a:ln w="15875">
            <a:solidFill>
              <a:srgbClr val="A78BFA"/>
            </a:solidFill>
            <a:prstDash val="solid"/>
          </a:ln>
        </p:spPr>
      </p:sp>
      <p:pic>
        <p:nvPicPr>
          <p:cNvPr id="63" name="Image 6" descr="preencoded.png">    </p:cNvPr>
          <p:cNvPicPr>
            <a:picLocks noChangeAspect="1"/>
          </p:cNvPicPr>
          <p:nvPr/>
        </p:nvPicPr>
        <p:blipFill>
          <a:blip r:embed="rId8"/>
          <a:stretch>
            <a:fillRect/>
          </a:stretch>
        </p:blipFill>
        <p:spPr>
          <a:xfrm>
            <a:off x="8337042" y="3600450"/>
            <a:ext cx="214884" cy="214884"/>
          </a:xfrm>
          <a:prstGeom prst="rect">
            <a:avLst/>
          </a:prstGeom>
        </p:spPr>
      </p:pic>
      <p:sp>
        <p:nvSpPr>
          <p:cNvPr id="64" name="Text 55"/>
          <p:cNvSpPr txBox="1"/>
          <p:nvPr/>
        </p:nvSpPr>
        <p:spPr>
          <a:xfrm>
            <a:off x="6400800" y="3931920"/>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Verifier AI</a:t>
            </a:r>
            <a:endParaRPr lang="en-US" sz="1350" dirty="0"/>
          </a:p>
        </p:txBody>
      </p:sp>
      <p:sp>
        <p:nvSpPr>
          <p:cNvPr id="65" name="Text 56"/>
          <p:cNvSpPr txBox="1"/>
          <p:nvPr/>
        </p:nvSpPr>
        <p:spPr>
          <a:xfrm>
            <a:off x="6400800" y="4187952"/>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Attacks every claim against raw data</a:t>
            </a:r>
            <a:endParaRPr lang="en-US" sz="1050" dirty="0"/>
          </a:p>
        </p:txBody>
      </p:sp>
      <p:sp>
        <p:nvSpPr>
          <p:cNvPr id="66" name="Shape 57"/>
          <p:cNvSpPr/>
          <p:nvPr/>
        </p:nvSpPr>
        <p:spPr>
          <a:xfrm>
            <a:off x="6400800" y="4480560"/>
            <a:ext cx="822960" cy="237744"/>
          </a:xfrm>
          <a:prstGeom prst="roundRect">
            <a:avLst>
              <a:gd name="adj" fmla="val 50000"/>
            </a:avLst>
          </a:prstGeom>
          <a:solidFill>
            <a:srgbClr val="0B1320"/>
          </a:solidFill>
          <a:ln w="9525">
            <a:solidFill>
              <a:srgbClr val="5E7390"/>
            </a:solidFill>
            <a:prstDash val="solid"/>
          </a:ln>
        </p:spPr>
      </p:sp>
      <p:sp>
        <p:nvSpPr>
          <p:cNvPr id="67" name="Text 58"/>
          <p:cNvSpPr txBox="1"/>
          <p:nvPr/>
        </p:nvSpPr>
        <p:spPr>
          <a:xfrm>
            <a:off x="6400800" y="4480560"/>
            <a:ext cx="822960" cy="237744"/>
          </a:xfrm>
          <a:prstGeom prst="rect">
            <a:avLst/>
          </a:prstGeom>
          <a:noFill/>
          <a:ln/>
        </p:spPr>
        <p:txBody>
          <a:bodyPr wrap="square" lIns="0" tIns="0" rIns="0" bIns="0" rtlCol="0" anchor="ctr"/>
          <a:lstStyle/>
          <a:p>
            <a:pPr algn="ctr" indent="0" marL="0">
              <a:buNone/>
            </a:pPr>
            <a:r>
              <a:rPr lang="en-US" sz="900" b="1" spc="100" kern="0" dirty="0">
                <a:solidFill>
                  <a:srgbClr val="5E7390"/>
                </a:solidFill>
                <a:latin typeface="Calibri" pitchFamily="34" charset="0"/>
                <a:ea typeface="Calibri" pitchFamily="34" charset="-122"/>
                <a:cs typeface="Calibri" pitchFamily="34" charset="-120"/>
              </a:rPr>
              <a:t>NEXT</a:t>
            </a:r>
            <a:endParaRPr lang="en-US" sz="900" dirty="0"/>
          </a:p>
        </p:txBody>
      </p:sp>
      <p:sp>
        <p:nvSpPr>
          <p:cNvPr id="68" name="Shape 59"/>
          <p:cNvSpPr/>
          <p:nvPr/>
        </p:nvSpPr>
        <p:spPr>
          <a:xfrm>
            <a:off x="8860536" y="4087368"/>
            <a:ext cx="155448" cy="0"/>
          </a:xfrm>
          <a:prstGeom prst="line">
            <a:avLst/>
          </a:prstGeom>
          <a:noFill/>
          <a:ln w="12700">
            <a:solidFill>
              <a:srgbClr val="5E7390"/>
            </a:solidFill>
            <a:prstDash val="solid"/>
            <a:tailEnd type="triangle"/>
          </a:ln>
        </p:spPr>
      </p:sp>
      <p:sp>
        <p:nvSpPr>
          <p:cNvPr id="69" name="Shape 60"/>
          <p:cNvSpPr/>
          <p:nvPr/>
        </p:nvSpPr>
        <p:spPr>
          <a:xfrm>
            <a:off x="9052560" y="3383280"/>
            <a:ext cx="2606040" cy="1417320"/>
          </a:xfrm>
          <a:prstGeom prst="roundRect">
            <a:avLst>
              <a:gd name="adj" fmla="val 6452"/>
            </a:avLst>
          </a:prstGeom>
          <a:solidFill>
            <a:srgbClr val="0E1829"/>
          </a:solidFill>
          <a:ln w="9525">
            <a:solidFill>
              <a:srgbClr val="1F3352"/>
            </a:solidFill>
            <a:prstDash val="solid"/>
          </a:ln>
        </p:spPr>
      </p:sp>
      <p:sp>
        <p:nvSpPr>
          <p:cNvPr id="70" name="Text 61"/>
          <p:cNvSpPr txBox="1"/>
          <p:nvPr/>
        </p:nvSpPr>
        <p:spPr>
          <a:xfrm>
            <a:off x="9235440" y="3493008"/>
            <a:ext cx="36576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71" name="Shape 62"/>
          <p:cNvSpPr/>
          <p:nvPr/>
        </p:nvSpPr>
        <p:spPr>
          <a:xfrm>
            <a:off x="11064240" y="3493008"/>
            <a:ext cx="429768" cy="429768"/>
          </a:xfrm>
          <a:prstGeom prst="ellipse">
            <a:avLst/>
          </a:prstGeom>
          <a:solidFill>
            <a:srgbClr val="071A24"/>
          </a:solidFill>
          <a:ln w="15875">
            <a:solidFill>
              <a:srgbClr val="FFFFFF"/>
            </a:solidFill>
            <a:prstDash val="solid"/>
          </a:ln>
        </p:spPr>
      </p:sp>
      <p:pic>
        <p:nvPicPr>
          <p:cNvPr id="72" name="Image 7" descr="preencoded.png">    </p:cNvPr>
          <p:cNvPicPr>
            <a:picLocks noChangeAspect="1"/>
          </p:cNvPicPr>
          <p:nvPr/>
        </p:nvPicPr>
        <p:blipFill>
          <a:blip r:embed="rId9"/>
          <a:stretch>
            <a:fillRect/>
          </a:stretch>
        </p:blipFill>
        <p:spPr>
          <a:xfrm>
            <a:off x="11171682" y="3600450"/>
            <a:ext cx="214884" cy="214884"/>
          </a:xfrm>
          <a:prstGeom prst="rect">
            <a:avLst/>
          </a:prstGeom>
        </p:spPr>
      </p:pic>
      <p:sp>
        <p:nvSpPr>
          <p:cNvPr id="73" name="Text 63"/>
          <p:cNvSpPr txBox="1"/>
          <p:nvPr/>
        </p:nvSpPr>
        <p:spPr>
          <a:xfrm>
            <a:off x="9235440" y="3931920"/>
            <a:ext cx="2286000" cy="27432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Officer + dashboard</a:t>
            </a:r>
            <a:endParaRPr lang="en-US" sz="1350" dirty="0"/>
          </a:p>
        </p:txBody>
      </p:sp>
      <p:sp>
        <p:nvSpPr>
          <p:cNvPr id="74" name="Text 64"/>
          <p:cNvSpPr txBox="1"/>
          <p:nvPr/>
        </p:nvSpPr>
        <p:spPr>
          <a:xfrm>
            <a:off x="9235440" y="4187952"/>
            <a:ext cx="2286000" cy="25603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Approve or reject. Nothing auto-filed</a:t>
            </a:r>
            <a:endParaRPr lang="en-US" sz="1050" dirty="0"/>
          </a:p>
        </p:txBody>
      </p:sp>
      <p:sp>
        <p:nvSpPr>
          <p:cNvPr id="75" name="Shape 65"/>
          <p:cNvSpPr/>
          <p:nvPr/>
        </p:nvSpPr>
        <p:spPr>
          <a:xfrm>
            <a:off x="9235440" y="4480560"/>
            <a:ext cx="822960" cy="237744"/>
          </a:xfrm>
          <a:prstGeom prst="roundRect">
            <a:avLst>
              <a:gd name="adj" fmla="val 50000"/>
            </a:avLst>
          </a:prstGeom>
          <a:solidFill>
            <a:srgbClr val="0B1320"/>
          </a:solidFill>
          <a:ln w="9525">
            <a:solidFill>
              <a:srgbClr val="5E7390"/>
            </a:solidFill>
            <a:prstDash val="solid"/>
          </a:ln>
        </p:spPr>
      </p:sp>
      <p:sp>
        <p:nvSpPr>
          <p:cNvPr id="76" name="Text 66"/>
          <p:cNvSpPr txBox="1"/>
          <p:nvPr/>
        </p:nvSpPr>
        <p:spPr>
          <a:xfrm>
            <a:off x="9235440" y="4480560"/>
            <a:ext cx="822960" cy="237744"/>
          </a:xfrm>
          <a:prstGeom prst="rect">
            <a:avLst/>
          </a:prstGeom>
          <a:noFill/>
          <a:ln/>
        </p:spPr>
        <p:txBody>
          <a:bodyPr wrap="square" lIns="0" tIns="0" rIns="0" bIns="0" rtlCol="0" anchor="ctr"/>
          <a:lstStyle/>
          <a:p>
            <a:pPr algn="ctr" indent="0" marL="0">
              <a:buNone/>
            </a:pPr>
            <a:r>
              <a:rPr lang="en-US" sz="900" b="1" spc="100" kern="0" dirty="0">
                <a:solidFill>
                  <a:srgbClr val="5E7390"/>
                </a:solidFill>
                <a:latin typeface="Calibri" pitchFamily="34" charset="0"/>
                <a:ea typeface="Calibri" pitchFamily="34" charset="-122"/>
                <a:cs typeface="Calibri" pitchFamily="34" charset="-120"/>
              </a:rPr>
              <a:t>NEXT</a:t>
            </a:r>
            <a:endParaRPr lang="en-US" sz="900" dirty="0"/>
          </a:p>
        </p:txBody>
      </p:sp>
      <p:sp>
        <p:nvSpPr>
          <p:cNvPr id="77" name="Shape 67"/>
          <p:cNvSpPr/>
          <p:nvPr/>
        </p:nvSpPr>
        <p:spPr>
          <a:xfrm>
            <a:off x="548640" y="4992624"/>
            <a:ext cx="118872" cy="118872"/>
          </a:xfrm>
          <a:prstGeom prst="ellipse">
            <a:avLst/>
          </a:prstGeom>
          <a:solidFill>
            <a:srgbClr val="22D3EE"/>
          </a:solidFill>
          <a:ln w="12700">
            <a:solidFill>
              <a:srgbClr val="22D3EE"/>
            </a:solidFill>
            <a:prstDash val="solid"/>
          </a:ln>
        </p:spPr>
      </p:sp>
      <p:sp>
        <p:nvSpPr>
          <p:cNvPr id="78" name="Text 68"/>
          <p:cNvSpPr txBox="1"/>
          <p:nvPr/>
        </p:nvSpPr>
        <p:spPr>
          <a:xfrm>
            <a:off x="749808" y="4928616"/>
            <a:ext cx="2103120" cy="246888"/>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Deterministic graph logic</a:t>
            </a:r>
            <a:endParaRPr lang="en-US" sz="1050" dirty="0"/>
          </a:p>
        </p:txBody>
      </p:sp>
      <p:sp>
        <p:nvSpPr>
          <p:cNvPr id="79" name="Shape 69"/>
          <p:cNvSpPr/>
          <p:nvPr/>
        </p:nvSpPr>
        <p:spPr>
          <a:xfrm>
            <a:off x="2926080" y="4992624"/>
            <a:ext cx="118872" cy="118872"/>
          </a:xfrm>
          <a:prstGeom prst="ellipse">
            <a:avLst/>
          </a:prstGeom>
          <a:solidFill>
            <a:srgbClr val="A78BFA"/>
          </a:solidFill>
          <a:ln w="12700">
            <a:solidFill>
              <a:srgbClr val="A78BFA"/>
            </a:solidFill>
            <a:prstDash val="solid"/>
          </a:ln>
        </p:spPr>
      </p:sp>
      <p:sp>
        <p:nvSpPr>
          <p:cNvPr id="80" name="Text 70"/>
          <p:cNvSpPr txBox="1"/>
          <p:nvPr/>
        </p:nvSpPr>
        <p:spPr>
          <a:xfrm>
            <a:off x="3127248" y="4928616"/>
            <a:ext cx="2103120" cy="246888"/>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AI (language only)</a:t>
            </a:r>
            <a:endParaRPr lang="en-US" sz="1050" dirty="0"/>
          </a:p>
        </p:txBody>
      </p:sp>
      <p:sp>
        <p:nvSpPr>
          <p:cNvPr id="81" name="Shape 71"/>
          <p:cNvSpPr/>
          <p:nvPr/>
        </p:nvSpPr>
        <p:spPr>
          <a:xfrm>
            <a:off x="5303520" y="4992624"/>
            <a:ext cx="118872" cy="118872"/>
          </a:xfrm>
          <a:prstGeom prst="ellipse">
            <a:avLst/>
          </a:prstGeom>
          <a:solidFill>
            <a:srgbClr val="FFFFFF"/>
          </a:solidFill>
          <a:ln w="12700">
            <a:solidFill>
              <a:srgbClr val="FFFFFF"/>
            </a:solidFill>
            <a:prstDash val="solid"/>
          </a:ln>
        </p:spPr>
      </p:sp>
      <p:sp>
        <p:nvSpPr>
          <p:cNvPr id="82" name="Text 72"/>
          <p:cNvSpPr txBox="1"/>
          <p:nvPr/>
        </p:nvSpPr>
        <p:spPr>
          <a:xfrm>
            <a:off x="5504688" y="4928616"/>
            <a:ext cx="2103120" cy="246888"/>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Human decision</a:t>
            </a:r>
            <a:endParaRPr lang="en-US" sz="1050" dirty="0"/>
          </a:p>
        </p:txBody>
      </p:sp>
      <p:sp>
        <p:nvSpPr>
          <p:cNvPr id="83" name="Shape 73"/>
          <p:cNvSpPr/>
          <p:nvPr/>
        </p:nvSpPr>
        <p:spPr>
          <a:xfrm>
            <a:off x="548640" y="5303520"/>
            <a:ext cx="11109960" cy="1024128"/>
          </a:xfrm>
          <a:prstGeom prst="roundRect">
            <a:avLst>
              <a:gd name="adj" fmla="val 8929"/>
            </a:avLst>
          </a:prstGeom>
          <a:solidFill>
            <a:srgbClr val="12203A"/>
          </a:solidFill>
          <a:ln w="9525">
            <a:solidFill>
              <a:srgbClr val="1F3352"/>
            </a:solidFill>
            <a:prstDash val="solid"/>
          </a:ln>
        </p:spPr>
      </p:sp>
      <p:sp>
        <p:nvSpPr>
          <p:cNvPr id="84" name="Text 74"/>
          <p:cNvSpPr txBox="1"/>
          <p:nvPr/>
        </p:nvSpPr>
        <p:spPr>
          <a:xfrm>
            <a:off x="731520" y="5376672"/>
            <a:ext cx="2743200" cy="201168"/>
          </a:xfrm>
          <a:prstGeom prst="rect">
            <a:avLst/>
          </a:prstGeom>
          <a:noFill/>
          <a:ln/>
        </p:spPr>
        <p:txBody>
          <a:bodyPr wrap="square" lIns="0" tIns="0" rIns="0" bIns="0" rtlCol="0" anchor="t"/>
          <a:lstStyle/>
          <a:p>
            <a:pPr indent="0" marL="0">
              <a:buNone/>
            </a:pPr>
            <a:r>
              <a:rPr lang="en-US" sz="900" b="1" spc="300" kern="0" dirty="0">
                <a:solidFill>
                  <a:srgbClr val="22D3EE"/>
                </a:solidFill>
                <a:latin typeface="Calibri" pitchFamily="34" charset="0"/>
                <a:ea typeface="Calibri" pitchFamily="34" charset="-122"/>
                <a:cs typeface="Calibri" pitchFamily="34" charset="-120"/>
              </a:rPr>
              <a:t>STAGE 1 · THE DATA</a:t>
            </a:r>
            <a:endParaRPr lang="en-US" sz="900" dirty="0"/>
          </a:p>
        </p:txBody>
      </p:sp>
      <p:sp>
        <p:nvSpPr>
          <p:cNvPr id="85" name="Text 75"/>
          <p:cNvSpPr txBox="1"/>
          <p:nvPr/>
        </p:nvSpPr>
        <p:spPr>
          <a:xfrm>
            <a:off x="731520" y="5577840"/>
            <a:ext cx="1737360" cy="347472"/>
          </a:xfrm>
          <a:prstGeom prst="rect">
            <a:avLst/>
          </a:prstGeom>
          <a:noFill/>
          <a:ln/>
        </p:spPr>
        <p:txBody>
          <a:bodyPr wrap="square" lIns="0" tIns="0" rIns="0" bIns="0" rtlCol="0" anchor="ctr"/>
          <a:lstStyle/>
          <a:p>
            <a:pPr indent="0" marL="0">
              <a:buNone/>
            </a:pPr>
            <a:r>
              <a:rPr lang="en-US" sz="1700" b="1" dirty="0">
                <a:solidFill>
                  <a:srgbClr val="22D3EE"/>
                </a:solidFill>
                <a:latin typeface="Cambria" pitchFamily="34" charset="0"/>
                <a:ea typeface="Cambria" pitchFamily="34" charset="-122"/>
                <a:cs typeface="Cambria" pitchFamily="34" charset="-120"/>
              </a:rPr>
              <a:t>80,000</a:t>
            </a:r>
            <a:endParaRPr lang="en-US" sz="1700" dirty="0"/>
          </a:p>
        </p:txBody>
      </p:sp>
      <p:sp>
        <p:nvSpPr>
          <p:cNvPr id="86" name="Text 76"/>
          <p:cNvSpPr txBox="1"/>
          <p:nvPr/>
        </p:nvSpPr>
        <p:spPr>
          <a:xfrm>
            <a:off x="731520" y="5925312"/>
            <a:ext cx="1737360" cy="365760"/>
          </a:xfrm>
          <a:prstGeom prst="rect">
            <a:avLst/>
          </a:prstGeom>
          <a:noFill/>
          <a:ln/>
        </p:spPr>
        <p:txBody>
          <a:bodyPr wrap="square" lIns="0" tIns="0" rIns="0" bIns="0" rtlCol="0" anchor="t"/>
          <a:lstStyle/>
          <a:p>
            <a:pPr indent="0" marL="0">
              <a:buNone/>
            </a:pPr>
            <a:r>
              <a:rPr lang="en-US" sz="900" dirty="0">
                <a:solidFill>
                  <a:srgbClr val="9AAEC6"/>
                </a:solidFill>
                <a:latin typeface="Calibri" pitchFamily="34" charset="0"/>
                <a:ea typeface="Calibri" pitchFamily="34" charset="-122"/>
                <a:cs typeface="Calibri" pitchFamily="34" charset="-120"/>
              </a:rPr>
              <a:t>transactions · 30 days · 2 banks</a:t>
            </a:r>
            <a:endParaRPr lang="en-US" sz="900" dirty="0"/>
          </a:p>
        </p:txBody>
      </p:sp>
      <p:sp>
        <p:nvSpPr>
          <p:cNvPr id="87" name="Text 77"/>
          <p:cNvSpPr txBox="1"/>
          <p:nvPr/>
        </p:nvSpPr>
        <p:spPr>
          <a:xfrm>
            <a:off x="2560320" y="5577840"/>
            <a:ext cx="1737360" cy="347472"/>
          </a:xfrm>
          <a:prstGeom prst="rect">
            <a:avLst/>
          </a:prstGeom>
          <a:noFill/>
          <a:ln/>
        </p:spPr>
        <p:txBody>
          <a:bodyPr wrap="square" lIns="0" tIns="0" rIns="0" bIns="0" rtlCol="0" anchor="ctr"/>
          <a:lstStyle/>
          <a:p>
            <a:pPr indent="0" marL="0">
              <a:buNone/>
            </a:pPr>
            <a:r>
              <a:rPr lang="en-US" sz="1700" b="1" dirty="0">
                <a:solidFill>
                  <a:srgbClr val="22D3EE"/>
                </a:solidFill>
                <a:latin typeface="Cambria" pitchFamily="34" charset="0"/>
                <a:ea typeface="Cambria" pitchFamily="34" charset="-122"/>
                <a:cs typeface="Cambria" pitchFamily="34" charset="-120"/>
              </a:rPr>
              <a:t>2,500</a:t>
            </a:r>
            <a:endParaRPr lang="en-US" sz="1700" dirty="0"/>
          </a:p>
        </p:txBody>
      </p:sp>
      <p:sp>
        <p:nvSpPr>
          <p:cNvPr id="88" name="Text 78"/>
          <p:cNvSpPr txBox="1"/>
          <p:nvPr/>
        </p:nvSpPr>
        <p:spPr>
          <a:xfrm>
            <a:off x="2560320" y="5925312"/>
            <a:ext cx="1737360" cy="365760"/>
          </a:xfrm>
          <a:prstGeom prst="rect">
            <a:avLst/>
          </a:prstGeom>
          <a:noFill/>
          <a:ln/>
        </p:spPr>
        <p:txBody>
          <a:bodyPr wrap="square" lIns="0" tIns="0" rIns="0" bIns="0" rtlCol="0" anchor="t"/>
          <a:lstStyle/>
          <a:p>
            <a:pPr indent="0" marL="0">
              <a:buNone/>
            </a:pPr>
            <a:r>
              <a:rPr lang="en-US" sz="900" dirty="0">
                <a:solidFill>
                  <a:srgbClr val="9AAEC6"/>
                </a:solidFill>
                <a:latin typeface="Calibri" pitchFamily="34" charset="0"/>
                <a:ea typeface="Calibri" pitchFamily="34" charset="-122"/>
                <a:cs typeface="Calibri" pitchFamily="34" charset="-120"/>
              </a:rPr>
              <a:t>accounts, true owners hidden</a:t>
            </a:r>
            <a:endParaRPr lang="en-US" sz="900" dirty="0"/>
          </a:p>
        </p:txBody>
      </p:sp>
      <p:sp>
        <p:nvSpPr>
          <p:cNvPr id="89" name="Text 79"/>
          <p:cNvSpPr txBox="1"/>
          <p:nvPr/>
        </p:nvSpPr>
        <p:spPr>
          <a:xfrm>
            <a:off x="4389120" y="5577840"/>
            <a:ext cx="1737360" cy="347472"/>
          </a:xfrm>
          <a:prstGeom prst="rect">
            <a:avLst/>
          </a:prstGeom>
          <a:noFill/>
          <a:ln/>
        </p:spPr>
        <p:txBody>
          <a:bodyPr wrap="square" lIns="0" tIns="0" rIns="0" bIns="0" rtlCol="0" anchor="ctr"/>
          <a:lstStyle/>
          <a:p>
            <a:pPr indent="0" marL="0">
              <a:buNone/>
            </a:pPr>
            <a:r>
              <a:rPr lang="en-US" sz="1700" b="1" dirty="0">
                <a:solidFill>
                  <a:srgbClr val="22D3EE"/>
                </a:solidFill>
                <a:latin typeface="Cambria" pitchFamily="34" charset="0"/>
                <a:ea typeface="Cambria" pitchFamily="34" charset="-122"/>
                <a:cs typeface="Cambria" pitchFamily="34" charset="-120"/>
              </a:rPr>
              <a:t>3,768</a:t>
            </a:r>
            <a:endParaRPr lang="en-US" sz="1700" dirty="0"/>
          </a:p>
        </p:txBody>
      </p:sp>
      <p:sp>
        <p:nvSpPr>
          <p:cNvPr id="90" name="Text 80"/>
          <p:cNvSpPr txBox="1"/>
          <p:nvPr/>
        </p:nvSpPr>
        <p:spPr>
          <a:xfrm>
            <a:off x="4389120" y="5925312"/>
            <a:ext cx="1737360" cy="365760"/>
          </a:xfrm>
          <a:prstGeom prst="rect">
            <a:avLst/>
          </a:prstGeom>
          <a:noFill/>
          <a:ln/>
        </p:spPr>
        <p:txBody>
          <a:bodyPr wrap="square" lIns="0" tIns="0" rIns="0" bIns="0" rtlCol="0" anchor="t"/>
          <a:lstStyle/>
          <a:p>
            <a:pPr indent="0" marL="0">
              <a:buNone/>
            </a:pPr>
            <a:r>
              <a:rPr lang="en-US" sz="900" dirty="0">
                <a:solidFill>
                  <a:srgbClr val="9AAEC6"/>
                </a:solidFill>
                <a:latin typeface="Calibri" pitchFamily="34" charset="0"/>
                <a:ea typeface="Calibri" pitchFamily="34" charset="-122"/>
                <a:cs typeface="Calibri" pitchFamily="34" charset="-120"/>
              </a:rPr>
              <a:t>identity records, 3 systems, ~25% blank</a:t>
            </a:r>
            <a:endParaRPr lang="en-US" sz="900" dirty="0"/>
          </a:p>
        </p:txBody>
      </p:sp>
      <p:sp>
        <p:nvSpPr>
          <p:cNvPr id="91" name="Text 81"/>
          <p:cNvSpPr txBox="1"/>
          <p:nvPr/>
        </p:nvSpPr>
        <p:spPr>
          <a:xfrm>
            <a:off x="6217920" y="5577840"/>
            <a:ext cx="1737360" cy="347472"/>
          </a:xfrm>
          <a:prstGeom prst="rect">
            <a:avLst/>
          </a:prstGeom>
          <a:noFill/>
          <a:ln/>
        </p:spPr>
        <p:txBody>
          <a:bodyPr wrap="square" lIns="0" tIns="0" rIns="0" bIns="0" rtlCol="0" anchor="ctr"/>
          <a:lstStyle/>
          <a:p>
            <a:pPr indent="0" marL="0">
              <a:buNone/>
            </a:pPr>
            <a:r>
              <a:rPr lang="en-US" sz="1700" b="1" dirty="0">
                <a:solidFill>
                  <a:srgbClr val="22D3EE"/>
                </a:solidFill>
                <a:latin typeface="Cambria" pitchFamily="34" charset="0"/>
                <a:ea typeface="Cambria" pitchFamily="34" charset="-122"/>
                <a:cs typeface="Cambria" pitchFamily="34" charset="-120"/>
              </a:rPr>
              <a:t>12 rings</a:t>
            </a:r>
            <a:endParaRPr lang="en-US" sz="1700" dirty="0"/>
          </a:p>
        </p:txBody>
      </p:sp>
      <p:sp>
        <p:nvSpPr>
          <p:cNvPr id="92" name="Text 82"/>
          <p:cNvSpPr txBox="1"/>
          <p:nvPr/>
        </p:nvSpPr>
        <p:spPr>
          <a:xfrm>
            <a:off x="6217920" y="5925312"/>
            <a:ext cx="1737360" cy="365760"/>
          </a:xfrm>
          <a:prstGeom prst="rect">
            <a:avLst/>
          </a:prstGeom>
          <a:noFill/>
          <a:ln/>
        </p:spPr>
        <p:txBody>
          <a:bodyPr wrap="square" lIns="0" tIns="0" rIns="0" bIns="0" rtlCol="0" anchor="t"/>
          <a:lstStyle/>
          <a:p>
            <a:pPr indent="0" marL="0">
              <a:buNone/>
            </a:pPr>
            <a:r>
              <a:rPr lang="en-US" sz="900" dirty="0">
                <a:solidFill>
                  <a:srgbClr val="9AAEC6"/>
                </a:solidFill>
                <a:latin typeface="Calibri" pitchFamily="34" charset="0"/>
                <a:ea typeface="Calibri" pitchFamily="34" charset="-122"/>
                <a:cs typeface="Calibri" pitchFamily="34" charset="-120"/>
              </a:rPr>
              <a:t>4 circular · 3 mule · 3 velocity · 2 structuring</a:t>
            </a:r>
            <a:endParaRPr lang="en-US" sz="900" dirty="0"/>
          </a:p>
        </p:txBody>
      </p:sp>
      <p:sp>
        <p:nvSpPr>
          <p:cNvPr id="93" name="Text 83"/>
          <p:cNvSpPr txBox="1"/>
          <p:nvPr/>
        </p:nvSpPr>
        <p:spPr>
          <a:xfrm>
            <a:off x="8046720" y="5577840"/>
            <a:ext cx="1737360" cy="347472"/>
          </a:xfrm>
          <a:prstGeom prst="rect">
            <a:avLst/>
          </a:prstGeom>
          <a:noFill/>
          <a:ln/>
        </p:spPr>
        <p:txBody>
          <a:bodyPr wrap="square" lIns="0" tIns="0" rIns="0" bIns="0" rtlCol="0" anchor="ctr"/>
          <a:lstStyle/>
          <a:p>
            <a:pPr indent="0" marL="0">
              <a:buNone/>
            </a:pPr>
            <a:r>
              <a:rPr lang="en-US" sz="1700" b="1" dirty="0">
                <a:solidFill>
                  <a:srgbClr val="F5A524"/>
                </a:solidFill>
                <a:latin typeface="Cambria" pitchFamily="34" charset="0"/>
                <a:ea typeface="Cambria" pitchFamily="34" charset="-122"/>
                <a:cs typeface="Cambria" pitchFamily="34" charset="-120"/>
              </a:rPr>
              <a:t>0.32%</a:t>
            </a:r>
            <a:endParaRPr lang="en-US" sz="1700" dirty="0"/>
          </a:p>
        </p:txBody>
      </p:sp>
      <p:sp>
        <p:nvSpPr>
          <p:cNvPr id="94" name="Text 84"/>
          <p:cNvSpPr txBox="1"/>
          <p:nvPr/>
        </p:nvSpPr>
        <p:spPr>
          <a:xfrm>
            <a:off x="8046720" y="5925312"/>
            <a:ext cx="1737360" cy="365760"/>
          </a:xfrm>
          <a:prstGeom prst="rect">
            <a:avLst/>
          </a:prstGeom>
          <a:noFill/>
          <a:ln/>
        </p:spPr>
        <p:txBody>
          <a:bodyPr wrap="square" lIns="0" tIns="0" rIns="0" bIns="0" rtlCol="0" anchor="t"/>
          <a:lstStyle/>
          <a:p>
            <a:pPr indent="0" marL="0">
              <a:buNone/>
            </a:pPr>
            <a:r>
              <a:rPr lang="en-US" sz="900" dirty="0">
                <a:solidFill>
                  <a:srgbClr val="9AAEC6"/>
                </a:solidFill>
                <a:latin typeface="Calibri" pitchFamily="34" charset="0"/>
                <a:ea typeface="Calibri" pitchFamily="34" charset="-122"/>
                <a:cs typeface="Calibri" pitchFamily="34" charset="-120"/>
              </a:rPr>
              <a:t>of transactions are ring money (258)</a:t>
            </a:r>
            <a:endParaRPr lang="en-US" sz="900" dirty="0"/>
          </a:p>
        </p:txBody>
      </p:sp>
      <p:sp>
        <p:nvSpPr>
          <p:cNvPr id="95" name="Text 85"/>
          <p:cNvSpPr txBox="1"/>
          <p:nvPr/>
        </p:nvSpPr>
        <p:spPr>
          <a:xfrm>
            <a:off x="9875520" y="5440680"/>
            <a:ext cx="1691640" cy="868680"/>
          </a:xfrm>
          <a:prstGeom prst="rect">
            <a:avLst/>
          </a:prstGeom>
          <a:noFill/>
          <a:ln/>
        </p:spPr>
        <p:txBody>
          <a:bodyPr wrap="square" lIns="0" tIns="0" rIns="0" bIns="0" rtlCol="0" anchor="t"/>
          <a:lstStyle/>
          <a:p>
            <a:pPr indent="0" marL="0">
              <a:buNone/>
            </a:pPr>
            <a:r>
              <a:rPr lang="en-US" sz="850" b="1" dirty="0">
                <a:solidFill>
                  <a:srgbClr val="FFFFFF"/>
                </a:solidFill>
                <a:latin typeface="Calibri" pitchFamily="34" charset="0"/>
                <a:ea typeface="Calibri" pitchFamily="34" charset="-122"/>
                <a:cs typeface="Calibri" pitchFamily="34" charset="-120"/>
              </a:rPr>
              <a:t>Why synthetic: </a:t>
            </a:r>
            <a:pPr indent="0" marL="0">
              <a:buNone/>
            </a:pPr>
            <a:r>
              <a:rPr lang="en-US" sz="850" dirty="0">
                <a:solidFill>
                  <a:srgbClr val="9AAEC6"/>
                </a:solidFill>
                <a:latin typeface="Calibri" pitchFamily="34" charset="0"/>
                <a:ea typeface="Calibri" pitchFamily="34" charset="-122"/>
                <a:cs typeface="Calibri" pitchFamily="34" charset="-120"/>
              </a:rPr>
              <a:t>rings planted at known positions, so accuracy is measurable. Fixed seed 26192: identical every run. Camouflage: ring accounts also make normal payments.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STAGE 2  ·  ENTITY RESOLUTION</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man, four spellings, three systems</a:t>
            </a:r>
            <a:endParaRPr lang="en-US" sz="3200" dirty="0"/>
          </a:p>
        </p:txBody>
      </p:sp>
      <p:sp>
        <p:nvSpPr>
          <p:cNvPr id="4" name="Text 2"/>
          <p:cNvSpPr txBox="1"/>
          <p:nvPr/>
        </p:nvSpPr>
        <p:spPr>
          <a:xfrm>
            <a:off x="548640" y="1307592"/>
            <a:ext cx="11064240" cy="365760"/>
          </a:xfrm>
          <a:prstGeom prst="rect">
            <a:avLst/>
          </a:prstGeom>
          <a:noFill/>
          <a:ln/>
        </p:spPr>
        <p:txBody>
          <a:bodyPr wrap="square" lIns="0" tIns="0" rIns="0" bIns="0" rtlCol="0" anchor="ctr"/>
          <a:lstStyle/>
          <a:p>
            <a:pPr indent="0" marL="0">
              <a:buNone/>
            </a:pPr>
            <a:r>
              <a:rPr lang="en-US" sz="1500" dirty="0">
                <a:solidFill>
                  <a:srgbClr val="9AAEC6"/>
                </a:solidFill>
                <a:latin typeface="Calibri" pitchFamily="34" charset="0"/>
                <a:ea typeface="Calibri" pitchFamily="34" charset="-122"/>
                <a:cs typeface="Calibri" pitchFamily="34" charset="-120"/>
              </a:rPr>
              <a:t>A real example from our data. A laundering circle stays invisible until the dots are the right dots.</a:t>
            </a:r>
            <a:endParaRPr lang="en-US" sz="1500" dirty="0"/>
          </a:p>
        </p:txBody>
      </p:sp>
      <p:sp>
        <p:nvSpPr>
          <p:cNvPr id="5" name="Text 3"/>
          <p:cNvSpPr txBox="1"/>
          <p:nvPr/>
        </p:nvSpPr>
        <p:spPr>
          <a:xfrm>
            <a:off x="548640" y="6446520"/>
            <a:ext cx="2743200" cy="228600"/>
          </a:xfrm>
          <a:prstGeom prst="rect">
            <a:avLst/>
          </a:prstGeom>
          <a:noFill/>
          <a:ln/>
        </p:spPr>
        <p:txBody>
          <a:bodyPr wrap="square" lIns="0" tIns="0" rIns="0" bIns="0" rtlCol="0" anchor="ctr"/>
          <a:lstStyle/>
          <a:p>
            <a:pPr indent="0" marL="0">
              <a:buNone/>
            </a:pPr>
            <a:r>
              <a:rPr lang="en-US" sz="900" spc="400" kern="0" dirty="0">
                <a:solidFill>
                  <a:srgbClr val="5E7390"/>
                </a:solidFill>
                <a:latin typeface="Calibri" pitchFamily="34" charset="0"/>
                <a:ea typeface="Calibri" pitchFamily="34" charset="-122"/>
                <a:cs typeface="Calibri" pitchFamily="34" charset="-120"/>
              </a:rPr>
              <a:t>CHAKRAVYUH</a:t>
            </a:r>
            <a:endParaRPr lang="en-US" sz="900" dirty="0"/>
          </a:p>
        </p:txBody>
      </p:sp>
      <p:sp>
        <p:nvSpPr>
          <p:cNvPr id="6" name="Text 4"/>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00" dirty="0">
                <a:solidFill>
                  <a:srgbClr val="5E7390"/>
                </a:solidFill>
                <a:latin typeface="Calibri" pitchFamily="34" charset="0"/>
                <a:ea typeface="Calibri" pitchFamily="34" charset="-122"/>
                <a:cs typeface="Calibri" pitchFamily="34" charset="-120"/>
              </a:rPr>
              <a:t>04</a:t>
            </a:r>
            <a:endParaRPr lang="en-US" sz="900" dirty="0"/>
          </a:p>
        </p:txBody>
      </p:sp>
      <p:sp>
        <p:nvSpPr>
          <p:cNvPr id="7" name="Shape 5"/>
          <p:cNvSpPr/>
          <p:nvPr/>
        </p:nvSpPr>
        <p:spPr>
          <a:xfrm>
            <a:off x="548640" y="1920240"/>
            <a:ext cx="3566160" cy="640080"/>
          </a:xfrm>
          <a:prstGeom prst="roundRect">
            <a:avLst>
              <a:gd name="adj" fmla="val 14286"/>
            </a:avLst>
          </a:prstGeom>
          <a:solidFill>
            <a:srgbClr val="0E1829"/>
          </a:solidFill>
          <a:ln w="9525">
            <a:solidFill>
              <a:srgbClr val="1F3352"/>
            </a:solidFill>
            <a:prstDash val="solid"/>
          </a:ln>
        </p:spPr>
      </p:sp>
      <p:sp>
        <p:nvSpPr>
          <p:cNvPr id="8" name="Text 6"/>
          <p:cNvSpPr txBox="1"/>
          <p:nvPr/>
        </p:nvSpPr>
        <p:spPr>
          <a:xfrm>
            <a:off x="731520" y="1993392"/>
            <a:ext cx="3291840" cy="201168"/>
          </a:xfrm>
          <a:prstGeom prst="rect">
            <a:avLst/>
          </a:prstGeom>
          <a:noFill/>
          <a:ln/>
        </p:spPr>
        <p:txBody>
          <a:bodyPr wrap="square" lIns="0" tIns="0" rIns="0" bIns="0" rtlCol="0" anchor="t"/>
          <a:lstStyle/>
          <a:p>
            <a:pPr indent="0" marL="0">
              <a:buNone/>
            </a:pPr>
            <a:r>
              <a:rPr lang="en-US" sz="900" b="1" spc="200" kern="0" dirty="0">
                <a:solidFill>
                  <a:srgbClr val="5E7390"/>
                </a:solidFill>
                <a:latin typeface="Calibri" pitchFamily="34" charset="0"/>
                <a:ea typeface="Calibri" pitchFamily="34" charset="-122"/>
                <a:cs typeface="Calibri" pitchFamily="34" charset="-120"/>
              </a:rPr>
              <a:t>RETAIL_CBS</a:t>
            </a:r>
            <a:endParaRPr lang="en-US" sz="900" dirty="0"/>
          </a:p>
        </p:txBody>
      </p:sp>
      <p:sp>
        <p:nvSpPr>
          <p:cNvPr id="9" name="Text 7"/>
          <p:cNvSpPr txBox="1"/>
          <p:nvPr/>
        </p:nvSpPr>
        <p:spPr>
          <a:xfrm>
            <a:off x="731520" y="2176272"/>
            <a:ext cx="17373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Balaji Malhotra &amp; Sons</a:t>
            </a:r>
            <a:endParaRPr lang="en-US" sz="1350" dirty="0"/>
          </a:p>
        </p:txBody>
      </p:sp>
      <p:sp>
        <p:nvSpPr>
          <p:cNvPr id="10" name="Text 8"/>
          <p:cNvSpPr txBox="1"/>
          <p:nvPr/>
        </p:nvSpPr>
        <p:spPr>
          <a:xfrm>
            <a:off x="2377440" y="2176272"/>
            <a:ext cx="1645920" cy="320040"/>
          </a:xfrm>
          <a:prstGeom prst="rect">
            <a:avLst/>
          </a:prstGeom>
          <a:noFill/>
          <a:ln/>
        </p:spPr>
        <p:txBody>
          <a:bodyPr wrap="square" lIns="0" tIns="0" rIns="0" bIns="0" rtlCol="0" anchor="ctr"/>
          <a:lstStyle/>
          <a:p>
            <a:pPr algn="r" indent="0" marL="0">
              <a:buNone/>
            </a:pPr>
            <a:r>
              <a:rPr lang="en-US" sz="1000" dirty="0">
                <a:solidFill>
                  <a:srgbClr val="9AAEC6"/>
                </a:solidFill>
                <a:latin typeface="Calibri" pitchFamily="34" charset="0"/>
                <a:ea typeface="Calibri" pitchFamily="34" charset="-122"/>
                <a:cs typeface="Calibri" pitchFamily="34" charset="-120"/>
              </a:rPr>
              <a:t>PAN AUTOB••••K  ·  address</a:t>
            </a:r>
            <a:endParaRPr lang="en-US" sz="1000" dirty="0"/>
          </a:p>
        </p:txBody>
      </p:sp>
      <p:sp>
        <p:nvSpPr>
          <p:cNvPr id="11" name="Shape 9"/>
          <p:cNvSpPr/>
          <p:nvPr/>
        </p:nvSpPr>
        <p:spPr>
          <a:xfrm>
            <a:off x="4114800" y="2240280"/>
            <a:ext cx="91440" cy="0"/>
          </a:xfrm>
          <a:prstGeom prst="line">
            <a:avLst/>
          </a:prstGeom>
          <a:noFill/>
          <a:ln w="12700">
            <a:solidFill>
              <a:srgbClr val="5E7390"/>
            </a:solidFill>
            <a:prstDash val="solid"/>
          </a:ln>
        </p:spPr>
      </p:sp>
      <p:sp>
        <p:nvSpPr>
          <p:cNvPr id="12" name="Shape 10"/>
          <p:cNvSpPr/>
          <p:nvPr/>
        </p:nvSpPr>
        <p:spPr>
          <a:xfrm>
            <a:off x="548640" y="2679192"/>
            <a:ext cx="3566160" cy="640080"/>
          </a:xfrm>
          <a:prstGeom prst="roundRect">
            <a:avLst>
              <a:gd name="adj" fmla="val 14286"/>
            </a:avLst>
          </a:prstGeom>
          <a:solidFill>
            <a:srgbClr val="0E1829"/>
          </a:solidFill>
          <a:ln w="9525">
            <a:solidFill>
              <a:srgbClr val="1F3352"/>
            </a:solidFill>
            <a:prstDash val="solid"/>
          </a:ln>
        </p:spPr>
      </p:sp>
      <p:sp>
        <p:nvSpPr>
          <p:cNvPr id="13" name="Text 11"/>
          <p:cNvSpPr txBox="1"/>
          <p:nvPr/>
        </p:nvSpPr>
        <p:spPr>
          <a:xfrm>
            <a:off x="731520" y="2752344"/>
            <a:ext cx="3291840" cy="201168"/>
          </a:xfrm>
          <a:prstGeom prst="rect">
            <a:avLst/>
          </a:prstGeom>
          <a:noFill/>
          <a:ln/>
        </p:spPr>
        <p:txBody>
          <a:bodyPr wrap="square" lIns="0" tIns="0" rIns="0" bIns="0" rtlCol="0" anchor="t"/>
          <a:lstStyle/>
          <a:p>
            <a:pPr indent="0" marL="0">
              <a:buNone/>
            </a:pPr>
            <a:r>
              <a:rPr lang="en-US" sz="900" b="1" spc="200" kern="0" dirty="0">
                <a:solidFill>
                  <a:srgbClr val="5E7390"/>
                </a:solidFill>
                <a:latin typeface="Calibri" pitchFamily="34" charset="0"/>
                <a:ea typeface="Calibri" pitchFamily="34" charset="-122"/>
                <a:cs typeface="Calibri" pitchFamily="34" charset="-120"/>
              </a:rPr>
              <a:t>CORPORATE_BANKING</a:t>
            </a:r>
            <a:endParaRPr lang="en-US" sz="900" dirty="0"/>
          </a:p>
        </p:txBody>
      </p:sp>
      <p:sp>
        <p:nvSpPr>
          <p:cNvPr id="14" name="Text 12"/>
          <p:cNvSpPr txBox="1"/>
          <p:nvPr/>
        </p:nvSpPr>
        <p:spPr>
          <a:xfrm>
            <a:off x="731520" y="2935224"/>
            <a:ext cx="17373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Malhotra Balaji</a:t>
            </a:r>
            <a:endParaRPr lang="en-US" sz="1350" dirty="0"/>
          </a:p>
        </p:txBody>
      </p:sp>
      <p:sp>
        <p:nvSpPr>
          <p:cNvPr id="15" name="Text 13"/>
          <p:cNvSpPr txBox="1"/>
          <p:nvPr/>
        </p:nvSpPr>
        <p:spPr>
          <a:xfrm>
            <a:off x="2377440" y="2935224"/>
            <a:ext cx="1645920" cy="320040"/>
          </a:xfrm>
          <a:prstGeom prst="rect">
            <a:avLst/>
          </a:prstGeom>
          <a:noFill/>
          <a:ln/>
        </p:spPr>
        <p:txBody>
          <a:bodyPr wrap="square" lIns="0" tIns="0" rIns="0" bIns="0" rtlCol="0" anchor="ctr"/>
          <a:lstStyle/>
          <a:p>
            <a:pPr algn="r" indent="0" marL="0">
              <a:buNone/>
            </a:pPr>
            <a:r>
              <a:rPr lang="en-US" sz="1000" dirty="0">
                <a:solidFill>
                  <a:srgbClr val="9AAEC6"/>
                </a:solidFill>
                <a:latin typeface="Calibri" pitchFamily="34" charset="0"/>
                <a:ea typeface="Calibri" pitchFamily="34" charset="-122"/>
                <a:cs typeface="Calibri" pitchFamily="34" charset="-120"/>
              </a:rPr>
              <a:t>phone  ·  address</a:t>
            </a:r>
            <a:endParaRPr lang="en-US" sz="1000" dirty="0"/>
          </a:p>
        </p:txBody>
      </p:sp>
      <p:sp>
        <p:nvSpPr>
          <p:cNvPr id="16" name="Shape 14"/>
          <p:cNvSpPr/>
          <p:nvPr/>
        </p:nvSpPr>
        <p:spPr>
          <a:xfrm>
            <a:off x="4114800" y="2999232"/>
            <a:ext cx="91440" cy="0"/>
          </a:xfrm>
          <a:prstGeom prst="line">
            <a:avLst/>
          </a:prstGeom>
          <a:noFill/>
          <a:ln w="12700">
            <a:solidFill>
              <a:srgbClr val="5E7390"/>
            </a:solidFill>
            <a:prstDash val="solid"/>
          </a:ln>
        </p:spPr>
      </p:sp>
      <p:sp>
        <p:nvSpPr>
          <p:cNvPr id="17" name="Shape 15"/>
          <p:cNvSpPr/>
          <p:nvPr/>
        </p:nvSpPr>
        <p:spPr>
          <a:xfrm>
            <a:off x="548640" y="3438144"/>
            <a:ext cx="3566160" cy="640080"/>
          </a:xfrm>
          <a:prstGeom prst="roundRect">
            <a:avLst>
              <a:gd name="adj" fmla="val 14286"/>
            </a:avLst>
          </a:prstGeom>
          <a:solidFill>
            <a:srgbClr val="0E1829"/>
          </a:solidFill>
          <a:ln w="9525">
            <a:solidFill>
              <a:srgbClr val="5A4420"/>
            </a:solidFill>
            <a:prstDash val="solid"/>
          </a:ln>
        </p:spPr>
      </p:sp>
      <p:sp>
        <p:nvSpPr>
          <p:cNvPr id="18" name="Text 16"/>
          <p:cNvSpPr txBox="1"/>
          <p:nvPr/>
        </p:nvSpPr>
        <p:spPr>
          <a:xfrm>
            <a:off x="731520" y="3511296"/>
            <a:ext cx="3291840" cy="201168"/>
          </a:xfrm>
          <a:prstGeom prst="rect">
            <a:avLst/>
          </a:prstGeom>
          <a:noFill/>
          <a:ln/>
        </p:spPr>
        <p:txBody>
          <a:bodyPr wrap="square" lIns="0" tIns="0" rIns="0" bIns="0" rtlCol="0" anchor="t"/>
          <a:lstStyle/>
          <a:p>
            <a:pPr indent="0" marL="0">
              <a:buNone/>
            </a:pPr>
            <a:r>
              <a:rPr lang="en-US" sz="900" b="1" spc="200" kern="0" dirty="0">
                <a:solidFill>
                  <a:srgbClr val="F5A524"/>
                </a:solidFill>
                <a:latin typeface="Calibri" pitchFamily="34" charset="0"/>
                <a:ea typeface="Calibri" pitchFamily="34" charset="-122"/>
                <a:cs typeface="Calibri" pitchFamily="34" charset="-120"/>
              </a:rPr>
              <a:t>WATCHLIST</a:t>
            </a:r>
            <a:endParaRPr lang="en-US" sz="900" dirty="0"/>
          </a:p>
        </p:txBody>
      </p:sp>
      <p:sp>
        <p:nvSpPr>
          <p:cNvPr id="19" name="Text 17"/>
          <p:cNvSpPr txBox="1"/>
          <p:nvPr/>
        </p:nvSpPr>
        <p:spPr>
          <a:xfrm>
            <a:off x="731520" y="3694176"/>
            <a:ext cx="17373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Balaji Malhorta</a:t>
            </a:r>
            <a:endParaRPr lang="en-US" sz="1350" dirty="0"/>
          </a:p>
        </p:txBody>
      </p:sp>
      <p:sp>
        <p:nvSpPr>
          <p:cNvPr id="20" name="Text 18"/>
          <p:cNvSpPr txBox="1"/>
          <p:nvPr/>
        </p:nvSpPr>
        <p:spPr>
          <a:xfrm>
            <a:off x="2377440" y="3694176"/>
            <a:ext cx="1645920" cy="320040"/>
          </a:xfrm>
          <a:prstGeom prst="rect">
            <a:avLst/>
          </a:prstGeom>
          <a:noFill/>
          <a:ln/>
        </p:spPr>
        <p:txBody>
          <a:bodyPr wrap="square" lIns="0" tIns="0" rIns="0" bIns="0" rtlCol="0" anchor="ctr"/>
          <a:lstStyle/>
          <a:p>
            <a:pPr algn="r" indent="0" marL="0">
              <a:buNone/>
            </a:pPr>
            <a:r>
              <a:rPr lang="en-US" sz="1000" dirty="0">
                <a:solidFill>
                  <a:srgbClr val="9AAEC6"/>
                </a:solidFill>
                <a:latin typeface="Calibri" pitchFamily="34" charset="0"/>
                <a:ea typeface="Calibri" pitchFamily="34" charset="-122"/>
                <a:cs typeface="Calibri" pitchFamily="34" charset="-120"/>
              </a:rPr>
              <a:t>address only</a:t>
            </a:r>
            <a:endParaRPr lang="en-US" sz="1000" dirty="0"/>
          </a:p>
        </p:txBody>
      </p:sp>
      <p:sp>
        <p:nvSpPr>
          <p:cNvPr id="21" name="Shape 19"/>
          <p:cNvSpPr/>
          <p:nvPr/>
        </p:nvSpPr>
        <p:spPr>
          <a:xfrm>
            <a:off x="4114800" y="3758184"/>
            <a:ext cx="91440" cy="0"/>
          </a:xfrm>
          <a:prstGeom prst="line">
            <a:avLst/>
          </a:prstGeom>
          <a:noFill/>
          <a:ln w="12700">
            <a:solidFill>
              <a:srgbClr val="5E7390"/>
            </a:solidFill>
            <a:prstDash val="solid"/>
          </a:ln>
        </p:spPr>
      </p:sp>
      <p:sp>
        <p:nvSpPr>
          <p:cNvPr id="22" name="Shape 20"/>
          <p:cNvSpPr/>
          <p:nvPr/>
        </p:nvSpPr>
        <p:spPr>
          <a:xfrm>
            <a:off x="548640" y="4197096"/>
            <a:ext cx="3566160" cy="640080"/>
          </a:xfrm>
          <a:prstGeom prst="roundRect">
            <a:avLst>
              <a:gd name="adj" fmla="val 14286"/>
            </a:avLst>
          </a:prstGeom>
          <a:solidFill>
            <a:srgbClr val="0E1829"/>
          </a:solidFill>
          <a:ln w="9525">
            <a:solidFill>
              <a:srgbClr val="1F3352"/>
            </a:solidFill>
            <a:prstDash val="solid"/>
          </a:ln>
        </p:spPr>
      </p:sp>
      <p:sp>
        <p:nvSpPr>
          <p:cNvPr id="23" name="Text 21"/>
          <p:cNvSpPr txBox="1"/>
          <p:nvPr/>
        </p:nvSpPr>
        <p:spPr>
          <a:xfrm>
            <a:off x="731520" y="4270248"/>
            <a:ext cx="3291840" cy="201168"/>
          </a:xfrm>
          <a:prstGeom prst="rect">
            <a:avLst/>
          </a:prstGeom>
          <a:noFill/>
          <a:ln/>
        </p:spPr>
        <p:txBody>
          <a:bodyPr wrap="square" lIns="0" tIns="0" rIns="0" bIns="0" rtlCol="0" anchor="t"/>
          <a:lstStyle/>
          <a:p>
            <a:pPr indent="0" marL="0">
              <a:buNone/>
            </a:pPr>
            <a:r>
              <a:rPr lang="en-US" sz="900" b="1" spc="200" kern="0" dirty="0">
                <a:solidFill>
                  <a:srgbClr val="5E7390"/>
                </a:solidFill>
                <a:latin typeface="Calibri" pitchFamily="34" charset="0"/>
                <a:ea typeface="Calibri" pitchFamily="34" charset="-122"/>
                <a:cs typeface="Calibri" pitchFamily="34" charset="-120"/>
              </a:rPr>
              <a:t>RETAIL_CBS</a:t>
            </a:r>
            <a:endParaRPr lang="en-US" sz="900" dirty="0"/>
          </a:p>
        </p:txBody>
      </p:sp>
      <p:sp>
        <p:nvSpPr>
          <p:cNvPr id="24" name="Text 22"/>
          <p:cNvSpPr txBox="1"/>
          <p:nvPr/>
        </p:nvSpPr>
        <p:spPr>
          <a:xfrm>
            <a:off x="731520" y="4453128"/>
            <a:ext cx="17373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BALAJI MALHOTRA</a:t>
            </a:r>
            <a:endParaRPr lang="en-US" sz="1350" dirty="0"/>
          </a:p>
        </p:txBody>
      </p:sp>
      <p:sp>
        <p:nvSpPr>
          <p:cNvPr id="25" name="Text 23"/>
          <p:cNvSpPr txBox="1"/>
          <p:nvPr/>
        </p:nvSpPr>
        <p:spPr>
          <a:xfrm>
            <a:off x="2377440" y="4453128"/>
            <a:ext cx="1645920" cy="320040"/>
          </a:xfrm>
          <a:prstGeom prst="rect">
            <a:avLst/>
          </a:prstGeom>
          <a:noFill/>
          <a:ln/>
        </p:spPr>
        <p:txBody>
          <a:bodyPr wrap="square" lIns="0" tIns="0" rIns="0" bIns="0" rtlCol="0" anchor="ctr"/>
          <a:lstStyle/>
          <a:p>
            <a:pPr algn="r" indent="0" marL="0">
              <a:buNone/>
            </a:pPr>
            <a:r>
              <a:rPr lang="en-US" sz="1000" dirty="0">
                <a:solidFill>
                  <a:srgbClr val="9AAEC6"/>
                </a:solidFill>
                <a:latin typeface="Calibri" pitchFamily="34" charset="0"/>
                <a:ea typeface="Calibri" pitchFamily="34" charset="-122"/>
                <a:cs typeface="Calibri" pitchFamily="34" charset="-120"/>
              </a:rPr>
              <a:t>PAN AUTOB••••K  ·  phone</a:t>
            </a:r>
            <a:endParaRPr lang="en-US" sz="1000" dirty="0"/>
          </a:p>
        </p:txBody>
      </p:sp>
      <p:sp>
        <p:nvSpPr>
          <p:cNvPr id="26" name="Shape 24"/>
          <p:cNvSpPr/>
          <p:nvPr/>
        </p:nvSpPr>
        <p:spPr>
          <a:xfrm>
            <a:off x="4114800" y="4517136"/>
            <a:ext cx="91440" cy="0"/>
          </a:xfrm>
          <a:prstGeom prst="line">
            <a:avLst/>
          </a:prstGeom>
          <a:noFill/>
          <a:ln w="12700">
            <a:solidFill>
              <a:srgbClr val="5E7390"/>
            </a:solidFill>
            <a:prstDash val="solid"/>
          </a:ln>
        </p:spPr>
      </p:sp>
      <p:sp>
        <p:nvSpPr>
          <p:cNvPr id="27" name="Shape 25"/>
          <p:cNvSpPr/>
          <p:nvPr/>
        </p:nvSpPr>
        <p:spPr>
          <a:xfrm>
            <a:off x="4206240" y="2240280"/>
            <a:ext cx="0" cy="2276856"/>
          </a:xfrm>
          <a:prstGeom prst="line">
            <a:avLst/>
          </a:prstGeom>
          <a:noFill/>
          <a:ln w="12700">
            <a:solidFill>
              <a:srgbClr val="5E7390"/>
            </a:solidFill>
            <a:prstDash val="solid"/>
          </a:ln>
        </p:spPr>
      </p:sp>
      <p:sp>
        <p:nvSpPr>
          <p:cNvPr id="28" name="Shape 26"/>
          <p:cNvSpPr/>
          <p:nvPr/>
        </p:nvSpPr>
        <p:spPr>
          <a:xfrm>
            <a:off x="4206240" y="3383280"/>
            <a:ext cx="411480" cy="0"/>
          </a:xfrm>
          <a:prstGeom prst="line">
            <a:avLst/>
          </a:prstGeom>
          <a:noFill/>
          <a:ln w="22225">
            <a:solidFill>
              <a:srgbClr val="22D3EE"/>
            </a:solidFill>
            <a:prstDash val="solid"/>
            <a:tailEnd type="triangle"/>
          </a:ln>
        </p:spPr>
      </p:sp>
      <p:sp>
        <p:nvSpPr>
          <p:cNvPr id="29" name="Shape 27"/>
          <p:cNvSpPr/>
          <p:nvPr/>
        </p:nvSpPr>
        <p:spPr>
          <a:xfrm>
            <a:off x="4709160" y="2240280"/>
            <a:ext cx="2743200" cy="2286000"/>
          </a:xfrm>
          <a:prstGeom prst="roundRect">
            <a:avLst>
              <a:gd name="adj" fmla="val 4000"/>
            </a:avLst>
          </a:prstGeom>
          <a:solidFill>
            <a:srgbClr val="082330"/>
          </a:solidFill>
          <a:ln w="15875">
            <a:solidFill>
              <a:srgbClr val="22D3EE"/>
            </a:solidFill>
            <a:prstDash val="solid"/>
          </a:ln>
        </p:spPr>
      </p:sp>
      <p:sp>
        <p:nvSpPr>
          <p:cNvPr id="30" name="Shape 28"/>
          <p:cNvSpPr/>
          <p:nvPr/>
        </p:nvSpPr>
        <p:spPr>
          <a:xfrm>
            <a:off x="4937760" y="2423160"/>
            <a:ext cx="502920" cy="502920"/>
          </a:xfrm>
          <a:prstGeom prst="ellipse">
            <a:avLst/>
          </a:prstGeom>
          <a:solidFill>
            <a:srgbClr val="071A24"/>
          </a:solidFill>
          <a:ln w="15875">
            <a:solidFill>
              <a:srgbClr val="22D3EE"/>
            </a:solidFill>
            <a:prstDash val="solid"/>
          </a:ln>
        </p:spPr>
      </p:sp>
      <p:pic>
        <p:nvPicPr>
          <p:cNvPr id="31" name="Image 0" descr="preencoded.png">    </p:cNvPr>
          <p:cNvPicPr>
            <a:picLocks noChangeAspect="1"/>
          </p:cNvPicPr>
          <p:nvPr/>
        </p:nvPicPr>
        <p:blipFill>
          <a:blip r:embed="rId2"/>
          <a:stretch>
            <a:fillRect/>
          </a:stretch>
        </p:blipFill>
        <p:spPr>
          <a:xfrm>
            <a:off x="5063490" y="2548890"/>
            <a:ext cx="251460" cy="251460"/>
          </a:xfrm>
          <a:prstGeom prst="rect">
            <a:avLst/>
          </a:prstGeom>
        </p:spPr>
      </p:pic>
      <p:sp>
        <p:nvSpPr>
          <p:cNvPr id="32" name="Text 29"/>
          <p:cNvSpPr txBox="1"/>
          <p:nvPr/>
        </p:nvSpPr>
        <p:spPr>
          <a:xfrm>
            <a:off x="5577840" y="2468880"/>
            <a:ext cx="1737360" cy="228600"/>
          </a:xfrm>
          <a:prstGeom prst="rect">
            <a:avLst/>
          </a:prstGeom>
          <a:noFill/>
          <a:ln/>
        </p:spPr>
        <p:txBody>
          <a:bodyPr wrap="square" lIns="0" tIns="0" rIns="0" bIns="0" rtlCol="0" anchor="t"/>
          <a:lstStyle/>
          <a:p>
            <a:pPr indent="0" marL="0">
              <a:buNone/>
            </a:pPr>
            <a:r>
              <a:rPr lang="en-US" sz="950" b="1" spc="200" kern="0" dirty="0">
                <a:solidFill>
                  <a:srgbClr val="22D3EE"/>
                </a:solidFill>
                <a:latin typeface="Calibri" pitchFamily="34" charset="0"/>
                <a:ea typeface="Calibri" pitchFamily="34" charset="-122"/>
                <a:cs typeface="Calibri" pitchFamily="34" charset="-120"/>
              </a:rPr>
              <a:t>ONE PERSON</a:t>
            </a:r>
            <a:endParaRPr lang="en-US" sz="950" dirty="0"/>
          </a:p>
        </p:txBody>
      </p:sp>
      <p:sp>
        <p:nvSpPr>
          <p:cNvPr id="33" name="Text 30"/>
          <p:cNvSpPr txBox="1"/>
          <p:nvPr/>
        </p:nvSpPr>
        <p:spPr>
          <a:xfrm>
            <a:off x="5577840" y="2679192"/>
            <a:ext cx="18288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Balaji Malhotra</a:t>
            </a:r>
            <a:endParaRPr lang="en-US" sz="1500" dirty="0"/>
          </a:p>
        </p:txBody>
      </p:sp>
      <p:sp>
        <p:nvSpPr>
          <p:cNvPr id="34" name="Text 31"/>
          <p:cNvSpPr txBox="1"/>
          <p:nvPr/>
        </p:nvSpPr>
        <p:spPr>
          <a:xfrm>
            <a:off x="4937760" y="3127248"/>
            <a:ext cx="2377440" cy="1371600"/>
          </a:xfrm>
          <a:prstGeom prst="rect">
            <a:avLst/>
          </a:prstGeom>
          <a:noFill/>
          <a:ln/>
        </p:spPr>
        <p:txBody>
          <a:bodyPr wrap="square" lIns="0" tIns="0" rIns="0" bIns="0" rtlCol="0" anchor="t"/>
          <a:lstStyle/>
          <a:p>
            <a:pPr indent="0" marL="0">
              <a:buNone/>
            </a:pPr>
            <a:r>
              <a:rPr lang="en-US" sz="1150" dirty="0">
                <a:solidFill>
                  <a:srgbClr val="E8EEF6"/>
                </a:solidFill>
                <a:latin typeface="Calibri" pitchFamily="34" charset="0"/>
                <a:ea typeface="Calibri" pitchFamily="34" charset="-122"/>
                <a:cs typeface="Calibri" pitchFamily="34" charset="-120"/>
              </a:rPr>
              <a:t>4 records · 3 systems · 1 watchlist hit</a:t>
            </a:r>
            <a:endParaRPr lang="en-US" sz="1150" dirty="0"/>
          </a:p>
          <a:p>
            <a:pPr indent="0" marL="0">
              <a:buNone/>
            </a:pPr>
            <a:r>
              <a:rPr lang="en-US" sz="600" dirty="0">
                <a:solidFill>
                  <a:srgbClr val="9AAEC6"/>
                </a:solidFill>
                <a:latin typeface="Calibri" pitchFamily="34" charset="0"/>
                <a:ea typeface="Calibri" pitchFamily="34" charset="-122"/>
                <a:cs typeface="Calibri" pitchFamily="34" charset="-120"/>
              </a:rPr>
              <a:t> </a:t>
            </a:r>
            <a:endParaRPr lang="en-US" sz="1150" dirty="0"/>
          </a:p>
          <a:p>
            <a:pPr indent="0" marL="0">
              <a:buNone/>
            </a:pPr>
            <a:r>
              <a:rPr lang="en-US" sz="1050" dirty="0">
                <a:solidFill>
                  <a:srgbClr val="5E7390"/>
                </a:solidFill>
                <a:latin typeface="Calibri" pitchFamily="34" charset="0"/>
                <a:ea typeface="Calibri" pitchFamily="34" charset="-122"/>
                <a:cs typeface="Calibri" pitchFamily="34" charset="-120"/>
              </a:rPr>
              <a:t>Linked by</a:t>
            </a:r>
            <a:endParaRPr lang="en-US" sz="1150" dirty="0"/>
          </a:p>
          <a:p>
            <a:pPr marL="342900" indent="-342900">
              <a:buSzPct val="100000"/>
              <a:buChar char="•"/>
            </a:pPr>
            <a:r>
              <a:rPr lang="en-US" sz="1150" dirty="0">
                <a:solidFill>
                  <a:srgbClr val="9AAEC6"/>
                </a:solidFill>
                <a:latin typeface="Calibri" pitchFamily="34" charset="0"/>
                <a:ea typeface="Calibri" pitchFamily="34" charset="-122"/>
                <a:cs typeface="Calibri" pitchFamily="34" charset="-120"/>
              </a:rPr>
              <a:t>R1  same PAN</a:t>
            </a:r>
            <a:endParaRPr lang="en-US" sz="1150" dirty="0"/>
          </a:p>
          <a:p>
            <a:pPr marL="342900" indent="-342900">
              <a:buSzPct val="100000"/>
              <a:buChar char="•"/>
            </a:pPr>
            <a:r>
              <a:rPr lang="en-US" sz="1150" dirty="0">
                <a:solidFill>
                  <a:srgbClr val="9AAEC6"/>
                </a:solidFill>
                <a:latin typeface="Calibri" pitchFamily="34" charset="0"/>
                <a:ea typeface="Calibri" pitchFamily="34" charset="-122"/>
                <a:cs typeface="Calibri" pitchFamily="34" charset="-120"/>
              </a:rPr>
              <a:t>R3  same address + similar name</a:t>
            </a:r>
            <a:endParaRPr lang="en-US" sz="1150" dirty="0"/>
          </a:p>
          <a:p>
            <a:pPr marL="342900" indent="-342900">
              <a:buSzPct val="100000"/>
              <a:buChar char="•"/>
            </a:pPr>
            <a:r>
              <a:rPr lang="en-US" sz="1150" dirty="0">
                <a:solidFill>
                  <a:srgbClr val="9AAEC6"/>
                </a:solidFill>
                <a:latin typeface="Calibri" pitchFamily="34" charset="0"/>
                <a:ea typeface="Calibri" pitchFamily="34" charset="-122"/>
                <a:cs typeface="Calibri" pitchFamily="34" charset="-120"/>
              </a:rPr>
              <a:t>R6  reversed name order</a:t>
            </a:r>
            <a:endParaRPr lang="en-US" sz="1150" dirty="0"/>
          </a:p>
        </p:txBody>
      </p:sp>
      <p:sp>
        <p:nvSpPr>
          <p:cNvPr id="35" name="Shape 32"/>
          <p:cNvSpPr/>
          <p:nvPr/>
        </p:nvSpPr>
        <p:spPr>
          <a:xfrm>
            <a:off x="7818120" y="1783080"/>
            <a:ext cx="3840480" cy="822960"/>
          </a:xfrm>
          <a:prstGeom prst="roundRect">
            <a:avLst>
              <a:gd name="adj" fmla="val 11111"/>
            </a:avLst>
          </a:prstGeom>
          <a:solidFill>
            <a:srgbClr val="0E1829"/>
          </a:solidFill>
          <a:ln w="9525">
            <a:solidFill>
              <a:srgbClr val="1F3352"/>
            </a:solidFill>
            <a:prstDash val="solid"/>
          </a:ln>
        </p:spPr>
      </p:sp>
      <p:sp>
        <p:nvSpPr>
          <p:cNvPr id="36" name="Shape 33"/>
          <p:cNvSpPr/>
          <p:nvPr/>
        </p:nvSpPr>
        <p:spPr>
          <a:xfrm>
            <a:off x="8001000" y="1938528"/>
            <a:ext cx="164592" cy="164592"/>
          </a:xfrm>
          <a:prstGeom prst="ellipse">
            <a:avLst/>
          </a:prstGeom>
          <a:solidFill>
            <a:srgbClr val="34D399"/>
          </a:solidFill>
          <a:ln w="12700">
            <a:solidFill>
              <a:srgbClr val="34D399"/>
            </a:solidFill>
            <a:prstDash val="solid"/>
          </a:ln>
        </p:spPr>
      </p:sp>
      <p:sp>
        <p:nvSpPr>
          <p:cNvPr id="37" name="Text 34"/>
          <p:cNvSpPr txBox="1"/>
          <p:nvPr/>
        </p:nvSpPr>
        <p:spPr>
          <a:xfrm>
            <a:off x="8275320" y="1874520"/>
            <a:ext cx="3200400" cy="274320"/>
          </a:xfrm>
          <a:prstGeom prst="rect">
            <a:avLst/>
          </a:prstGeom>
          <a:noFill/>
          <a:ln/>
        </p:spPr>
        <p:txBody>
          <a:bodyPr wrap="square" lIns="0" tIns="0" rIns="0" bIns="0" rtlCol="0" anchor="ctr"/>
          <a:lstStyle/>
          <a:p>
            <a:pPr indent="0" marL="0">
              <a:buNone/>
            </a:pPr>
            <a:r>
              <a:rPr lang="en-US" sz="1200" b="1" dirty="0">
                <a:solidFill>
                  <a:srgbClr val="34D399"/>
                </a:solidFill>
                <a:latin typeface="Calibri" pitchFamily="34" charset="0"/>
                <a:ea typeface="Calibri" pitchFamily="34" charset="-122"/>
                <a:cs typeface="Calibri" pitchFamily="34" charset="-120"/>
              </a:rPr>
              <a:t>GREEN  </a:t>
            </a:r>
            <a:pPr indent="0" marL="0">
              <a:buNone/>
            </a:pPr>
            <a:r>
              <a:rPr lang="en-US" sz="1200" b="1" dirty="0">
                <a:solidFill>
                  <a:srgbClr val="FFFFFF"/>
                </a:solidFill>
                <a:latin typeface="Calibri" pitchFamily="34" charset="0"/>
                <a:ea typeface="Calibri" pitchFamily="34" charset="-122"/>
                <a:cs typeface="Calibri" pitchFamily="34" charset="-120"/>
              </a:rPr>
              <a:t>Confirmed</a:t>
            </a:r>
            <a:endParaRPr lang="en-US" sz="1200" dirty="0"/>
          </a:p>
        </p:txBody>
      </p:sp>
      <p:sp>
        <p:nvSpPr>
          <p:cNvPr id="38" name="Text 35"/>
          <p:cNvSpPr txBox="1"/>
          <p:nvPr/>
        </p:nvSpPr>
        <p:spPr>
          <a:xfrm>
            <a:off x="8275320" y="2148840"/>
            <a:ext cx="3246120" cy="43891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Hard evidence: same PAN, or phone + address. Merged.</a:t>
            </a:r>
            <a:endParaRPr lang="en-US" sz="1050" dirty="0"/>
          </a:p>
        </p:txBody>
      </p:sp>
      <p:sp>
        <p:nvSpPr>
          <p:cNvPr id="39" name="Shape 36"/>
          <p:cNvSpPr/>
          <p:nvPr/>
        </p:nvSpPr>
        <p:spPr>
          <a:xfrm>
            <a:off x="7818120" y="2715768"/>
            <a:ext cx="3840480" cy="822960"/>
          </a:xfrm>
          <a:prstGeom prst="roundRect">
            <a:avLst>
              <a:gd name="adj" fmla="val 11111"/>
            </a:avLst>
          </a:prstGeom>
          <a:solidFill>
            <a:srgbClr val="0E1829"/>
          </a:solidFill>
          <a:ln w="9525">
            <a:solidFill>
              <a:srgbClr val="1F3352"/>
            </a:solidFill>
            <a:prstDash val="solid"/>
          </a:ln>
        </p:spPr>
      </p:sp>
      <p:sp>
        <p:nvSpPr>
          <p:cNvPr id="40" name="Shape 37"/>
          <p:cNvSpPr/>
          <p:nvPr/>
        </p:nvSpPr>
        <p:spPr>
          <a:xfrm>
            <a:off x="8001000" y="2871216"/>
            <a:ext cx="164592" cy="164592"/>
          </a:xfrm>
          <a:prstGeom prst="ellipse">
            <a:avLst/>
          </a:prstGeom>
          <a:solidFill>
            <a:srgbClr val="F5A524"/>
          </a:solidFill>
          <a:ln w="12700">
            <a:solidFill>
              <a:srgbClr val="F5A524"/>
            </a:solidFill>
            <a:prstDash val="solid"/>
          </a:ln>
        </p:spPr>
      </p:sp>
      <p:sp>
        <p:nvSpPr>
          <p:cNvPr id="41" name="Text 38"/>
          <p:cNvSpPr txBox="1"/>
          <p:nvPr/>
        </p:nvSpPr>
        <p:spPr>
          <a:xfrm>
            <a:off x="8275320" y="2807208"/>
            <a:ext cx="3200400" cy="274320"/>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YELLOW  </a:t>
            </a:r>
            <a:pPr indent="0" marL="0">
              <a:buNone/>
            </a:pPr>
            <a:r>
              <a:rPr lang="en-US" sz="1200" b="1" dirty="0">
                <a:solidFill>
                  <a:srgbClr val="FFFFFF"/>
                </a:solidFill>
                <a:latin typeface="Calibri" pitchFamily="34" charset="0"/>
                <a:ea typeface="Calibri" pitchFamily="34" charset="-122"/>
                <a:cs typeface="Calibri" pitchFamily="34" charset="-120"/>
              </a:rPr>
              <a:t>Probable</a:t>
            </a:r>
            <a:endParaRPr lang="en-US" sz="1200" dirty="0"/>
          </a:p>
        </p:txBody>
      </p:sp>
      <p:sp>
        <p:nvSpPr>
          <p:cNvPr id="42" name="Text 39"/>
          <p:cNvSpPr txBox="1"/>
          <p:nvPr/>
        </p:nvSpPr>
        <p:spPr>
          <a:xfrm>
            <a:off x="8275320" y="3081528"/>
            <a:ext cx="3246120" cy="43891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Merged, but permanently flagged. Yellow links never chain, so two weak guesses can’t stack.</a:t>
            </a:r>
            <a:endParaRPr lang="en-US" sz="1050" dirty="0"/>
          </a:p>
        </p:txBody>
      </p:sp>
      <p:sp>
        <p:nvSpPr>
          <p:cNvPr id="43" name="Shape 40"/>
          <p:cNvSpPr/>
          <p:nvPr/>
        </p:nvSpPr>
        <p:spPr>
          <a:xfrm>
            <a:off x="7818120" y="3648456"/>
            <a:ext cx="3840480" cy="822960"/>
          </a:xfrm>
          <a:prstGeom prst="roundRect">
            <a:avLst>
              <a:gd name="adj" fmla="val 11111"/>
            </a:avLst>
          </a:prstGeom>
          <a:solidFill>
            <a:srgbClr val="0E1829"/>
          </a:solidFill>
          <a:ln w="9525">
            <a:solidFill>
              <a:srgbClr val="1F3352"/>
            </a:solidFill>
            <a:prstDash val="solid"/>
          </a:ln>
        </p:spPr>
      </p:sp>
      <p:sp>
        <p:nvSpPr>
          <p:cNvPr id="44" name="Shape 41"/>
          <p:cNvSpPr/>
          <p:nvPr/>
        </p:nvSpPr>
        <p:spPr>
          <a:xfrm>
            <a:off x="8001000" y="3803904"/>
            <a:ext cx="164592" cy="164592"/>
          </a:xfrm>
          <a:prstGeom prst="ellipse">
            <a:avLst/>
          </a:prstGeom>
          <a:solidFill>
            <a:srgbClr val="5E7390"/>
          </a:solidFill>
          <a:ln w="12700">
            <a:solidFill>
              <a:srgbClr val="5E7390"/>
            </a:solidFill>
            <a:prstDash val="solid"/>
          </a:ln>
        </p:spPr>
      </p:sp>
      <p:sp>
        <p:nvSpPr>
          <p:cNvPr id="45" name="Text 42"/>
          <p:cNvSpPr txBox="1"/>
          <p:nvPr/>
        </p:nvSpPr>
        <p:spPr>
          <a:xfrm>
            <a:off x="8275320" y="3739896"/>
            <a:ext cx="3200400" cy="274320"/>
          </a:xfrm>
          <a:prstGeom prst="rect">
            <a:avLst/>
          </a:prstGeom>
          <a:noFill/>
          <a:ln/>
        </p:spPr>
        <p:txBody>
          <a:bodyPr wrap="square" lIns="0" tIns="0" rIns="0" bIns="0" rtlCol="0" anchor="ctr"/>
          <a:lstStyle/>
          <a:p>
            <a:pPr indent="0" marL="0">
              <a:buNone/>
            </a:pPr>
            <a:r>
              <a:rPr lang="en-US" sz="1200" b="1" dirty="0">
                <a:solidFill>
                  <a:srgbClr val="5E7390"/>
                </a:solidFill>
                <a:latin typeface="Calibri" pitchFamily="34" charset="0"/>
                <a:ea typeface="Calibri" pitchFamily="34" charset="-122"/>
                <a:cs typeface="Calibri" pitchFamily="34" charset="-120"/>
              </a:rPr>
              <a:t>POSSIBLE  </a:t>
            </a:r>
            <a:pPr indent="0" marL="0">
              <a:buNone/>
            </a:pPr>
            <a:r>
              <a:rPr lang="en-US" sz="1200" b="1" dirty="0">
                <a:solidFill>
                  <a:srgbClr val="FFFFFF"/>
                </a:solidFill>
                <a:latin typeface="Calibri" pitchFamily="34" charset="0"/>
                <a:ea typeface="Calibri" pitchFamily="34" charset="-122"/>
                <a:cs typeface="Calibri" pitchFamily="34" charset="-120"/>
              </a:rPr>
              <a:t>Not merged</a:t>
            </a:r>
            <a:endParaRPr lang="en-US" sz="1200" dirty="0"/>
          </a:p>
        </p:txBody>
      </p:sp>
      <p:sp>
        <p:nvSpPr>
          <p:cNvPr id="46" name="Text 43"/>
          <p:cNvSpPr txBox="1"/>
          <p:nvPr/>
        </p:nvSpPr>
        <p:spPr>
          <a:xfrm>
            <a:off x="8275320" y="4014216"/>
            <a:ext cx="3246120" cy="438912"/>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Shown to the analyst. Never used as evidence.</a:t>
            </a:r>
            <a:endParaRPr lang="en-US" sz="1050" dirty="0"/>
          </a:p>
        </p:txBody>
      </p:sp>
      <p:sp>
        <p:nvSpPr>
          <p:cNvPr id="47" name="Shape 44"/>
          <p:cNvSpPr/>
          <p:nvPr/>
        </p:nvSpPr>
        <p:spPr>
          <a:xfrm>
            <a:off x="7818120" y="4599432"/>
            <a:ext cx="3840480" cy="868680"/>
          </a:xfrm>
          <a:prstGeom prst="roundRect">
            <a:avLst>
              <a:gd name="adj" fmla="val 10526"/>
            </a:avLst>
          </a:prstGeom>
          <a:solidFill>
            <a:srgbClr val="2A1219"/>
          </a:solidFill>
          <a:ln w="9525">
            <a:solidFill>
              <a:srgbClr val="5A2430"/>
            </a:solidFill>
            <a:prstDash val="solid"/>
          </a:ln>
        </p:spPr>
      </p:sp>
      <p:sp>
        <p:nvSpPr>
          <p:cNvPr id="48" name="Text 45"/>
          <p:cNvSpPr txBox="1"/>
          <p:nvPr/>
        </p:nvSpPr>
        <p:spPr>
          <a:xfrm>
            <a:off x="8001000" y="4663440"/>
            <a:ext cx="3520440" cy="7498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Blockers override every rule. </a:t>
            </a:r>
            <a:pPr indent="0" marL="0">
              <a:buNone/>
            </a:pPr>
            <a:r>
              <a:rPr lang="en-US" sz="1050" dirty="0">
                <a:solidFill>
                  <a:srgbClr val="9AAEC6"/>
                </a:solidFill>
                <a:latin typeface="Calibri" pitchFamily="34" charset="0"/>
                <a:ea typeface="Calibri" pitchFamily="34" charset="-122"/>
                <a:cs typeface="Calibri" pitchFamily="34" charset="-120"/>
              </a:rPr>
              <a:t>Different PANs are never one person. Same address with different PANs means family members, not one man.</a:t>
            </a:r>
            <a:endParaRPr lang="en-US" sz="1050" dirty="0"/>
          </a:p>
        </p:txBody>
      </p:sp>
      <p:sp>
        <p:nvSpPr>
          <p:cNvPr id="49" name="Text 46"/>
          <p:cNvSpPr txBox="1"/>
          <p:nvPr/>
        </p:nvSpPr>
        <p:spPr>
          <a:xfrm>
            <a:off x="548640" y="5074920"/>
            <a:ext cx="1737360" cy="457200"/>
          </a:xfrm>
          <a:prstGeom prst="rect">
            <a:avLst/>
          </a:prstGeom>
          <a:noFill/>
          <a:ln/>
        </p:spPr>
        <p:txBody>
          <a:bodyPr wrap="square" lIns="0" tIns="0" rIns="0" bIns="0" rtlCol="0" anchor="b"/>
          <a:lstStyle/>
          <a:p>
            <a:pPr indent="0" marL="0">
              <a:buNone/>
            </a:pPr>
            <a:r>
              <a:rPr lang="en-US" sz="1900" b="1" dirty="0">
                <a:solidFill>
                  <a:srgbClr val="22D3EE"/>
                </a:solidFill>
                <a:latin typeface="Cambria" pitchFamily="34" charset="0"/>
                <a:ea typeface="Cambria" pitchFamily="34" charset="-122"/>
                <a:cs typeface="Cambria" pitchFamily="34" charset="-120"/>
              </a:rPr>
              <a:t>2,500 → 1,828</a:t>
            </a:r>
            <a:endParaRPr lang="en-US" sz="1900" dirty="0"/>
          </a:p>
        </p:txBody>
      </p:sp>
      <p:sp>
        <p:nvSpPr>
          <p:cNvPr id="50" name="Text 47"/>
          <p:cNvSpPr txBox="1"/>
          <p:nvPr/>
        </p:nvSpPr>
        <p:spPr>
          <a:xfrm>
            <a:off x="548640" y="5559552"/>
            <a:ext cx="1645920" cy="457200"/>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accounts resolve to real people</a:t>
            </a:r>
            <a:endParaRPr lang="en-US" sz="1050" dirty="0"/>
          </a:p>
        </p:txBody>
      </p:sp>
      <p:sp>
        <p:nvSpPr>
          <p:cNvPr id="51" name="Text 48"/>
          <p:cNvSpPr txBox="1"/>
          <p:nvPr/>
        </p:nvSpPr>
        <p:spPr>
          <a:xfrm>
            <a:off x="2331720" y="5074920"/>
            <a:ext cx="1737360" cy="457200"/>
          </a:xfrm>
          <a:prstGeom prst="rect">
            <a:avLst/>
          </a:prstGeom>
          <a:noFill/>
          <a:ln/>
        </p:spPr>
        <p:txBody>
          <a:bodyPr wrap="square" lIns="0" tIns="0" rIns="0" bIns="0" rtlCol="0" anchor="b"/>
          <a:lstStyle/>
          <a:p>
            <a:pPr indent="0" marL="0">
              <a:buNone/>
            </a:pPr>
            <a:r>
              <a:rPr lang="en-US" sz="2400" b="1" dirty="0">
                <a:solidFill>
                  <a:srgbClr val="34D399"/>
                </a:solidFill>
                <a:latin typeface="Cambria" pitchFamily="34" charset="0"/>
                <a:ea typeface="Cambria" pitchFamily="34" charset="-122"/>
                <a:cs typeface="Cambria" pitchFamily="34" charset="-120"/>
              </a:rPr>
              <a:t>1.000</a:t>
            </a:r>
            <a:endParaRPr lang="en-US" sz="2400" dirty="0"/>
          </a:p>
        </p:txBody>
      </p:sp>
      <p:sp>
        <p:nvSpPr>
          <p:cNvPr id="52" name="Text 49"/>
          <p:cNvSpPr txBox="1"/>
          <p:nvPr/>
        </p:nvSpPr>
        <p:spPr>
          <a:xfrm>
            <a:off x="2331720" y="5559552"/>
            <a:ext cx="1645920" cy="457200"/>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precision: zero false merges</a:t>
            </a:r>
            <a:endParaRPr lang="en-US" sz="1050" dirty="0"/>
          </a:p>
        </p:txBody>
      </p:sp>
      <p:sp>
        <p:nvSpPr>
          <p:cNvPr id="53" name="Text 50"/>
          <p:cNvSpPr txBox="1"/>
          <p:nvPr/>
        </p:nvSpPr>
        <p:spPr>
          <a:xfrm>
            <a:off x="4114800" y="5074920"/>
            <a:ext cx="1737360" cy="457200"/>
          </a:xfrm>
          <a:prstGeom prst="rect">
            <a:avLst/>
          </a:prstGeom>
          <a:noFill/>
          <a:ln/>
        </p:spPr>
        <p:txBody>
          <a:bodyPr wrap="square" lIns="0" tIns="0" rIns="0" bIns="0" rtlCol="0" anchor="b"/>
          <a:lstStyle/>
          <a:p>
            <a:pPr indent="0" marL="0">
              <a:buNone/>
            </a:pPr>
            <a:r>
              <a:rPr lang="en-US" sz="2400" b="1" dirty="0">
                <a:solidFill>
                  <a:srgbClr val="22D3EE"/>
                </a:solidFill>
                <a:latin typeface="Cambria" pitchFamily="34" charset="0"/>
                <a:ea typeface="Cambria" pitchFamily="34" charset="-122"/>
                <a:cs typeface="Cambria" pitchFamily="34" charset="-120"/>
              </a:rPr>
              <a:t>97.8%</a:t>
            </a:r>
            <a:endParaRPr lang="en-US" sz="2400" dirty="0"/>
          </a:p>
        </p:txBody>
      </p:sp>
      <p:sp>
        <p:nvSpPr>
          <p:cNvPr id="54" name="Text 51"/>
          <p:cNvSpPr txBox="1"/>
          <p:nvPr/>
        </p:nvSpPr>
        <p:spPr>
          <a:xfrm>
            <a:off x="4114800" y="5559552"/>
            <a:ext cx="1645920" cy="457200"/>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recall on confirmed links</a:t>
            </a:r>
            <a:endParaRPr lang="en-US" sz="1050" dirty="0"/>
          </a:p>
        </p:txBody>
      </p:sp>
      <p:sp>
        <p:nvSpPr>
          <p:cNvPr id="55" name="Text 52"/>
          <p:cNvSpPr txBox="1"/>
          <p:nvPr/>
        </p:nvSpPr>
        <p:spPr>
          <a:xfrm>
            <a:off x="5897880" y="5074920"/>
            <a:ext cx="1737360" cy="457200"/>
          </a:xfrm>
          <a:prstGeom prst="rect">
            <a:avLst/>
          </a:prstGeom>
          <a:noFill/>
          <a:ln/>
        </p:spPr>
        <p:txBody>
          <a:bodyPr wrap="square" lIns="0" tIns="0" rIns="0" bIns="0" rtlCol="0" anchor="b"/>
          <a:lstStyle/>
          <a:p>
            <a:pPr indent="0" marL="0">
              <a:buNone/>
            </a:pPr>
            <a:r>
              <a:rPr lang="en-US" sz="1900" b="1" dirty="0">
                <a:solidFill>
                  <a:srgbClr val="22D3EE"/>
                </a:solidFill>
                <a:latin typeface="Cambria" pitchFamily="34" charset="0"/>
                <a:ea typeface="Cambria" pitchFamily="34" charset="-122"/>
                <a:cs typeface="Cambria" pitchFamily="34" charset="-120"/>
              </a:rPr>
              <a:t>147 → 82</a:t>
            </a:r>
            <a:endParaRPr lang="en-US" sz="1900" dirty="0"/>
          </a:p>
        </p:txBody>
      </p:sp>
      <p:sp>
        <p:nvSpPr>
          <p:cNvPr id="56" name="Text 53"/>
          <p:cNvSpPr txBox="1"/>
          <p:nvPr/>
        </p:nvSpPr>
        <p:spPr>
          <a:xfrm>
            <a:off x="5897880" y="5559552"/>
            <a:ext cx="1645920" cy="457200"/>
          </a:xfrm>
          <a:prstGeom prst="rect">
            <a:avLst/>
          </a:prstGeom>
          <a:noFill/>
          <a:ln/>
        </p:spPr>
        <p:txBody>
          <a:bodyPr wrap="square" lIns="0" tIns="0" rIns="0" bIns="0" rtlCol="0" anchor="t"/>
          <a:lstStyle/>
          <a:p>
            <a:pPr indent="0" marL="0">
              <a:buNone/>
            </a:pPr>
            <a:r>
              <a:rPr lang="en-US" sz="1050" dirty="0">
                <a:solidFill>
                  <a:srgbClr val="9AAEC6"/>
                </a:solidFill>
                <a:latin typeface="Calibri" pitchFamily="34" charset="0"/>
                <a:ea typeface="Calibri" pitchFamily="34" charset="-122"/>
                <a:cs typeface="Calibri" pitchFamily="34" charset="-120"/>
              </a:rPr>
              <a:t>ring accounts collapse to 82 people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STAGE 3  ·  CROSS-BANK, WITHOUT SHARING DATA</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Invisible to each bank. Obvious together.</a:t>
            </a:r>
            <a:endParaRPr lang="en-US" sz="3200" dirty="0"/>
          </a:p>
        </p:txBody>
      </p:sp>
      <p:sp>
        <p:nvSpPr>
          <p:cNvPr id="4" name="Text 2"/>
          <p:cNvSpPr txBox="1"/>
          <p:nvPr/>
        </p:nvSpPr>
        <p:spPr>
          <a:xfrm>
            <a:off x="548640" y="1307592"/>
            <a:ext cx="11064240" cy="365760"/>
          </a:xfrm>
          <a:prstGeom prst="rect">
            <a:avLst/>
          </a:prstGeom>
          <a:noFill/>
          <a:ln/>
        </p:spPr>
        <p:txBody>
          <a:bodyPr wrap="square" lIns="0" tIns="0" rIns="0" bIns="0" rtlCol="0" anchor="ctr"/>
          <a:lstStyle/>
          <a:p>
            <a:pPr indent="0" marL="0">
              <a:buNone/>
            </a:pPr>
            <a:r>
              <a:rPr lang="en-US" sz="1500" dirty="0">
                <a:solidFill>
                  <a:srgbClr val="9AAEC6"/>
                </a:solidFill>
                <a:latin typeface="Calibri" pitchFamily="34" charset="0"/>
                <a:ea typeface="Calibri" pitchFamily="34" charset="-122"/>
                <a:cs typeface="Calibri" pitchFamily="34" charset="-120"/>
              </a:rPr>
              <a:t>Hero ring: ₹2.4 crore through 6 accounts and 3 people, across two banks, back to its origin in 2h 58m.</a:t>
            </a:r>
            <a:endParaRPr lang="en-US" sz="1500" dirty="0"/>
          </a:p>
        </p:txBody>
      </p:sp>
      <p:sp>
        <p:nvSpPr>
          <p:cNvPr id="5" name="Text 3"/>
          <p:cNvSpPr txBox="1"/>
          <p:nvPr/>
        </p:nvSpPr>
        <p:spPr>
          <a:xfrm>
            <a:off x="548640" y="6446520"/>
            <a:ext cx="2743200" cy="228600"/>
          </a:xfrm>
          <a:prstGeom prst="rect">
            <a:avLst/>
          </a:prstGeom>
          <a:noFill/>
          <a:ln/>
        </p:spPr>
        <p:txBody>
          <a:bodyPr wrap="square" lIns="0" tIns="0" rIns="0" bIns="0" rtlCol="0" anchor="ctr"/>
          <a:lstStyle/>
          <a:p>
            <a:pPr indent="0" marL="0">
              <a:buNone/>
            </a:pPr>
            <a:r>
              <a:rPr lang="en-US" sz="900" spc="400" kern="0" dirty="0">
                <a:solidFill>
                  <a:srgbClr val="5E7390"/>
                </a:solidFill>
                <a:latin typeface="Calibri" pitchFamily="34" charset="0"/>
                <a:ea typeface="Calibri" pitchFamily="34" charset="-122"/>
                <a:cs typeface="Calibri" pitchFamily="34" charset="-120"/>
              </a:rPr>
              <a:t>CHAKRAVYUH</a:t>
            </a:r>
            <a:endParaRPr lang="en-US" sz="900" dirty="0"/>
          </a:p>
        </p:txBody>
      </p:sp>
      <p:sp>
        <p:nvSpPr>
          <p:cNvPr id="6" name="Text 4"/>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00" dirty="0">
                <a:solidFill>
                  <a:srgbClr val="5E7390"/>
                </a:solidFill>
                <a:latin typeface="Calibri" pitchFamily="34" charset="0"/>
                <a:ea typeface="Calibri" pitchFamily="34" charset="-122"/>
                <a:cs typeface="Calibri" pitchFamily="34" charset="-120"/>
              </a:rPr>
              <a:t>05</a:t>
            </a:r>
            <a:endParaRPr lang="en-US" sz="900" dirty="0"/>
          </a:p>
        </p:txBody>
      </p:sp>
      <p:sp>
        <p:nvSpPr>
          <p:cNvPr id="7" name="Shape 5"/>
          <p:cNvSpPr/>
          <p:nvPr/>
        </p:nvSpPr>
        <p:spPr>
          <a:xfrm>
            <a:off x="2692404" y="2578608"/>
            <a:ext cx="649353" cy="374904"/>
          </a:xfrm>
          <a:prstGeom prst="line">
            <a:avLst/>
          </a:prstGeom>
          <a:noFill/>
          <a:ln w="34925">
            <a:solidFill>
              <a:srgbClr val="22D3EE"/>
            </a:solidFill>
            <a:prstDash val="solid"/>
            <a:tailEnd type="triangle"/>
          </a:ln>
        </p:spPr>
      </p:sp>
      <p:sp>
        <p:nvSpPr>
          <p:cNvPr id="8" name="Shape 6"/>
          <p:cNvSpPr/>
          <p:nvPr/>
        </p:nvSpPr>
        <p:spPr>
          <a:xfrm>
            <a:off x="3611000" y="3419856"/>
            <a:ext cx="914" cy="749808"/>
          </a:xfrm>
          <a:prstGeom prst="line">
            <a:avLst/>
          </a:prstGeom>
          <a:noFill/>
          <a:ln w="19050">
            <a:solidFill>
              <a:srgbClr val="9AAEC6"/>
            </a:solidFill>
            <a:prstDash val="solid"/>
            <a:tailEnd type="triangle"/>
          </a:ln>
        </p:spPr>
      </p:sp>
      <p:sp>
        <p:nvSpPr>
          <p:cNvPr id="9" name="Shape 7"/>
          <p:cNvSpPr/>
          <p:nvPr/>
        </p:nvSpPr>
        <p:spPr>
          <a:xfrm flipH="1">
            <a:off x="2692404" y="4636008"/>
            <a:ext cx="649353" cy="374904"/>
          </a:xfrm>
          <a:prstGeom prst="line">
            <a:avLst/>
          </a:prstGeom>
          <a:noFill/>
          <a:ln w="34925">
            <a:solidFill>
              <a:srgbClr val="F5A524"/>
            </a:solidFill>
            <a:prstDash val="solid"/>
            <a:tailEnd type="triangle"/>
          </a:ln>
        </p:spPr>
      </p:sp>
      <p:sp>
        <p:nvSpPr>
          <p:cNvPr id="10" name="Shape 8"/>
          <p:cNvSpPr/>
          <p:nvPr/>
        </p:nvSpPr>
        <p:spPr>
          <a:xfrm flipH="1" flipV="1">
            <a:off x="1504563" y="4636008"/>
            <a:ext cx="649353" cy="374904"/>
          </a:xfrm>
          <a:prstGeom prst="line">
            <a:avLst/>
          </a:prstGeom>
          <a:noFill/>
          <a:ln w="19050">
            <a:solidFill>
              <a:srgbClr val="9AAEC6"/>
            </a:solidFill>
            <a:prstDash val="solid"/>
            <a:tailEnd type="triangle"/>
          </a:ln>
        </p:spPr>
      </p:sp>
      <p:sp>
        <p:nvSpPr>
          <p:cNvPr id="11" name="Shape 9"/>
          <p:cNvSpPr/>
          <p:nvPr/>
        </p:nvSpPr>
        <p:spPr>
          <a:xfrm flipH="1" flipV="1">
            <a:off x="1235320" y="3419856"/>
            <a:ext cx="0" cy="749808"/>
          </a:xfrm>
          <a:prstGeom prst="line">
            <a:avLst/>
          </a:prstGeom>
          <a:noFill/>
          <a:ln w="19050">
            <a:solidFill>
              <a:srgbClr val="9AAEC6"/>
            </a:solidFill>
            <a:prstDash val="solid"/>
            <a:tailEnd type="triangle"/>
          </a:ln>
        </p:spPr>
      </p:sp>
      <p:sp>
        <p:nvSpPr>
          <p:cNvPr id="12" name="Shape 10"/>
          <p:cNvSpPr/>
          <p:nvPr/>
        </p:nvSpPr>
        <p:spPr>
          <a:xfrm flipV="1">
            <a:off x="1504563" y="2578608"/>
            <a:ext cx="649353" cy="374904"/>
          </a:xfrm>
          <a:prstGeom prst="line">
            <a:avLst/>
          </a:prstGeom>
          <a:noFill/>
          <a:ln w="19050">
            <a:solidFill>
              <a:srgbClr val="9AAEC6"/>
            </a:solidFill>
            <a:prstDash val="solid"/>
            <a:tailEnd type="triangle"/>
          </a:ln>
        </p:spPr>
      </p:sp>
      <p:sp>
        <p:nvSpPr>
          <p:cNvPr id="13" name="Shape 11"/>
          <p:cNvSpPr/>
          <p:nvPr/>
        </p:nvSpPr>
        <p:spPr>
          <a:xfrm>
            <a:off x="2157984" y="2157984"/>
            <a:ext cx="530352" cy="530352"/>
          </a:xfrm>
          <a:prstGeom prst="ellipse">
            <a:avLst/>
          </a:prstGeom>
          <a:solidFill>
            <a:srgbClr val="06303C"/>
          </a:solidFill>
          <a:ln w="22225">
            <a:solidFill>
              <a:srgbClr val="22D3EE"/>
            </a:solidFill>
            <a:prstDash val="solid"/>
          </a:ln>
        </p:spPr>
      </p:sp>
      <p:sp>
        <p:nvSpPr>
          <p:cNvPr id="14" name="Text 12"/>
          <p:cNvSpPr txBox="1"/>
          <p:nvPr/>
        </p:nvSpPr>
        <p:spPr>
          <a:xfrm>
            <a:off x="2157984" y="2157984"/>
            <a:ext cx="530352" cy="530352"/>
          </a:xfrm>
          <a:prstGeom prst="rect">
            <a:avLst/>
          </a:prstGeom>
          <a:noFill/>
          <a:ln/>
        </p:spPr>
        <p:txBody>
          <a:bodyPr wrap="square" lIns="0" tIns="0" rIns="0" bIns="0"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A1</a:t>
            </a:r>
            <a:endParaRPr lang="en-US" sz="1200" dirty="0"/>
          </a:p>
        </p:txBody>
      </p:sp>
      <p:sp>
        <p:nvSpPr>
          <p:cNvPr id="15" name="Shape 13"/>
          <p:cNvSpPr/>
          <p:nvPr/>
        </p:nvSpPr>
        <p:spPr>
          <a:xfrm>
            <a:off x="3345824" y="2843784"/>
            <a:ext cx="530352" cy="530352"/>
          </a:xfrm>
          <a:prstGeom prst="ellipse">
            <a:avLst/>
          </a:prstGeom>
          <a:solidFill>
            <a:srgbClr val="06303C"/>
          </a:solidFill>
          <a:ln w="22225">
            <a:solidFill>
              <a:srgbClr val="22D3EE"/>
            </a:solidFill>
            <a:prstDash val="solid"/>
          </a:ln>
        </p:spPr>
      </p:sp>
      <p:sp>
        <p:nvSpPr>
          <p:cNvPr id="16" name="Text 14"/>
          <p:cNvSpPr txBox="1"/>
          <p:nvPr/>
        </p:nvSpPr>
        <p:spPr>
          <a:xfrm>
            <a:off x="3345824" y="2843784"/>
            <a:ext cx="530352" cy="530352"/>
          </a:xfrm>
          <a:prstGeom prst="rect">
            <a:avLst/>
          </a:prstGeom>
          <a:noFill/>
          <a:ln/>
        </p:spPr>
        <p:txBody>
          <a:bodyPr wrap="square" lIns="0" tIns="0" rIns="0" bIns="0"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A2</a:t>
            </a:r>
            <a:endParaRPr lang="en-US" sz="1200" dirty="0"/>
          </a:p>
        </p:txBody>
      </p:sp>
      <p:sp>
        <p:nvSpPr>
          <p:cNvPr id="17" name="Shape 15"/>
          <p:cNvSpPr/>
          <p:nvPr/>
        </p:nvSpPr>
        <p:spPr>
          <a:xfrm>
            <a:off x="3345824" y="4215384"/>
            <a:ext cx="530352" cy="530352"/>
          </a:xfrm>
          <a:prstGeom prst="ellipse">
            <a:avLst/>
          </a:prstGeom>
          <a:solidFill>
            <a:srgbClr val="3A2A0C"/>
          </a:solidFill>
          <a:ln w="22225">
            <a:solidFill>
              <a:srgbClr val="F5A524"/>
            </a:solidFill>
            <a:prstDash val="solid"/>
          </a:ln>
        </p:spPr>
      </p:sp>
      <p:sp>
        <p:nvSpPr>
          <p:cNvPr id="18" name="Text 16"/>
          <p:cNvSpPr txBox="1"/>
          <p:nvPr/>
        </p:nvSpPr>
        <p:spPr>
          <a:xfrm>
            <a:off x="3345824" y="4215384"/>
            <a:ext cx="530352" cy="530352"/>
          </a:xfrm>
          <a:prstGeom prst="rect">
            <a:avLst/>
          </a:prstGeom>
          <a:noFill/>
          <a:ln/>
        </p:spPr>
        <p:txBody>
          <a:bodyPr wrap="square" lIns="0" tIns="0" rIns="0" bIns="0" rtlCol="0" anchor="ctr"/>
          <a:lstStyle/>
          <a:p>
            <a:pPr algn="ctr" indent="0" marL="0">
              <a:buNone/>
            </a:pPr>
            <a:r>
              <a:rPr lang="en-US" sz="1200" b="1" dirty="0">
                <a:solidFill>
                  <a:srgbClr val="F5A524"/>
                </a:solidFill>
                <a:latin typeface="Calibri" pitchFamily="34" charset="0"/>
                <a:ea typeface="Calibri" pitchFamily="34" charset="-122"/>
                <a:cs typeface="Calibri" pitchFamily="34" charset="-120"/>
              </a:rPr>
              <a:t>B3</a:t>
            </a:r>
            <a:endParaRPr lang="en-US" sz="1200" dirty="0"/>
          </a:p>
        </p:txBody>
      </p:sp>
      <p:sp>
        <p:nvSpPr>
          <p:cNvPr id="19" name="Shape 17"/>
          <p:cNvSpPr/>
          <p:nvPr/>
        </p:nvSpPr>
        <p:spPr>
          <a:xfrm>
            <a:off x="2157984" y="4901184"/>
            <a:ext cx="530352" cy="530352"/>
          </a:xfrm>
          <a:prstGeom prst="ellipse">
            <a:avLst/>
          </a:prstGeom>
          <a:solidFill>
            <a:srgbClr val="3A2A0C"/>
          </a:solidFill>
          <a:ln w="22225">
            <a:solidFill>
              <a:srgbClr val="F5A524"/>
            </a:solidFill>
            <a:prstDash val="solid"/>
          </a:ln>
        </p:spPr>
      </p:sp>
      <p:sp>
        <p:nvSpPr>
          <p:cNvPr id="20" name="Text 18"/>
          <p:cNvSpPr txBox="1"/>
          <p:nvPr/>
        </p:nvSpPr>
        <p:spPr>
          <a:xfrm>
            <a:off x="2157984" y="4901184"/>
            <a:ext cx="530352" cy="530352"/>
          </a:xfrm>
          <a:prstGeom prst="rect">
            <a:avLst/>
          </a:prstGeom>
          <a:noFill/>
          <a:ln/>
        </p:spPr>
        <p:txBody>
          <a:bodyPr wrap="square" lIns="0" tIns="0" rIns="0" bIns="0" rtlCol="0" anchor="ctr"/>
          <a:lstStyle/>
          <a:p>
            <a:pPr algn="ctr" indent="0" marL="0">
              <a:buNone/>
            </a:pPr>
            <a:r>
              <a:rPr lang="en-US" sz="1200" b="1" dirty="0">
                <a:solidFill>
                  <a:srgbClr val="F5A524"/>
                </a:solidFill>
                <a:latin typeface="Calibri" pitchFamily="34" charset="0"/>
                <a:ea typeface="Calibri" pitchFamily="34" charset="-122"/>
                <a:cs typeface="Calibri" pitchFamily="34" charset="-120"/>
              </a:rPr>
              <a:t>B4</a:t>
            </a:r>
            <a:endParaRPr lang="en-US" sz="1200" dirty="0"/>
          </a:p>
        </p:txBody>
      </p:sp>
      <p:sp>
        <p:nvSpPr>
          <p:cNvPr id="21" name="Shape 19"/>
          <p:cNvSpPr/>
          <p:nvPr/>
        </p:nvSpPr>
        <p:spPr>
          <a:xfrm>
            <a:off x="970144" y="4215384"/>
            <a:ext cx="530352" cy="530352"/>
          </a:xfrm>
          <a:prstGeom prst="ellipse">
            <a:avLst/>
          </a:prstGeom>
          <a:solidFill>
            <a:srgbClr val="06303C"/>
          </a:solidFill>
          <a:ln w="22225">
            <a:solidFill>
              <a:srgbClr val="22D3EE"/>
            </a:solidFill>
            <a:prstDash val="solid"/>
          </a:ln>
        </p:spPr>
      </p:sp>
      <p:sp>
        <p:nvSpPr>
          <p:cNvPr id="22" name="Text 20"/>
          <p:cNvSpPr txBox="1"/>
          <p:nvPr/>
        </p:nvSpPr>
        <p:spPr>
          <a:xfrm>
            <a:off x="970144" y="4215384"/>
            <a:ext cx="530352" cy="530352"/>
          </a:xfrm>
          <a:prstGeom prst="rect">
            <a:avLst/>
          </a:prstGeom>
          <a:noFill/>
          <a:ln/>
        </p:spPr>
        <p:txBody>
          <a:bodyPr wrap="square" lIns="0" tIns="0" rIns="0" bIns="0" rtlCol="0" anchor="ctr"/>
          <a:lstStyle/>
          <a:p>
            <a:pPr algn="ctr" indent="0" marL="0">
              <a:buNone/>
            </a:pPr>
            <a:r>
              <a:rPr lang="en-US" sz="1200" b="1" dirty="0">
                <a:solidFill>
                  <a:srgbClr val="22D3EE"/>
                </a:solidFill>
                <a:latin typeface="Calibri" pitchFamily="34" charset="0"/>
                <a:ea typeface="Calibri" pitchFamily="34" charset="-122"/>
                <a:cs typeface="Calibri" pitchFamily="34" charset="-120"/>
              </a:rPr>
              <a:t>A5</a:t>
            </a:r>
            <a:endParaRPr lang="en-US" sz="1200" dirty="0"/>
          </a:p>
        </p:txBody>
      </p:sp>
      <p:sp>
        <p:nvSpPr>
          <p:cNvPr id="23" name="Shape 21"/>
          <p:cNvSpPr/>
          <p:nvPr/>
        </p:nvSpPr>
        <p:spPr>
          <a:xfrm>
            <a:off x="970144" y="2843784"/>
            <a:ext cx="530352" cy="530352"/>
          </a:xfrm>
          <a:prstGeom prst="ellipse">
            <a:avLst/>
          </a:prstGeom>
          <a:solidFill>
            <a:srgbClr val="3A2A0C"/>
          </a:solidFill>
          <a:ln w="22225">
            <a:solidFill>
              <a:srgbClr val="F5A524"/>
            </a:solidFill>
            <a:prstDash val="solid"/>
          </a:ln>
        </p:spPr>
      </p:sp>
      <p:sp>
        <p:nvSpPr>
          <p:cNvPr id="24" name="Text 22"/>
          <p:cNvSpPr txBox="1"/>
          <p:nvPr/>
        </p:nvSpPr>
        <p:spPr>
          <a:xfrm>
            <a:off x="970144" y="2843784"/>
            <a:ext cx="530352" cy="530352"/>
          </a:xfrm>
          <a:prstGeom prst="rect">
            <a:avLst/>
          </a:prstGeom>
          <a:noFill/>
          <a:ln/>
        </p:spPr>
        <p:txBody>
          <a:bodyPr wrap="square" lIns="0" tIns="0" rIns="0" bIns="0" rtlCol="0" anchor="ctr"/>
          <a:lstStyle/>
          <a:p>
            <a:pPr algn="ctr" indent="0" marL="0">
              <a:buNone/>
            </a:pPr>
            <a:r>
              <a:rPr lang="en-US" sz="1200" b="1" dirty="0">
                <a:solidFill>
                  <a:srgbClr val="F5A524"/>
                </a:solidFill>
                <a:latin typeface="Calibri" pitchFamily="34" charset="0"/>
                <a:ea typeface="Calibri" pitchFamily="34" charset="-122"/>
                <a:cs typeface="Calibri" pitchFamily="34" charset="-120"/>
              </a:rPr>
              <a:t>B6</a:t>
            </a:r>
            <a:endParaRPr lang="en-US" sz="1200" dirty="0"/>
          </a:p>
        </p:txBody>
      </p:sp>
      <p:sp>
        <p:nvSpPr>
          <p:cNvPr id="25" name="Text 23"/>
          <p:cNvSpPr txBox="1"/>
          <p:nvPr/>
        </p:nvSpPr>
        <p:spPr>
          <a:xfrm>
            <a:off x="2834640" y="2011680"/>
            <a:ext cx="1828800" cy="411480"/>
          </a:xfrm>
          <a:prstGeom prst="rect">
            <a:avLst/>
          </a:prstGeom>
          <a:noFill/>
          <a:ln/>
        </p:spPr>
        <p:txBody>
          <a:bodyPr wrap="square" lIns="0" tIns="0" rIns="0" bIns="0" rtlCol="0" anchor="t"/>
          <a:lstStyle/>
          <a:p>
            <a:pPr indent="0" marL="0">
              <a:buNone/>
            </a:pPr>
            <a:r>
              <a:rPr lang="en-US" sz="950" dirty="0">
                <a:solidFill>
                  <a:srgbClr val="22D3EE"/>
                </a:solidFill>
                <a:latin typeface="Calibri" pitchFamily="34" charset="0"/>
                <a:ea typeface="Calibri" pitchFamily="34" charset="-122"/>
                <a:cs typeface="Calibri" pitchFamily="34" charset="-120"/>
              </a:rPr>
              <a:t>Hop 1→2 inside Bank A:</a:t>
            </a:r>
            <a:endParaRPr lang="en-US" sz="950" dirty="0"/>
          </a:p>
          <a:p>
            <a:pPr indent="0" marL="0">
              <a:buNone/>
            </a:pPr>
            <a:r>
              <a:rPr lang="en-US" sz="950" dirty="0">
                <a:solidFill>
                  <a:srgbClr val="22D3EE"/>
                </a:solidFill>
                <a:latin typeface="Calibri" pitchFamily="34" charset="0"/>
                <a:ea typeface="Calibri" pitchFamily="34" charset="-122"/>
                <a:cs typeface="Calibri" pitchFamily="34" charset="-120"/>
              </a:rPr>
              <a:t>Bank B never sees it</a:t>
            </a:r>
            <a:endParaRPr lang="en-US" sz="950" dirty="0"/>
          </a:p>
        </p:txBody>
      </p:sp>
      <p:sp>
        <p:nvSpPr>
          <p:cNvPr id="26" name="Text 24"/>
          <p:cNvSpPr txBox="1"/>
          <p:nvPr/>
        </p:nvSpPr>
        <p:spPr>
          <a:xfrm>
            <a:off x="2788920" y="5120640"/>
            <a:ext cx="1828800" cy="411480"/>
          </a:xfrm>
          <a:prstGeom prst="rect">
            <a:avLst/>
          </a:prstGeom>
          <a:noFill/>
          <a:ln/>
        </p:spPr>
        <p:txBody>
          <a:bodyPr wrap="square" lIns="0" tIns="0" rIns="0" bIns="0" rtlCol="0" anchor="t"/>
          <a:lstStyle/>
          <a:p>
            <a:pPr indent="0" marL="0">
              <a:buNone/>
            </a:pPr>
            <a:r>
              <a:rPr lang="en-US" sz="950" dirty="0">
                <a:solidFill>
                  <a:srgbClr val="F5A524"/>
                </a:solidFill>
                <a:latin typeface="Calibri" pitchFamily="34" charset="0"/>
                <a:ea typeface="Calibri" pitchFamily="34" charset="-122"/>
                <a:cs typeface="Calibri" pitchFamily="34" charset="-120"/>
              </a:rPr>
              <a:t>Hop 3→4 inside Bank B:</a:t>
            </a:r>
            <a:endParaRPr lang="en-US" sz="950" dirty="0"/>
          </a:p>
          <a:p>
            <a:pPr indent="0" marL="0">
              <a:buNone/>
            </a:pPr>
            <a:r>
              <a:rPr lang="en-US" sz="950" dirty="0">
                <a:solidFill>
                  <a:srgbClr val="F5A524"/>
                </a:solidFill>
                <a:latin typeface="Calibri" pitchFamily="34" charset="0"/>
                <a:ea typeface="Calibri" pitchFamily="34" charset="-122"/>
                <a:cs typeface="Calibri" pitchFamily="34" charset="-120"/>
              </a:rPr>
              <a:t>Bank A never sees it</a:t>
            </a:r>
            <a:endParaRPr lang="en-US" sz="950" dirty="0"/>
          </a:p>
        </p:txBody>
      </p:sp>
      <p:sp>
        <p:nvSpPr>
          <p:cNvPr id="27" name="Text 25"/>
          <p:cNvSpPr txBox="1"/>
          <p:nvPr/>
        </p:nvSpPr>
        <p:spPr>
          <a:xfrm>
            <a:off x="1508760" y="3538728"/>
            <a:ext cx="1828800" cy="365760"/>
          </a:xfrm>
          <a:prstGeom prst="rect">
            <a:avLst/>
          </a:prstGeom>
          <a:noFill/>
          <a:ln/>
        </p:spPr>
        <p:txBody>
          <a:bodyPr wrap="square" lIns="0" tIns="0" rIns="0" bIns="0" rtlCol="0" anchor="t"/>
          <a:lstStyle/>
          <a:p>
            <a:pPr algn="ctr" indent="0" marL="0">
              <a:buNone/>
            </a:pPr>
            <a:r>
              <a:rPr lang="en-US" sz="1900" b="1" dirty="0">
                <a:solidFill>
                  <a:srgbClr val="FFFFFF"/>
                </a:solidFill>
                <a:latin typeface="Cambria" pitchFamily="34" charset="0"/>
                <a:ea typeface="Cambria" pitchFamily="34" charset="-122"/>
                <a:cs typeface="Cambria" pitchFamily="34" charset="-120"/>
              </a:rPr>
              <a:t>₹2.4 Cr</a:t>
            </a:r>
            <a:endParaRPr lang="en-US" sz="1900" dirty="0"/>
          </a:p>
        </p:txBody>
      </p:sp>
      <p:sp>
        <p:nvSpPr>
          <p:cNvPr id="28" name="Text 26"/>
          <p:cNvSpPr txBox="1"/>
          <p:nvPr/>
        </p:nvSpPr>
        <p:spPr>
          <a:xfrm>
            <a:off x="1508760" y="3886200"/>
            <a:ext cx="1828800" cy="256032"/>
          </a:xfrm>
          <a:prstGeom prst="rect">
            <a:avLst/>
          </a:prstGeom>
          <a:noFill/>
          <a:ln/>
        </p:spPr>
        <p:txBody>
          <a:bodyPr wrap="square" lIns="0" tIns="0" rIns="0" bIns="0" rtlCol="0" anchor="t"/>
          <a:lstStyle/>
          <a:p>
            <a:pPr algn="ctr" indent="0" marL="0">
              <a:buNone/>
            </a:pPr>
            <a:r>
              <a:rPr lang="en-US" sz="1050" dirty="0">
                <a:solidFill>
                  <a:srgbClr val="9AAEC6"/>
                </a:solidFill>
                <a:latin typeface="Calibri" pitchFamily="34" charset="0"/>
                <a:ea typeface="Calibri" pitchFamily="34" charset="-122"/>
                <a:cs typeface="Calibri" pitchFamily="34" charset="-120"/>
              </a:rPr>
              <a:t>back to origin</a:t>
            </a:r>
            <a:endParaRPr lang="en-US" sz="1050" dirty="0"/>
          </a:p>
        </p:txBody>
      </p:sp>
      <p:sp>
        <p:nvSpPr>
          <p:cNvPr id="29" name="Text 27"/>
          <p:cNvSpPr txBox="1"/>
          <p:nvPr/>
        </p:nvSpPr>
        <p:spPr>
          <a:xfrm>
            <a:off x="548640" y="5760720"/>
            <a:ext cx="4114800" cy="548640"/>
          </a:xfrm>
          <a:prstGeom prst="rect">
            <a:avLst/>
          </a:prstGeom>
          <a:noFill/>
          <a:ln/>
        </p:spPr>
        <p:txBody>
          <a:bodyPr wrap="square" lIns="0" tIns="0" rIns="0" bIns="0" rtlCol="0" anchor="t"/>
          <a:lstStyle/>
          <a:p>
            <a:pPr indent="0" marL="0">
              <a:buNone/>
            </a:pPr>
            <a:r>
              <a:rPr lang="en-US" sz="900" i="1" dirty="0">
                <a:solidFill>
                  <a:srgbClr val="5E7390"/>
                </a:solidFill>
                <a:latin typeface="Calibri" pitchFamily="34" charset="0"/>
                <a:ea typeface="Calibri" pitchFamily="34" charset="-122"/>
                <a:cs typeface="Calibri" pitchFamily="34" charset="-120"/>
              </a:rPr>
              <a:t>Verified on the ring’s own transactions per view. Bank views keep outside accounts opaque: a bank can’t tell two of them are one person.</a:t>
            </a:r>
            <a:endParaRPr lang="en-US" sz="900" dirty="0"/>
          </a:p>
        </p:txBody>
      </p:sp>
      <p:sp>
        <p:nvSpPr>
          <p:cNvPr id="30" name="Shape 28"/>
          <p:cNvSpPr/>
          <p:nvPr/>
        </p:nvSpPr>
        <p:spPr>
          <a:xfrm>
            <a:off x="4846320" y="1783080"/>
            <a:ext cx="2194560" cy="1371600"/>
          </a:xfrm>
          <a:prstGeom prst="roundRect">
            <a:avLst>
              <a:gd name="adj" fmla="val 6667"/>
            </a:avLst>
          </a:prstGeom>
          <a:solidFill>
            <a:srgbClr val="0E1829"/>
          </a:solidFill>
          <a:ln w="9525">
            <a:solidFill>
              <a:srgbClr val="1F3352"/>
            </a:solidFill>
            <a:prstDash val="solid"/>
          </a:ln>
        </p:spPr>
      </p:sp>
      <p:sp>
        <p:nvSpPr>
          <p:cNvPr id="31" name="Shape 29"/>
          <p:cNvSpPr/>
          <p:nvPr/>
        </p:nvSpPr>
        <p:spPr>
          <a:xfrm>
            <a:off x="5010912" y="1947672"/>
            <a:ext cx="420624" cy="420624"/>
          </a:xfrm>
          <a:prstGeom prst="ellipse">
            <a:avLst/>
          </a:prstGeom>
          <a:solidFill>
            <a:srgbClr val="071A24"/>
          </a:solidFill>
          <a:ln w="15875">
            <a:solidFill>
              <a:srgbClr val="22D3EE"/>
            </a:solidFill>
            <a:prstDash val="solid"/>
          </a:ln>
        </p:spPr>
      </p:sp>
      <p:pic>
        <p:nvPicPr>
          <p:cNvPr id="32" name="Image 0" descr="preencoded.png">    </p:cNvPr>
          <p:cNvPicPr>
            <a:picLocks noChangeAspect="1"/>
          </p:cNvPicPr>
          <p:nvPr/>
        </p:nvPicPr>
        <p:blipFill>
          <a:blip r:embed="rId2"/>
          <a:stretch>
            <a:fillRect/>
          </a:stretch>
        </p:blipFill>
        <p:spPr>
          <a:xfrm>
            <a:off x="5116068" y="2052828"/>
            <a:ext cx="210312" cy="210312"/>
          </a:xfrm>
          <a:prstGeom prst="rect">
            <a:avLst/>
          </a:prstGeom>
        </p:spPr>
      </p:pic>
      <p:sp>
        <p:nvSpPr>
          <p:cNvPr id="33" name="Text 30"/>
          <p:cNvSpPr txBox="1"/>
          <p:nvPr/>
        </p:nvSpPr>
        <p:spPr>
          <a:xfrm>
            <a:off x="5532120" y="1965960"/>
            <a:ext cx="14630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Bank A alone</a:t>
            </a:r>
            <a:endParaRPr lang="en-US" sz="1300" dirty="0"/>
          </a:p>
        </p:txBody>
      </p:sp>
      <p:sp>
        <p:nvSpPr>
          <p:cNvPr id="34" name="Text 31"/>
          <p:cNvSpPr txBox="1"/>
          <p:nvPr/>
        </p:nvSpPr>
        <p:spPr>
          <a:xfrm>
            <a:off x="5010912" y="2468880"/>
            <a:ext cx="1965960" cy="256032"/>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5 of 6 hops · 78% of network</a:t>
            </a:r>
            <a:endParaRPr lang="en-US" sz="1000" dirty="0"/>
          </a:p>
        </p:txBody>
      </p:sp>
      <p:pic>
        <p:nvPicPr>
          <p:cNvPr id="35" name="Image 1" descr="preencoded.png">    </p:cNvPr>
          <p:cNvPicPr>
            <a:picLocks noChangeAspect="1"/>
          </p:cNvPicPr>
          <p:nvPr/>
        </p:nvPicPr>
        <p:blipFill>
          <a:blip r:embed="rId3"/>
          <a:stretch>
            <a:fillRect/>
          </a:stretch>
        </p:blipFill>
        <p:spPr>
          <a:xfrm>
            <a:off x="5010912" y="2788920"/>
            <a:ext cx="201168" cy="201168"/>
          </a:xfrm>
          <a:prstGeom prst="rect">
            <a:avLst/>
          </a:prstGeom>
        </p:spPr>
      </p:pic>
      <p:sp>
        <p:nvSpPr>
          <p:cNvPr id="36" name="Text 32"/>
          <p:cNvSpPr txBox="1"/>
          <p:nvPr/>
        </p:nvSpPr>
        <p:spPr>
          <a:xfrm>
            <a:off x="5276088" y="2761488"/>
            <a:ext cx="1737360" cy="256032"/>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Loop never closes</a:t>
            </a:r>
            <a:endParaRPr lang="en-US" sz="1100" dirty="0"/>
          </a:p>
        </p:txBody>
      </p:sp>
      <p:sp>
        <p:nvSpPr>
          <p:cNvPr id="37" name="Shape 33"/>
          <p:cNvSpPr/>
          <p:nvPr/>
        </p:nvSpPr>
        <p:spPr>
          <a:xfrm>
            <a:off x="7150608" y="1783080"/>
            <a:ext cx="2194560" cy="1371600"/>
          </a:xfrm>
          <a:prstGeom prst="roundRect">
            <a:avLst>
              <a:gd name="adj" fmla="val 6667"/>
            </a:avLst>
          </a:prstGeom>
          <a:solidFill>
            <a:srgbClr val="0E1829"/>
          </a:solidFill>
          <a:ln w="9525">
            <a:solidFill>
              <a:srgbClr val="1F3352"/>
            </a:solidFill>
            <a:prstDash val="solid"/>
          </a:ln>
        </p:spPr>
      </p:sp>
      <p:sp>
        <p:nvSpPr>
          <p:cNvPr id="38" name="Shape 34"/>
          <p:cNvSpPr/>
          <p:nvPr/>
        </p:nvSpPr>
        <p:spPr>
          <a:xfrm>
            <a:off x="7315200" y="1947672"/>
            <a:ext cx="420624" cy="420624"/>
          </a:xfrm>
          <a:prstGeom prst="ellipse">
            <a:avLst/>
          </a:prstGeom>
          <a:solidFill>
            <a:srgbClr val="2A1E08"/>
          </a:solidFill>
          <a:ln w="15875">
            <a:solidFill>
              <a:srgbClr val="F5A524"/>
            </a:solidFill>
            <a:prstDash val="solid"/>
          </a:ln>
        </p:spPr>
      </p:sp>
      <p:pic>
        <p:nvPicPr>
          <p:cNvPr id="39" name="Image 2" descr="preencoded.png">    </p:cNvPr>
          <p:cNvPicPr>
            <a:picLocks noChangeAspect="1"/>
          </p:cNvPicPr>
          <p:nvPr/>
        </p:nvPicPr>
        <p:blipFill>
          <a:blip r:embed="rId4"/>
          <a:stretch>
            <a:fillRect/>
          </a:stretch>
        </p:blipFill>
        <p:spPr>
          <a:xfrm>
            <a:off x="7420356" y="2052828"/>
            <a:ext cx="210312" cy="210312"/>
          </a:xfrm>
          <a:prstGeom prst="rect">
            <a:avLst/>
          </a:prstGeom>
        </p:spPr>
      </p:pic>
      <p:sp>
        <p:nvSpPr>
          <p:cNvPr id="40" name="Text 35"/>
          <p:cNvSpPr txBox="1"/>
          <p:nvPr/>
        </p:nvSpPr>
        <p:spPr>
          <a:xfrm>
            <a:off x="7836408" y="1965960"/>
            <a:ext cx="14630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Bank B alone</a:t>
            </a:r>
            <a:endParaRPr lang="en-US" sz="1300" dirty="0"/>
          </a:p>
        </p:txBody>
      </p:sp>
      <p:sp>
        <p:nvSpPr>
          <p:cNvPr id="41" name="Text 36"/>
          <p:cNvSpPr txBox="1"/>
          <p:nvPr/>
        </p:nvSpPr>
        <p:spPr>
          <a:xfrm>
            <a:off x="7315200" y="2468880"/>
            <a:ext cx="1965960" cy="256032"/>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5 of 6 hops · 73% of network</a:t>
            </a:r>
            <a:endParaRPr lang="en-US" sz="1000" dirty="0"/>
          </a:p>
        </p:txBody>
      </p:sp>
      <p:pic>
        <p:nvPicPr>
          <p:cNvPr id="42" name="Image 3" descr="preencoded.png">    </p:cNvPr>
          <p:cNvPicPr>
            <a:picLocks noChangeAspect="1"/>
          </p:cNvPicPr>
          <p:nvPr/>
        </p:nvPicPr>
        <p:blipFill>
          <a:blip r:embed="rId5"/>
          <a:stretch>
            <a:fillRect/>
          </a:stretch>
        </p:blipFill>
        <p:spPr>
          <a:xfrm>
            <a:off x="7315200" y="2788920"/>
            <a:ext cx="201168" cy="201168"/>
          </a:xfrm>
          <a:prstGeom prst="rect">
            <a:avLst/>
          </a:prstGeom>
        </p:spPr>
      </p:pic>
      <p:sp>
        <p:nvSpPr>
          <p:cNvPr id="43" name="Text 37"/>
          <p:cNvSpPr txBox="1"/>
          <p:nvPr/>
        </p:nvSpPr>
        <p:spPr>
          <a:xfrm>
            <a:off x="7580376" y="2761488"/>
            <a:ext cx="1737360" cy="256032"/>
          </a:xfrm>
          <a:prstGeom prst="rect">
            <a:avLst/>
          </a:prstGeom>
          <a:noFill/>
          <a:ln/>
        </p:spPr>
        <p:txBody>
          <a:bodyPr wrap="square" lIns="0" tIns="0" rIns="0" bIns="0" rtlCol="0" anchor="t"/>
          <a:lstStyle/>
          <a:p>
            <a:pPr indent="0" marL="0">
              <a:buNone/>
            </a:pPr>
            <a:r>
              <a:rPr lang="en-US" sz="1100" b="1" dirty="0">
                <a:solidFill>
                  <a:srgbClr val="F2545B"/>
                </a:solidFill>
                <a:latin typeface="Calibri" pitchFamily="34" charset="0"/>
                <a:ea typeface="Calibri" pitchFamily="34" charset="-122"/>
                <a:cs typeface="Calibri" pitchFamily="34" charset="-120"/>
              </a:rPr>
              <a:t>Loop never closes</a:t>
            </a:r>
            <a:endParaRPr lang="en-US" sz="1100" dirty="0"/>
          </a:p>
        </p:txBody>
      </p:sp>
      <p:sp>
        <p:nvSpPr>
          <p:cNvPr id="44" name="Shape 38"/>
          <p:cNvSpPr/>
          <p:nvPr/>
        </p:nvSpPr>
        <p:spPr>
          <a:xfrm>
            <a:off x="9454896" y="1783080"/>
            <a:ext cx="2194560" cy="1371600"/>
          </a:xfrm>
          <a:prstGeom prst="roundRect">
            <a:avLst>
              <a:gd name="adj" fmla="val 6667"/>
            </a:avLst>
          </a:prstGeom>
          <a:solidFill>
            <a:srgbClr val="082330"/>
          </a:solidFill>
          <a:ln w="15875">
            <a:solidFill>
              <a:srgbClr val="22D3EE"/>
            </a:solidFill>
            <a:prstDash val="solid"/>
          </a:ln>
        </p:spPr>
      </p:sp>
      <p:sp>
        <p:nvSpPr>
          <p:cNvPr id="45" name="Shape 39"/>
          <p:cNvSpPr/>
          <p:nvPr/>
        </p:nvSpPr>
        <p:spPr>
          <a:xfrm>
            <a:off x="9619488" y="1947672"/>
            <a:ext cx="420624" cy="420624"/>
          </a:xfrm>
          <a:prstGeom prst="ellipse">
            <a:avLst/>
          </a:prstGeom>
          <a:solidFill>
            <a:srgbClr val="071A24"/>
          </a:solidFill>
          <a:ln w="15875">
            <a:solidFill>
              <a:srgbClr val="22D3EE"/>
            </a:solidFill>
            <a:prstDash val="solid"/>
          </a:ln>
        </p:spPr>
      </p:sp>
      <p:pic>
        <p:nvPicPr>
          <p:cNvPr id="46" name="Image 4" descr="preencoded.png">    </p:cNvPr>
          <p:cNvPicPr>
            <a:picLocks noChangeAspect="1"/>
          </p:cNvPicPr>
          <p:nvPr/>
        </p:nvPicPr>
        <p:blipFill>
          <a:blip r:embed="rId6"/>
          <a:stretch>
            <a:fillRect/>
          </a:stretch>
        </p:blipFill>
        <p:spPr>
          <a:xfrm>
            <a:off x="9724644" y="2052828"/>
            <a:ext cx="210312" cy="210312"/>
          </a:xfrm>
          <a:prstGeom prst="rect">
            <a:avLst/>
          </a:prstGeom>
        </p:spPr>
      </p:pic>
      <p:sp>
        <p:nvSpPr>
          <p:cNvPr id="47" name="Text 40"/>
          <p:cNvSpPr txBox="1"/>
          <p:nvPr/>
        </p:nvSpPr>
        <p:spPr>
          <a:xfrm>
            <a:off x="10140696" y="1965960"/>
            <a:ext cx="14630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Consortium</a:t>
            </a:r>
            <a:endParaRPr lang="en-US" sz="1300" dirty="0"/>
          </a:p>
        </p:txBody>
      </p:sp>
      <p:sp>
        <p:nvSpPr>
          <p:cNvPr id="48" name="Text 41"/>
          <p:cNvSpPr txBox="1"/>
          <p:nvPr/>
        </p:nvSpPr>
        <p:spPr>
          <a:xfrm>
            <a:off x="9619488" y="2468880"/>
            <a:ext cx="1965960" cy="256032"/>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6 of 6 hops · 100%</a:t>
            </a:r>
            <a:endParaRPr lang="en-US" sz="1000" dirty="0"/>
          </a:p>
        </p:txBody>
      </p:sp>
      <p:pic>
        <p:nvPicPr>
          <p:cNvPr id="49" name="Image 5" descr="preencoded.png">    </p:cNvPr>
          <p:cNvPicPr>
            <a:picLocks noChangeAspect="1"/>
          </p:cNvPicPr>
          <p:nvPr/>
        </p:nvPicPr>
        <p:blipFill>
          <a:blip r:embed="rId7"/>
          <a:stretch>
            <a:fillRect/>
          </a:stretch>
        </p:blipFill>
        <p:spPr>
          <a:xfrm>
            <a:off x="9619488" y="2788920"/>
            <a:ext cx="201168" cy="201168"/>
          </a:xfrm>
          <a:prstGeom prst="rect">
            <a:avLst/>
          </a:prstGeom>
        </p:spPr>
      </p:pic>
      <p:sp>
        <p:nvSpPr>
          <p:cNvPr id="50" name="Text 42"/>
          <p:cNvSpPr txBox="1"/>
          <p:nvPr/>
        </p:nvSpPr>
        <p:spPr>
          <a:xfrm>
            <a:off x="9884664" y="2761488"/>
            <a:ext cx="1737360" cy="256032"/>
          </a:xfrm>
          <a:prstGeom prst="rect">
            <a:avLst/>
          </a:prstGeom>
          <a:noFill/>
          <a:ln/>
        </p:spPr>
        <p:txBody>
          <a:bodyPr wrap="square" lIns="0" tIns="0" rIns="0" bIns="0" rtlCol="0" anchor="t"/>
          <a:lstStyle/>
          <a:p>
            <a:pPr indent="0" marL="0">
              <a:buNone/>
            </a:pPr>
            <a:r>
              <a:rPr lang="en-US" sz="1100" b="1" dirty="0">
                <a:solidFill>
                  <a:srgbClr val="34D399"/>
                </a:solidFill>
                <a:latin typeface="Calibri" pitchFamily="34" charset="0"/>
                <a:ea typeface="Calibri" pitchFamily="34" charset="-122"/>
                <a:cs typeface="Calibri" pitchFamily="34" charset="-120"/>
              </a:rPr>
              <a:t>Caught: money returns</a:t>
            </a:r>
            <a:endParaRPr lang="en-US" sz="1100" dirty="0"/>
          </a:p>
        </p:txBody>
      </p:sp>
      <p:sp>
        <p:nvSpPr>
          <p:cNvPr id="51" name="Shape 43"/>
          <p:cNvSpPr/>
          <p:nvPr/>
        </p:nvSpPr>
        <p:spPr>
          <a:xfrm>
            <a:off x="4846320" y="3337560"/>
            <a:ext cx="3246120" cy="2788920"/>
          </a:xfrm>
          <a:prstGeom prst="roundRect">
            <a:avLst>
              <a:gd name="adj" fmla="val 3279"/>
            </a:avLst>
          </a:prstGeom>
          <a:solidFill>
            <a:srgbClr val="082330"/>
          </a:solidFill>
          <a:ln w="12700">
            <a:solidFill>
              <a:srgbClr val="22D3EE"/>
            </a:solidFill>
            <a:prstDash val="solid"/>
          </a:ln>
        </p:spPr>
      </p:sp>
      <p:sp>
        <p:nvSpPr>
          <p:cNvPr id="52" name="Shape 44"/>
          <p:cNvSpPr/>
          <p:nvPr/>
        </p:nvSpPr>
        <p:spPr>
          <a:xfrm>
            <a:off x="5010912" y="3474720"/>
            <a:ext cx="402336" cy="402336"/>
          </a:xfrm>
          <a:prstGeom prst="ellipse">
            <a:avLst/>
          </a:prstGeom>
          <a:solidFill>
            <a:srgbClr val="071A24"/>
          </a:solidFill>
          <a:ln w="15875">
            <a:solidFill>
              <a:srgbClr val="22D3EE"/>
            </a:solidFill>
            <a:prstDash val="solid"/>
          </a:ln>
        </p:spPr>
      </p:sp>
      <p:pic>
        <p:nvPicPr>
          <p:cNvPr id="53" name="Image 6" descr="preencoded.png">    </p:cNvPr>
          <p:cNvPicPr>
            <a:picLocks noChangeAspect="1"/>
          </p:cNvPicPr>
          <p:nvPr/>
        </p:nvPicPr>
        <p:blipFill>
          <a:blip r:embed="rId8"/>
          <a:stretch>
            <a:fillRect/>
          </a:stretch>
        </p:blipFill>
        <p:spPr>
          <a:xfrm>
            <a:off x="5111496" y="3575304"/>
            <a:ext cx="201168" cy="201168"/>
          </a:xfrm>
          <a:prstGeom prst="rect">
            <a:avLst/>
          </a:prstGeom>
        </p:spPr>
      </p:pic>
      <p:sp>
        <p:nvSpPr>
          <p:cNvPr id="54" name="Text 45"/>
          <p:cNvSpPr txBox="1"/>
          <p:nvPr/>
        </p:nvSpPr>
        <p:spPr>
          <a:xfrm>
            <a:off x="5504688" y="3502152"/>
            <a:ext cx="25146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What crosses the boundary</a:t>
            </a:r>
            <a:endParaRPr lang="en-US" sz="1250" dirty="0"/>
          </a:p>
        </p:txBody>
      </p:sp>
      <p:sp>
        <p:nvSpPr>
          <p:cNvPr id="55" name="Text 46"/>
          <p:cNvSpPr txBox="1"/>
          <p:nvPr/>
        </p:nvSpPr>
        <p:spPr>
          <a:xfrm>
            <a:off x="5029200" y="3977640"/>
            <a:ext cx="2971800" cy="132588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E8EEF6"/>
                </a:solidFill>
                <a:latin typeface="Calibri" pitchFamily="34" charset="0"/>
                <a:ea typeface="Calibri" pitchFamily="34" charset="-122"/>
                <a:cs typeface="Calibri" pitchFamily="34" charset="-120"/>
              </a:rPr>
              <a:t>Pseudonym: sha256(PAN + salt)</a:t>
            </a:r>
            <a:endParaRPr lang="en-US" sz="1050" dirty="0"/>
          </a:p>
          <a:p>
            <a:pPr marL="342900" indent="-342900">
              <a:spcAft>
                <a:spcPts val="200"/>
              </a:spcAft>
              <a:buSzPct val="100000"/>
              <a:buChar char="•"/>
            </a:pPr>
            <a:r>
              <a:rPr lang="en-US" sz="1050" dirty="0">
                <a:solidFill>
                  <a:srgbClr val="E8EEF6"/>
                </a:solidFill>
                <a:latin typeface="Calibri" pitchFamily="34" charset="0"/>
                <a:ea typeface="Calibri" pitchFamily="34" charset="-122"/>
                <a:cs typeface="Calibri" pitchFamily="34" charset="-120"/>
              </a:rPr>
              <a:t>Amount band, never the amount</a:t>
            </a:r>
            <a:endParaRPr lang="en-US" sz="1050" dirty="0"/>
          </a:p>
          <a:p>
            <a:pPr marL="342900" indent="-342900">
              <a:spcAft>
                <a:spcPts val="200"/>
              </a:spcAft>
              <a:buSzPct val="100000"/>
              <a:buChar char="•"/>
            </a:pPr>
            <a:r>
              <a:rPr lang="en-US" sz="1050" dirty="0">
                <a:solidFill>
                  <a:srgbClr val="E8EEF6"/>
                </a:solidFill>
                <a:latin typeface="Calibri" pitchFamily="34" charset="0"/>
                <a:ea typeface="Calibri" pitchFamily="34" charset="-122"/>
                <a:cs typeface="Calibri" pitchFamily="34" charset="-120"/>
              </a:rPr>
              <a:t>Hour bucket, never the time</a:t>
            </a:r>
            <a:endParaRPr lang="en-US" sz="1050" dirty="0"/>
          </a:p>
          <a:p>
            <a:pPr marL="342900" indent="-342900">
              <a:spcAft>
                <a:spcPts val="200"/>
              </a:spcAft>
              <a:buSzPct val="100000"/>
              <a:buChar char="•"/>
            </a:pPr>
            <a:r>
              <a:rPr lang="en-US" sz="1050" dirty="0">
                <a:solidFill>
                  <a:srgbClr val="E8EEF6"/>
                </a:solidFill>
                <a:latin typeface="Calibri" pitchFamily="34" charset="0"/>
                <a:ea typeface="Calibri" pitchFamily="34" charset="-122"/>
                <a:cs typeface="Calibri" pitchFamily="34" charset="-120"/>
              </a:rPr>
              <a:t>Hashed transaction references</a:t>
            </a:r>
            <a:endParaRPr lang="en-US" sz="1050" dirty="0"/>
          </a:p>
          <a:p>
            <a:pPr marL="342900" indent="-342900">
              <a:spcAft>
                <a:spcPts val="200"/>
              </a:spcAft>
              <a:buSzPct val="100000"/>
              <a:buChar char="•"/>
            </a:pPr>
            <a:r>
              <a:rPr lang="en-US" sz="1050" dirty="0">
                <a:solidFill>
                  <a:srgbClr val="E8EEF6"/>
                </a:solidFill>
                <a:latin typeface="Calibri" pitchFamily="34" charset="0"/>
                <a:ea typeface="Calibri" pitchFamily="34" charset="-122"/>
                <a:cs typeface="Calibri" pitchFamily="34" charset="-120"/>
              </a:rPr>
              <a:t>Each bank’s yes/no</a:t>
            </a:r>
            <a:endParaRPr lang="en-US" sz="1050" dirty="0"/>
          </a:p>
        </p:txBody>
      </p:sp>
      <p:pic>
        <p:nvPicPr>
          <p:cNvPr id="56" name="Image 7" descr="preencoded.png">    </p:cNvPr>
          <p:cNvPicPr>
            <a:picLocks noChangeAspect="1"/>
          </p:cNvPicPr>
          <p:nvPr/>
        </p:nvPicPr>
        <p:blipFill>
          <a:blip r:embed="rId9"/>
          <a:stretch>
            <a:fillRect/>
          </a:stretch>
        </p:blipFill>
        <p:spPr>
          <a:xfrm>
            <a:off x="5029200" y="5394960"/>
            <a:ext cx="237744" cy="237744"/>
          </a:xfrm>
          <a:prstGeom prst="rect">
            <a:avLst/>
          </a:prstGeom>
        </p:spPr>
      </p:pic>
      <p:sp>
        <p:nvSpPr>
          <p:cNvPr id="57" name="Text 47"/>
          <p:cNvSpPr txBox="1"/>
          <p:nvPr/>
        </p:nvSpPr>
        <p:spPr>
          <a:xfrm>
            <a:off x="5349240" y="5321808"/>
            <a:ext cx="2651760" cy="749808"/>
          </a:xfrm>
          <a:prstGeom prst="rect">
            <a:avLst/>
          </a:prstGeom>
          <a:noFill/>
          <a:ln/>
        </p:spPr>
        <p:txBody>
          <a:bodyPr wrap="square" lIns="0" tIns="0" rIns="0" bIns="0" rtlCol="0" anchor="t"/>
          <a:lstStyle/>
          <a:p>
            <a:pPr indent="0" marL="0">
              <a:buNone/>
            </a:pPr>
            <a:r>
              <a:rPr lang="en-US" sz="900" dirty="0">
                <a:solidFill>
                  <a:srgbClr val="9AAEC6"/>
                </a:solidFill>
                <a:latin typeface="Calibri" pitchFamily="34" charset="0"/>
                <a:ea typeface="Calibri" pitchFamily="34" charset="-122"/>
                <a:cs typeface="Calibri" pitchFamily="34" charset="-120"/>
              </a:rPr>
              <a:t>Never shared: names, PANs, addresses, balances, KYC, account numbers. The code refuses to run if one leaks. No PAN = bank-local pseudonym.</a:t>
            </a:r>
            <a:endParaRPr lang="en-US" sz="900" dirty="0"/>
          </a:p>
        </p:txBody>
      </p:sp>
      <p:sp>
        <p:nvSpPr>
          <p:cNvPr id="58" name="Shape 48"/>
          <p:cNvSpPr/>
          <p:nvPr/>
        </p:nvSpPr>
        <p:spPr>
          <a:xfrm>
            <a:off x="8275320" y="3337560"/>
            <a:ext cx="3383280" cy="841248"/>
          </a:xfrm>
          <a:prstGeom prst="roundRect">
            <a:avLst>
              <a:gd name="adj" fmla="val 10870"/>
            </a:avLst>
          </a:prstGeom>
          <a:solidFill>
            <a:srgbClr val="0E1829"/>
          </a:solidFill>
          <a:ln w="12700">
            <a:solidFill>
              <a:srgbClr val="F5A524"/>
            </a:solidFill>
            <a:prstDash val="solid"/>
          </a:ln>
        </p:spPr>
      </p:sp>
      <p:sp>
        <p:nvSpPr>
          <p:cNvPr id="59" name="Text 49"/>
          <p:cNvSpPr txBox="1"/>
          <p:nvPr/>
        </p:nvSpPr>
        <p:spPr>
          <a:xfrm>
            <a:off x="8412480" y="3392424"/>
            <a:ext cx="1143000" cy="420624"/>
          </a:xfrm>
          <a:prstGeom prst="rect">
            <a:avLst/>
          </a:prstGeom>
          <a:noFill/>
          <a:ln/>
        </p:spPr>
        <p:txBody>
          <a:bodyPr wrap="square" lIns="0" tIns="0" rIns="0" bIns="0" rtlCol="0" anchor="ctr"/>
          <a:lstStyle/>
          <a:p>
            <a:pPr indent="0" marL="0">
              <a:buNone/>
            </a:pPr>
            <a:r>
              <a:rPr lang="en-US" sz="2200" b="1" dirty="0">
                <a:solidFill>
                  <a:srgbClr val="F5A524"/>
                </a:solidFill>
                <a:latin typeface="Cambria" pitchFamily="34" charset="0"/>
                <a:ea typeface="Cambria" pitchFamily="34" charset="-122"/>
                <a:cs typeface="Cambria" pitchFamily="34" charset="-120"/>
              </a:rPr>
              <a:t>2,050</a:t>
            </a:r>
            <a:endParaRPr lang="en-US" sz="2200" dirty="0"/>
          </a:p>
        </p:txBody>
      </p:sp>
      <p:sp>
        <p:nvSpPr>
          <p:cNvPr id="60" name="Text 50"/>
          <p:cNvSpPr txBox="1"/>
          <p:nvPr/>
        </p:nvSpPr>
        <p:spPr>
          <a:xfrm>
            <a:off x="8412480" y="3831336"/>
            <a:ext cx="1143000" cy="292608"/>
          </a:xfrm>
          <a:prstGeom prst="rect">
            <a:avLst/>
          </a:prstGeom>
          <a:noFill/>
          <a:ln/>
        </p:spPr>
        <p:txBody>
          <a:bodyPr wrap="square" lIns="0" tIns="0" rIns="0" bIns="0" rtlCol="0" anchor="t"/>
          <a:lstStyle/>
          <a:p>
            <a:pPr indent="0" marL="0">
              <a:buNone/>
            </a:pPr>
            <a:r>
              <a:rPr lang="en-US" sz="900" b="1" dirty="0">
                <a:solidFill>
                  <a:srgbClr val="FFFFFF"/>
                </a:solidFill>
                <a:latin typeface="Calibri" pitchFamily="34" charset="0"/>
                <a:ea typeface="Calibri" pitchFamily="34" charset="-122"/>
                <a:cs typeface="Calibri" pitchFamily="34" charset="-120"/>
              </a:rPr>
              <a:t>candidate loops</a:t>
            </a:r>
            <a:endParaRPr lang="en-US" sz="900" dirty="0"/>
          </a:p>
        </p:txBody>
      </p:sp>
      <p:sp>
        <p:nvSpPr>
          <p:cNvPr id="61" name="Text 51"/>
          <p:cNvSpPr txBox="1"/>
          <p:nvPr/>
        </p:nvSpPr>
        <p:spPr>
          <a:xfrm>
            <a:off x="9601200" y="3410712"/>
            <a:ext cx="1965960" cy="713232"/>
          </a:xfrm>
          <a:prstGeom prst="rect">
            <a:avLst/>
          </a:prstGeom>
          <a:noFill/>
          <a:ln/>
        </p:spPr>
        <p:txBody>
          <a:bodyPr wrap="square" lIns="0" tIns="0" rIns="0" bIns="0" rtlCol="0" anchor="ctr"/>
          <a:lstStyle/>
          <a:p>
            <a:pPr indent="0" marL="0">
              <a:buNone/>
            </a:pPr>
            <a:r>
              <a:rPr lang="en-US" sz="950" dirty="0">
                <a:solidFill>
                  <a:srgbClr val="9AAEC6"/>
                </a:solidFill>
                <a:latin typeface="Calibri" pitchFamily="34" charset="0"/>
                <a:ea typeface="Calibri" pitchFamily="34" charset="-122"/>
                <a:cs typeface="Calibri" pitchFamily="34" charset="-120"/>
              </a:rPr>
              <a:t>Bands and hour buckets alone find many lookalikes</a:t>
            </a:r>
            <a:endParaRPr lang="en-US" sz="950" dirty="0"/>
          </a:p>
        </p:txBody>
      </p:sp>
      <p:sp>
        <p:nvSpPr>
          <p:cNvPr id="62" name="Shape 52"/>
          <p:cNvSpPr/>
          <p:nvPr/>
        </p:nvSpPr>
        <p:spPr>
          <a:xfrm>
            <a:off x="8275320" y="4288536"/>
            <a:ext cx="3383280" cy="841248"/>
          </a:xfrm>
          <a:prstGeom prst="roundRect">
            <a:avLst>
              <a:gd name="adj" fmla="val 10870"/>
            </a:avLst>
          </a:prstGeom>
          <a:solidFill>
            <a:srgbClr val="0E1829"/>
          </a:solidFill>
          <a:ln w="12700">
            <a:solidFill>
              <a:srgbClr val="22D3EE"/>
            </a:solidFill>
            <a:prstDash val="solid"/>
          </a:ln>
        </p:spPr>
      </p:sp>
      <p:sp>
        <p:nvSpPr>
          <p:cNvPr id="63" name="Text 53"/>
          <p:cNvSpPr txBox="1"/>
          <p:nvPr/>
        </p:nvSpPr>
        <p:spPr>
          <a:xfrm>
            <a:off x="8412480" y="4343400"/>
            <a:ext cx="1143000" cy="420624"/>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each bank</a:t>
            </a:r>
            <a:endParaRPr lang="en-US" sz="1400" dirty="0"/>
          </a:p>
        </p:txBody>
      </p:sp>
      <p:sp>
        <p:nvSpPr>
          <p:cNvPr id="64" name="Text 54"/>
          <p:cNvSpPr txBox="1"/>
          <p:nvPr/>
        </p:nvSpPr>
        <p:spPr>
          <a:xfrm>
            <a:off x="8412480" y="4782312"/>
            <a:ext cx="1143000" cy="292608"/>
          </a:xfrm>
          <a:prstGeom prst="rect">
            <a:avLst/>
          </a:prstGeom>
          <a:noFill/>
          <a:ln/>
        </p:spPr>
        <p:txBody>
          <a:bodyPr wrap="square" lIns="0" tIns="0" rIns="0" bIns="0" rtlCol="0" anchor="t"/>
          <a:lstStyle/>
          <a:p>
            <a:pPr indent="0" marL="0">
              <a:buNone/>
            </a:pPr>
            <a:r>
              <a:rPr lang="en-US" sz="900" b="1" dirty="0">
                <a:solidFill>
                  <a:srgbClr val="FFFFFF"/>
                </a:solidFill>
                <a:latin typeface="Calibri" pitchFamily="34" charset="0"/>
                <a:ea typeface="Calibri" pitchFamily="34" charset="-122"/>
                <a:cs typeface="Calibri" pitchFamily="34" charset="-120"/>
              </a:rPr>
              <a:t>checks its junctions</a:t>
            </a:r>
            <a:endParaRPr lang="en-US" sz="900" dirty="0"/>
          </a:p>
        </p:txBody>
      </p:sp>
      <p:sp>
        <p:nvSpPr>
          <p:cNvPr id="65" name="Text 55"/>
          <p:cNvSpPr txBox="1"/>
          <p:nvPr/>
        </p:nvSpPr>
        <p:spPr>
          <a:xfrm>
            <a:off x="9601200" y="4361688"/>
            <a:ext cx="1965960" cy="713232"/>
          </a:xfrm>
          <a:prstGeom prst="rect">
            <a:avLst/>
          </a:prstGeom>
          <a:noFill/>
          <a:ln/>
        </p:spPr>
        <p:txBody>
          <a:bodyPr wrap="square" lIns="0" tIns="0" rIns="0" bIns="0" rtlCol="0" anchor="ctr"/>
          <a:lstStyle/>
          <a:p>
            <a:pPr indent="0" marL="0">
              <a:buNone/>
            </a:pPr>
            <a:r>
              <a:rPr lang="en-US" sz="950" dirty="0">
                <a:solidFill>
                  <a:srgbClr val="9AAEC6"/>
                </a:solidFill>
                <a:latin typeface="Calibri" pitchFamily="34" charset="0"/>
                <a:ea typeface="Calibri" pitchFamily="34" charset="-122"/>
                <a:cs typeface="Calibri" pitchFamily="34" charset="-120"/>
              </a:rPr>
              <a:t>Exact data, privately: arrived before it left? kept 85–100%? Replies yes/no</a:t>
            </a:r>
            <a:endParaRPr lang="en-US" sz="950" dirty="0"/>
          </a:p>
        </p:txBody>
      </p:sp>
      <p:sp>
        <p:nvSpPr>
          <p:cNvPr id="66" name="Shape 56"/>
          <p:cNvSpPr/>
          <p:nvPr/>
        </p:nvSpPr>
        <p:spPr>
          <a:xfrm>
            <a:off x="8275320" y="5239512"/>
            <a:ext cx="3383280" cy="841248"/>
          </a:xfrm>
          <a:prstGeom prst="roundRect">
            <a:avLst>
              <a:gd name="adj" fmla="val 10870"/>
            </a:avLst>
          </a:prstGeom>
          <a:solidFill>
            <a:srgbClr val="0E1829"/>
          </a:solidFill>
          <a:ln w="12700">
            <a:solidFill>
              <a:srgbClr val="34D399"/>
            </a:solidFill>
            <a:prstDash val="solid"/>
          </a:ln>
        </p:spPr>
      </p:sp>
      <p:sp>
        <p:nvSpPr>
          <p:cNvPr id="67" name="Text 57"/>
          <p:cNvSpPr txBox="1"/>
          <p:nvPr/>
        </p:nvSpPr>
        <p:spPr>
          <a:xfrm>
            <a:off x="8412480" y="5294376"/>
            <a:ext cx="1143000" cy="420624"/>
          </a:xfrm>
          <a:prstGeom prst="rect">
            <a:avLst/>
          </a:prstGeom>
          <a:noFill/>
          <a:ln/>
        </p:spPr>
        <p:txBody>
          <a:bodyPr wrap="square" lIns="0" tIns="0" rIns="0" bIns="0" rtlCol="0" anchor="ctr"/>
          <a:lstStyle/>
          <a:p>
            <a:pPr indent="0" marL="0">
              <a:buNone/>
            </a:pPr>
            <a:r>
              <a:rPr lang="en-US" sz="2200" b="1" dirty="0">
                <a:solidFill>
                  <a:srgbClr val="34D399"/>
                </a:solidFill>
                <a:latin typeface="Cambria" pitchFamily="34" charset="0"/>
                <a:ea typeface="Cambria" pitchFamily="34" charset="-122"/>
                <a:cs typeface="Cambria" pitchFamily="34" charset="-120"/>
              </a:rPr>
              <a:t>5</a:t>
            </a:r>
            <a:endParaRPr lang="en-US" sz="2200" dirty="0"/>
          </a:p>
        </p:txBody>
      </p:sp>
      <p:sp>
        <p:nvSpPr>
          <p:cNvPr id="68" name="Text 58"/>
          <p:cNvSpPr txBox="1"/>
          <p:nvPr/>
        </p:nvSpPr>
        <p:spPr>
          <a:xfrm>
            <a:off x="8412480" y="5733288"/>
            <a:ext cx="1143000" cy="292608"/>
          </a:xfrm>
          <a:prstGeom prst="rect">
            <a:avLst/>
          </a:prstGeom>
          <a:noFill/>
          <a:ln/>
        </p:spPr>
        <p:txBody>
          <a:bodyPr wrap="square" lIns="0" tIns="0" rIns="0" bIns="0" rtlCol="0" anchor="t"/>
          <a:lstStyle/>
          <a:p>
            <a:pPr indent="0" marL="0">
              <a:buNone/>
            </a:pPr>
            <a:r>
              <a:rPr lang="en-US" sz="900" b="1" dirty="0">
                <a:solidFill>
                  <a:srgbClr val="FFFFFF"/>
                </a:solidFill>
                <a:latin typeface="Calibri" pitchFamily="34" charset="0"/>
                <a:ea typeface="Calibri" pitchFamily="34" charset="-122"/>
                <a:cs typeface="Calibri" pitchFamily="34" charset="-120"/>
              </a:rPr>
              <a:t>confirmed loops</a:t>
            </a:r>
            <a:endParaRPr lang="en-US" sz="900" dirty="0"/>
          </a:p>
        </p:txBody>
      </p:sp>
      <p:sp>
        <p:nvSpPr>
          <p:cNvPr id="69" name="Text 59"/>
          <p:cNvSpPr txBox="1"/>
          <p:nvPr/>
        </p:nvSpPr>
        <p:spPr>
          <a:xfrm>
            <a:off x="9601200" y="5312664"/>
            <a:ext cx="1965960" cy="713232"/>
          </a:xfrm>
          <a:prstGeom prst="rect">
            <a:avLst/>
          </a:prstGeom>
          <a:noFill/>
          <a:ln/>
        </p:spPr>
        <p:txBody>
          <a:bodyPr wrap="square" lIns="0" tIns="0" rIns="0" bIns="0" rtlCol="0" anchor="ctr"/>
          <a:lstStyle/>
          <a:p>
            <a:pPr indent="0" marL="0">
              <a:buNone/>
            </a:pPr>
            <a:r>
              <a:rPr lang="en-US" sz="950" dirty="0">
                <a:solidFill>
                  <a:srgbClr val="9AAEC6"/>
                </a:solidFill>
                <a:latin typeface="Calibri" pitchFamily="34" charset="0"/>
                <a:ea typeface="Calibri" pitchFamily="34" charset="-122"/>
                <a:cs typeface="Calibri" pitchFamily="34" charset="-120"/>
              </a:rPr>
              <a:t>All real rings. Hero covered 6/6. No amount ever left a bank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STAGE 4  ·  THE DETECTION SWARM</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Four shapes only criminals make, in two lanes</a:t>
            </a:r>
            <a:endParaRPr lang="en-US" sz="3200" dirty="0"/>
          </a:p>
        </p:txBody>
      </p:sp>
      <p:sp>
        <p:nvSpPr>
          <p:cNvPr id="4" name="Text 2"/>
          <p:cNvSpPr txBox="1"/>
          <p:nvPr/>
        </p:nvSpPr>
        <p:spPr>
          <a:xfrm>
            <a:off x="548640" y="1307592"/>
            <a:ext cx="11064240" cy="365760"/>
          </a:xfrm>
          <a:prstGeom prst="rect">
            <a:avLst/>
          </a:prstGeom>
          <a:noFill/>
          <a:ln/>
        </p:spPr>
        <p:txBody>
          <a:bodyPr wrap="square" lIns="0" tIns="0" rIns="0" bIns="0" rtlCol="0" anchor="ctr"/>
          <a:lstStyle/>
          <a:p>
            <a:pPr indent="0" marL="0">
              <a:buNone/>
            </a:pPr>
            <a:r>
              <a:rPr lang="en-US" sz="1500" dirty="0">
                <a:solidFill>
                  <a:srgbClr val="9AAEC6"/>
                </a:solidFill>
                <a:latin typeface="Calibri" pitchFamily="34" charset="0"/>
                <a:ea typeface="Calibri" pitchFamily="34" charset="-122"/>
                <a:cs typeface="Calibri" pitchFamily="34" charset="-120"/>
              </a:rPr>
              <a:t>Plain maths, no AI. Every finding cites exact transaction IDs a regulator can re-check by hand.</a:t>
            </a:r>
            <a:endParaRPr lang="en-US" sz="1500" dirty="0"/>
          </a:p>
        </p:txBody>
      </p:sp>
      <p:sp>
        <p:nvSpPr>
          <p:cNvPr id="5" name="Text 3"/>
          <p:cNvSpPr txBox="1"/>
          <p:nvPr/>
        </p:nvSpPr>
        <p:spPr>
          <a:xfrm>
            <a:off x="548640" y="6446520"/>
            <a:ext cx="2743200" cy="228600"/>
          </a:xfrm>
          <a:prstGeom prst="rect">
            <a:avLst/>
          </a:prstGeom>
          <a:noFill/>
          <a:ln/>
        </p:spPr>
        <p:txBody>
          <a:bodyPr wrap="square" lIns="0" tIns="0" rIns="0" bIns="0" rtlCol="0" anchor="ctr"/>
          <a:lstStyle/>
          <a:p>
            <a:pPr indent="0" marL="0">
              <a:buNone/>
            </a:pPr>
            <a:r>
              <a:rPr lang="en-US" sz="900" spc="400" kern="0" dirty="0">
                <a:solidFill>
                  <a:srgbClr val="5E7390"/>
                </a:solidFill>
                <a:latin typeface="Calibri" pitchFamily="34" charset="0"/>
                <a:ea typeface="Calibri" pitchFamily="34" charset="-122"/>
                <a:cs typeface="Calibri" pitchFamily="34" charset="-120"/>
              </a:rPr>
              <a:t>CHAKRAVYUH</a:t>
            </a:r>
            <a:endParaRPr lang="en-US" sz="900" dirty="0"/>
          </a:p>
        </p:txBody>
      </p:sp>
      <p:sp>
        <p:nvSpPr>
          <p:cNvPr id="6" name="Text 4"/>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00" dirty="0">
                <a:solidFill>
                  <a:srgbClr val="5E7390"/>
                </a:solidFill>
                <a:latin typeface="Calibri" pitchFamily="34" charset="0"/>
                <a:ea typeface="Calibri" pitchFamily="34" charset="-122"/>
                <a:cs typeface="Calibri" pitchFamily="34" charset="-120"/>
              </a:rPr>
              <a:t>06</a:t>
            </a:r>
            <a:endParaRPr lang="en-US" sz="900" dirty="0"/>
          </a:p>
        </p:txBody>
      </p:sp>
      <p:sp>
        <p:nvSpPr>
          <p:cNvPr id="7" name="Shape 5"/>
          <p:cNvSpPr/>
          <p:nvPr/>
        </p:nvSpPr>
        <p:spPr>
          <a:xfrm>
            <a:off x="548640" y="1810512"/>
            <a:ext cx="3630168" cy="2057400"/>
          </a:xfrm>
          <a:prstGeom prst="roundRect">
            <a:avLst>
              <a:gd name="adj" fmla="val 4444"/>
            </a:avLst>
          </a:prstGeom>
          <a:solidFill>
            <a:srgbClr val="0E1829"/>
          </a:solidFill>
          <a:ln w="9525">
            <a:solidFill>
              <a:srgbClr val="1F3352"/>
            </a:solidFill>
            <a:prstDash val="solid"/>
          </a:ln>
        </p:spPr>
      </p:sp>
      <p:sp>
        <p:nvSpPr>
          <p:cNvPr id="8" name="Shape 6"/>
          <p:cNvSpPr/>
          <p:nvPr/>
        </p:nvSpPr>
        <p:spPr>
          <a:xfrm>
            <a:off x="731520" y="1993392"/>
            <a:ext cx="457200" cy="457200"/>
          </a:xfrm>
          <a:prstGeom prst="ellipse">
            <a:avLst/>
          </a:prstGeom>
          <a:solidFill>
            <a:srgbClr val="071A24"/>
          </a:solidFill>
          <a:ln w="15875">
            <a:solidFill>
              <a:srgbClr val="22D3EE"/>
            </a:solidFill>
            <a:prstDash val="solid"/>
          </a:ln>
        </p:spPr>
      </p:sp>
      <p:pic>
        <p:nvPicPr>
          <p:cNvPr id="9" name="Image 0" descr="preencoded.png">    </p:cNvPr>
          <p:cNvPicPr>
            <a:picLocks noChangeAspect="1"/>
          </p:cNvPicPr>
          <p:nvPr/>
        </p:nvPicPr>
        <p:blipFill>
          <a:blip r:embed="rId2"/>
          <a:stretch>
            <a:fillRect/>
          </a:stretch>
        </p:blipFill>
        <p:spPr>
          <a:xfrm>
            <a:off x="845820" y="2107692"/>
            <a:ext cx="228600" cy="228600"/>
          </a:xfrm>
          <a:prstGeom prst="rect">
            <a:avLst/>
          </a:prstGeom>
        </p:spPr>
      </p:pic>
      <p:sp>
        <p:nvSpPr>
          <p:cNvPr id="10" name="Text 7"/>
          <p:cNvSpPr txBox="1"/>
          <p:nvPr/>
        </p:nvSpPr>
        <p:spPr>
          <a:xfrm>
            <a:off x="1325880" y="2011680"/>
            <a:ext cx="22860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Circle</a:t>
            </a:r>
            <a:endParaRPr lang="en-US" sz="1700" dirty="0"/>
          </a:p>
        </p:txBody>
      </p:sp>
      <p:sp>
        <p:nvSpPr>
          <p:cNvPr id="11" name="Text 8"/>
          <p:cNvSpPr txBox="1"/>
          <p:nvPr/>
        </p:nvSpPr>
        <p:spPr>
          <a:xfrm>
            <a:off x="749808" y="2587752"/>
            <a:ext cx="3291840" cy="566928"/>
          </a:xfrm>
          <a:prstGeom prst="rect">
            <a:avLst/>
          </a:prstGeom>
          <a:noFill/>
          <a:ln/>
        </p:spPr>
        <p:txBody>
          <a:bodyPr wrap="square" lIns="0" tIns="0" rIns="0" bIns="0" rtlCol="0" anchor="t"/>
          <a:lstStyle/>
          <a:p>
            <a:pPr indent="0" marL="0">
              <a:buNone/>
            </a:pPr>
            <a:r>
              <a:rPr lang="en-US" sz="1100" dirty="0">
                <a:solidFill>
                  <a:srgbClr val="E8EEF6"/>
                </a:solidFill>
                <a:latin typeface="Calibri" pitchFamily="34" charset="0"/>
                <a:ea typeface="Calibri" pitchFamily="34" charset="-122"/>
                <a:cs typeface="Calibri" pitchFamily="34" charset="-120"/>
              </a:rPr>
              <a:t>Money returns to its sender in 3–8 hops within 72h, each hop keeping ≥85%.</a:t>
            </a:r>
            <a:endParaRPr lang="en-US" sz="1100" dirty="0"/>
          </a:p>
        </p:txBody>
      </p:sp>
      <p:sp>
        <p:nvSpPr>
          <p:cNvPr id="12" name="Text 9"/>
          <p:cNvSpPr txBox="1"/>
          <p:nvPr/>
        </p:nvSpPr>
        <p:spPr>
          <a:xfrm>
            <a:off x="749808" y="3136392"/>
            <a:ext cx="3291840" cy="256032"/>
          </a:xfrm>
          <a:prstGeom prst="rect">
            <a:avLst/>
          </a:prstGeom>
          <a:noFill/>
          <a:ln/>
        </p:spPr>
        <p:txBody>
          <a:bodyPr wrap="square" lIns="0" tIns="0" rIns="0" bIns="0" rtlCol="0" anchor="t"/>
          <a:lstStyle/>
          <a:p>
            <a:pPr indent="0" marL="0">
              <a:buNone/>
            </a:pPr>
            <a:r>
              <a:rPr lang="en-US" sz="1000" i="1" dirty="0">
                <a:solidFill>
                  <a:srgbClr val="9AAEC6"/>
                </a:solidFill>
                <a:latin typeface="Calibri" pitchFamily="34" charset="0"/>
                <a:ea typeface="Calibri" pitchFamily="34" charset="-122"/>
                <a:cs typeface="Calibri" pitchFamily="34" charset="-120"/>
              </a:rPr>
              <a:t>No honest business sends money in a loop.</a:t>
            </a:r>
            <a:endParaRPr lang="en-US" sz="1000" dirty="0"/>
          </a:p>
        </p:txBody>
      </p:sp>
      <p:pic>
        <p:nvPicPr>
          <p:cNvPr id="13" name="Image 1" descr="preencoded.png">    </p:cNvPr>
          <p:cNvPicPr>
            <a:picLocks noChangeAspect="1"/>
          </p:cNvPicPr>
          <p:nvPr/>
        </p:nvPicPr>
        <p:blipFill>
          <a:blip r:embed="rId3"/>
          <a:stretch>
            <a:fillRect/>
          </a:stretch>
        </p:blipFill>
        <p:spPr>
          <a:xfrm>
            <a:off x="749808" y="3483864"/>
            <a:ext cx="182880" cy="182880"/>
          </a:xfrm>
          <a:prstGeom prst="rect">
            <a:avLst/>
          </a:prstGeom>
        </p:spPr>
      </p:pic>
      <p:sp>
        <p:nvSpPr>
          <p:cNvPr id="14" name="Text 10"/>
          <p:cNvSpPr txBox="1"/>
          <p:nvPr/>
        </p:nvSpPr>
        <p:spPr>
          <a:xfrm>
            <a:off x="1005840" y="3456432"/>
            <a:ext cx="3063240" cy="256032"/>
          </a:xfrm>
          <a:prstGeom prst="rect">
            <a:avLst/>
          </a:prstGeom>
          <a:noFill/>
          <a:ln/>
        </p:spPr>
        <p:txBody>
          <a:bodyPr wrap="square" lIns="0" tIns="0" rIns="0" bIns="0" rtlCol="0" anchor="t"/>
          <a:lstStyle/>
          <a:p>
            <a:pPr indent="0" marL="0">
              <a:buNone/>
            </a:pPr>
            <a:r>
              <a:rPr lang="en-US" sz="950" b="1" dirty="0">
                <a:solidFill>
                  <a:srgbClr val="34D399"/>
                </a:solidFill>
                <a:latin typeface="Calibri" pitchFamily="34" charset="0"/>
                <a:ea typeface="Calibri" pitchFamily="34" charset="-122"/>
                <a:cs typeface="Calibri" pitchFamily="34" charset="-120"/>
              </a:rPr>
              <a:t>CIRC_4, HERO, CIRC_8 + 2 velocity chains · 6 findings</a:t>
            </a:r>
            <a:endParaRPr lang="en-US" sz="950" dirty="0"/>
          </a:p>
        </p:txBody>
      </p:sp>
      <p:sp>
        <p:nvSpPr>
          <p:cNvPr id="15" name="Shape 11"/>
          <p:cNvSpPr/>
          <p:nvPr/>
        </p:nvSpPr>
        <p:spPr>
          <a:xfrm>
            <a:off x="4315968" y="1810512"/>
            <a:ext cx="3630168" cy="2057400"/>
          </a:xfrm>
          <a:prstGeom prst="roundRect">
            <a:avLst>
              <a:gd name="adj" fmla="val 4444"/>
            </a:avLst>
          </a:prstGeom>
          <a:solidFill>
            <a:srgbClr val="0E1829"/>
          </a:solidFill>
          <a:ln w="9525">
            <a:solidFill>
              <a:srgbClr val="1F3352"/>
            </a:solidFill>
            <a:prstDash val="solid"/>
          </a:ln>
        </p:spPr>
      </p:sp>
      <p:sp>
        <p:nvSpPr>
          <p:cNvPr id="16" name="Shape 12"/>
          <p:cNvSpPr/>
          <p:nvPr/>
        </p:nvSpPr>
        <p:spPr>
          <a:xfrm>
            <a:off x="4498848" y="1993392"/>
            <a:ext cx="457200" cy="457200"/>
          </a:xfrm>
          <a:prstGeom prst="ellipse">
            <a:avLst/>
          </a:prstGeom>
          <a:solidFill>
            <a:srgbClr val="071A24"/>
          </a:solidFill>
          <a:ln w="15875">
            <a:solidFill>
              <a:srgbClr val="22D3EE"/>
            </a:solidFill>
            <a:prstDash val="solid"/>
          </a:ln>
        </p:spPr>
      </p:sp>
      <p:pic>
        <p:nvPicPr>
          <p:cNvPr id="17" name="Image 2" descr="preencoded.png">    </p:cNvPr>
          <p:cNvPicPr>
            <a:picLocks noChangeAspect="1"/>
          </p:cNvPicPr>
          <p:nvPr/>
        </p:nvPicPr>
        <p:blipFill>
          <a:blip r:embed="rId4"/>
          <a:stretch>
            <a:fillRect/>
          </a:stretch>
        </p:blipFill>
        <p:spPr>
          <a:xfrm>
            <a:off x="4613148" y="2107692"/>
            <a:ext cx="228600" cy="228600"/>
          </a:xfrm>
          <a:prstGeom prst="rect">
            <a:avLst/>
          </a:prstGeom>
        </p:spPr>
      </p:pic>
      <p:sp>
        <p:nvSpPr>
          <p:cNvPr id="18" name="Text 13"/>
          <p:cNvSpPr txBox="1"/>
          <p:nvPr/>
        </p:nvSpPr>
        <p:spPr>
          <a:xfrm>
            <a:off x="5093208" y="2011680"/>
            <a:ext cx="22860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Spray</a:t>
            </a:r>
            <a:endParaRPr lang="en-US" sz="1700" dirty="0"/>
          </a:p>
        </p:txBody>
      </p:sp>
      <p:sp>
        <p:nvSpPr>
          <p:cNvPr id="19" name="Text 14"/>
          <p:cNvSpPr txBox="1"/>
          <p:nvPr/>
        </p:nvSpPr>
        <p:spPr>
          <a:xfrm>
            <a:off x="4517136" y="2587752"/>
            <a:ext cx="3291840" cy="566928"/>
          </a:xfrm>
          <a:prstGeom prst="rect">
            <a:avLst/>
          </a:prstGeom>
          <a:noFill/>
          <a:ln/>
        </p:spPr>
        <p:txBody>
          <a:bodyPr wrap="square" lIns="0" tIns="0" rIns="0" bIns="0" rtlCol="0" anchor="t"/>
          <a:lstStyle/>
          <a:p>
            <a:pPr indent="0" marL="0">
              <a:buNone/>
            </a:pPr>
            <a:r>
              <a:rPr lang="en-US" sz="1100" dirty="0">
                <a:solidFill>
                  <a:srgbClr val="E8EEF6"/>
                </a:solidFill>
                <a:latin typeface="Calibri" pitchFamily="34" charset="0"/>
                <a:ea typeface="Calibri" pitchFamily="34" charset="-122"/>
                <a:cs typeface="Calibri" pitchFamily="34" charset="-120"/>
              </a:rPr>
              <a:t>1 account pays 8+ accounts in 6h; 60%+ forward 90–100% within an hour to one collector.</a:t>
            </a:r>
            <a:endParaRPr lang="en-US" sz="1100" dirty="0"/>
          </a:p>
        </p:txBody>
      </p:sp>
      <p:sp>
        <p:nvSpPr>
          <p:cNvPr id="20" name="Text 15"/>
          <p:cNvSpPr txBox="1"/>
          <p:nvPr/>
        </p:nvSpPr>
        <p:spPr>
          <a:xfrm>
            <a:off x="4517136" y="3136392"/>
            <a:ext cx="3291840" cy="256032"/>
          </a:xfrm>
          <a:prstGeom prst="rect">
            <a:avLst/>
          </a:prstGeom>
          <a:noFill/>
          <a:ln/>
        </p:spPr>
        <p:txBody>
          <a:bodyPr wrap="square" lIns="0" tIns="0" rIns="0" bIns="0" rtlCol="0" anchor="t"/>
          <a:lstStyle/>
          <a:p>
            <a:pPr indent="0" marL="0">
              <a:buNone/>
            </a:pPr>
            <a:r>
              <a:rPr lang="en-US" sz="1000" i="1" dirty="0">
                <a:solidFill>
                  <a:srgbClr val="9AAEC6"/>
                </a:solidFill>
                <a:latin typeface="Calibri" pitchFamily="34" charset="0"/>
                <a:ea typeface="Calibri" pitchFamily="34" charset="-122"/>
                <a:cs typeface="Calibri" pitchFamily="34" charset="-120"/>
              </a:rPr>
              <a:t>The mule pattern: fan out, fan back in.</a:t>
            </a:r>
            <a:endParaRPr lang="en-US" sz="1000" dirty="0"/>
          </a:p>
        </p:txBody>
      </p:sp>
      <p:pic>
        <p:nvPicPr>
          <p:cNvPr id="21" name="Image 3" descr="preencoded.png">    </p:cNvPr>
          <p:cNvPicPr>
            <a:picLocks noChangeAspect="1"/>
          </p:cNvPicPr>
          <p:nvPr/>
        </p:nvPicPr>
        <p:blipFill>
          <a:blip r:embed="rId5"/>
          <a:stretch>
            <a:fillRect/>
          </a:stretch>
        </p:blipFill>
        <p:spPr>
          <a:xfrm>
            <a:off x="4517136" y="3483864"/>
            <a:ext cx="182880" cy="182880"/>
          </a:xfrm>
          <a:prstGeom prst="rect">
            <a:avLst/>
          </a:prstGeom>
        </p:spPr>
      </p:pic>
      <p:sp>
        <p:nvSpPr>
          <p:cNvPr id="22" name="Text 16"/>
          <p:cNvSpPr txBox="1"/>
          <p:nvPr/>
        </p:nvSpPr>
        <p:spPr>
          <a:xfrm>
            <a:off x="4773168" y="3456432"/>
            <a:ext cx="3063240" cy="256032"/>
          </a:xfrm>
          <a:prstGeom prst="rect">
            <a:avLst/>
          </a:prstGeom>
          <a:noFill/>
          <a:ln/>
        </p:spPr>
        <p:txBody>
          <a:bodyPr wrap="square" lIns="0" tIns="0" rIns="0" bIns="0" rtlCol="0" anchor="t"/>
          <a:lstStyle/>
          <a:p>
            <a:pPr indent="0" marL="0">
              <a:buNone/>
            </a:pPr>
            <a:r>
              <a:rPr lang="en-US" sz="950" b="1" dirty="0">
                <a:solidFill>
                  <a:srgbClr val="34D399"/>
                </a:solidFill>
                <a:latin typeface="Calibri" pitchFamily="34" charset="0"/>
                <a:ea typeface="Calibri" pitchFamily="34" charset="-122"/>
                <a:cs typeface="Calibri" pitchFamily="34" charset="-120"/>
              </a:rPr>
              <a:t>All 3 mule networks · 3 findings</a:t>
            </a:r>
            <a:endParaRPr lang="en-US" sz="950" dirty="0"/>
          </a:p>
        </p:txBody>
      </p:sp>
      <p:sp>
        <p:nvSpPr>
          <p:cNvPr id="23" name="Shape 17"/>
          <p:cNvSpPr/>
          <p:nvPr/>
        </p:nvSpPr>
        <p:spPr>
          <a:xfrm>
            <a:off x="548640" y="4005072"/>
            <a:ext cx="3630168" cy="2057400"/>
          </a:xfrm>
          <a:prstGeom prst="roundRect">
            <a:avLst>
              <a:gd name="adj" fmla="val 4444"/>
            </a:avLst>
          </a:prstGeom>
          <a:solidFill>
            <a:srgbClr val="0E1829"/>
          </a:solidFill>
          <a:ln w="9525">
            <a:solidFill>
              <a:srgbClr val="1F3352"/>
            </a:solidFill>
            <a:prstDash val="solid"/>
          </a:ln>
        </p:spPr>
      </p:sp>
      <p:sp>
        <p:nvSpPr>
          <p:cNvPr id="24" name="Shape 18"/>
          <p:cNvSpPr/>
          <p:nvPr/>
        </p:nvSpPr>
        <p:spPr>
          <a:xfrm>
            <a:off x="731520" y="4187952"/>
            <a:ext cx="457200" cy="457200"/>
          </a:xfrm>
          <a:prstGeom prst="ellipse">
            <a:avLst/>
          </a:prstGeom>
          <a:solidFill>
            <a:srgbClr val="071A24"/>
          </a:solidFill>
          <a:ln w="15875">
            <a:solidFill>
              <a:srgbClr val="22D3EE"/>
            </a:solidFill>
            <a:prstDash val="solid"/>
          </a:ln>
        </p:spPr>
      </p:sp>
      <p:pic>
        <p:nvPicPr>
          <p:cNvPr id="25" name="Image 4" descr="preencoded.png">    </p:cNvPr>
          <p:cNvPicPr>
            <a:picLocks noChangeAspect="1"/>
          </p:cNvPicPr>
          <p:nvPr/>
        </p:nvPicPr>
        <p:blipFill>
          <a:blip r:embed="rId6"/>
          <a:stretch>
            <a:fillRect/>
          </a:stretch>
        </p:blipFill>
        <p:spPr>
          <a:xfrm>
            <a:off x="845820" y="4302252"/>
            <a:ext cx="228600" cy="228600"/>
          </a:xfrm>
          <a:prstGeom prst="rect">
            <a:avLst/>
          </a:prstGeom>
        </p:spPr>
      </p:pic>
      <p:sp>
        <p:nvSpPr>
          <p:cNvPr id="26" name="Text 19"/>
          <p:cNvSpPr txBox="1"/>
          <p:nvPr/>
        </p:nvSpPr>
        <p:spPr>
          <a:xfrm>
            <a:off x="1325880" y="4206240"/>
            <a:ext cx="22860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Speed</a:t>
            </a:r>
            <a:endParaRPr lang="en-US" sz="1700" dirty="0"/>
          </a:p>
        </p:txBody>
      </p:sp>
      <p:sp>
        <p:nvSpPr>
          <p:cNvPr id="27" name="Text 20"/>
          <p:cNvSpPr txBox="1"/>
          <p:nvPr/>
        </p:nvSpPr>
        <p:spPr>
          <a:xfrm>
            <a:off x="749808" y="4782312"/>
            <a:ext cx="3291840" cy="566928"/>
          </a:xfrm>
          <a:prstGeom prst="rect">
            <a:avLst/>
          </a:prstGeom>
          <a:noFill/>
          <a:ln/>
        </p:spPr>
        <p:txBody>
          <a:bodyPr wrap="square" lIns="0" tIns="0" rIns="0" bIns="0" rtlCol="0" anchor="t"/>
          <a:lstStyle/>
          <a:p>
            <a:pPr indent="0" marL="0">
              <a:buNone/>
            </a:pPr>
            <a:r>
              <a:rPr lang="en-US" sz="1100" dirty="0">
                <a:solidFill>
                  <a:srgbClr val="E8EEF6"/>
                </a:solidFill>
                <a:latin typeface="Calibri" pitchFamily="34" charset="0"/>
                <a:ea typeface="Calibri" pitchFamily="34" charset="-122"/>
                <a:cs typeface="Calibri" pitchFamily="34" charset="-120"/>
              </a:rPr>
              <a:t>Each receiver re-sends 90–100% within 60 minutes, 3+ hops in a row.</a:t>
            </a:r>
            <a:endParaRPr lang="en-US" sz="1100" dirty="0"/>
          </a:p>
        </p:txBody>
      </p:sp>
      <p:sp>
        <p:nvSpPr>
          <p:cNvPr id="28" name="Text 21"/>
          <p:cNvSpPr txBox="1"/>
          <p:nvPr/>
        </p:nvSpPr>
        <p:spPr>
          <a:xfrm>
            <a:off x="749808" y="5330952"/>
            <a:ext cx="3291840" cy="256032"/>
          </a:xfrm>
          <a:prstGeom prst="rect">
            <a:avLst/>
          </a:prstGeom>
          <a:noFill/>
          <a:ln/>
        </p:spPr>
        <p:txBody>
          <a:bodyPr wrap="square" lIns="0" tIns="0" rIns="0" bIns="0" rtlCol="0" anchor="t"/>
          <a:lstStyle/>
          <a:p>
            <a:pPr indent="0" marL="0">
              <a:buNone/>
            </a:pPr>
            <a:r>
              <a:rPr lang="en-US" sz="1000" i="1" dirty="0">
                <a:solidFill>
                  <a:srgbClr val="9AAEC6"/>
                </a:solidFill>
                <a:latin typeface="Calibri" pitchFamily="34" charset="0"/>
                <a:ea typeface="Calibri" pitchFamily="34" charset="-122"/>
                <a:cs typeface="Calibri" pitchFamily="34" charset="-120"/>
              </a:rPr>
              <a:t>Real money rests; dirty money runs.</a:t>
            </a:r>
            <a:endParaRPr lang="en-US" sz="1000" dirty="0"/>
          </a:p>
        </p:txBody>
      </p:sp>
      <p:pic>
        <p:nvPicPr>
          <p:cNvPr id="29" name="Image 5" descr="preencoded.png">    </p:cNvPr>
          <p:cNvPicPr>
            <a:picLocks noChangeAspect="1"/>
          </p:cNvPicPr>
          <p:nvPr/>
        </p:nvPicPr>
        <p:blipFill>
          <a:blip r:embed="rId7"/>
          <a:stretch>
            <a:fillRect/>
          </a:stretch>
        </p:blipFill>
        <p:spPr>
          <a:xfrm>
            <a:off x="749808" y="5678424"/>
            <a:ext cx="182880" cy="182880"/>
          </a:xfrm>
          <a:prstGeom prst="rect">
            <a:avLst/>
          </a:prstGeom>
        </p:spPr>
      </p:pic>
      <p:sp>
        <p:nvSpPr>
          <p:cNvPr id="30" name="Text 22"/>
          <p:cNvSpPr txBox="1"/>
          <p:nvPr/>
        </p:nvSpPr>
        <p:spPr>
          <a:xfrm>
            <a:off x="1005840" y="5650992"/>
            <a:ext cx="3063240" cy="256032"/>
          </a:xfrm>
          <a:prstGeom prst="rect">
            <a:avLst/>
          </a:prstGeom>
          <a:noFill/>
          <a:ln/>
        </p:spPr>
        <p:txBody>
          <a:bodyPr wrap="square" lIns="0" tIns="0" rIns="0" bIns="0" rtlCol="0" anchor="t"/>
          <a:lstStyle/>
          <a:p>
            <a:pPr indent="0" marL="0">
              <a:buNone/>
            </a:pPr>
            <a:r>
              <a:rPr lang="en-US" sz="950" b="1" dirty="0">
                <a:solidFill>
                  <a:srgbClr val="34D399"/>
                </a:solidFill>
                <a:latin typeface="Calibri" pitchFamily="34" charset="0"/>
                <a:ea typeface="Calibri" pitchFamily="34" charset="-122"/>
                <a:cs typeface="Calibri" pitchFamily="34" charset="-120"/>
              </a:rPr>
              <a:t>3 velocity chains + hero · 21 findings</a:t>
            </a:r>
            <a:endParaRPr lang="en-US" sz="950" dirty="0"/>
          </a:p>
        </p:txBody>
      </p:sp>
      <p:sp>
        <p:nvSpPr>
          <p:cNvPr id="31" name="Shape 23"/>
          <p:cNvSpPr/>
          <p:nvPr/>
        </p:nvSpPr>
        <p:spPr>
          <a:xfrm>
            <a:off x="4315968" y="4005072"/>
            <a:ext cx="3630168" cy="2057400"/>
          </a:xfrm>
          <a:prstGeom prst="roundRect">
            <a:avLst>
              <a:gd name="adj" fmla="val 4444"/>
            </a:avLst>
          </a:prstGeom>
          <a:solidFill>
            <a:srgbClr val="0E1829"/>
          </a:solidFill>
          <a:ln w="9525">
            <a:solidFill>
              <a:srgbClr val="1F3352"/>
            </a:solidFill>
            <a:prstDash val="solid"/>
          </a:ln>
        </p:spPr>
      </p:sp>
      <p:sp>
        <p:nvSpPr>
          <p:cNvPr id="32" name="Shape 24"/>
          <p:cNvSpPr/>
          <p:nvPr/>
        </p:nvSpPr>
        <p:spPr>
          <a:xfrm>
            <a:off x="4498848" y="4187952"/>
            <a:ext cx="457200" cy="457200"/>
          </a:xfrm>
          <a:prstGeom prst="ellipse">
            <a:avLst/>
          </a:prstGeom>
          <a:solidFill>
            <a:srgbClr val="071A24"/>
          </a:solidFill>
          <a:ln w="15875">
            <a:solidFill>
              <a:srgbClr val="22D3EE"/>
            </a:solidFill>
            <a:prstDash val="solid"/>
          </a:ln>
        </p:spPr>
      </p:sp>
      <p:pic>
        <p:nvPicPr>
          <p:cNvPr id="33" name="Image 6" descr="preencoded.png">    </p:cNvPr>
          <p:cNvPicPr>
            <a:picLocks noChangeAspect="1"/>
          </p:cNvPicPr>
          <p:nvPr/>
        </p:nvPicPr>
        <p:blipFill>
          <a:blip r:embed="rId8"/>
          <a:stretch>
            <a:fillRect/>
          </a:stretch>
        </p:blipFill>
        <p:spPr>
          <a:xfrm>
            <a:off x="4613148" y="4302252"/>
            <a:ext cx="228600" cy="228600"/>
          </a:xfrm>
          <a:prstGeom prst="rect">
            <a:avLst/>
          </a:prstGeom>
        </p:spPr>
      </p:pic>
      <p:sp>
        <p:nvSpPr>
          <p:cNvPr id="34" name="Text 25"/>
          <p:cNvSpPr txBox="1"/>
          <p:nvPr/>
        </p:nvSpPr>
        <p:spPr>
          <a:xfrm>
            <a:off x="5093208" y="4206240"/>
            <a:ext cx="22860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Threshold</a:t>
            </a:r>
            <a:endParaRPr lang="en-US" sz="1700" dirty="0"/>
          </a:p>
        </p:txBody>
      </p:sp>
      <p:sp>
        <p:nvSpPr>
          <p:cNvPr id="35" name="Text 26"/>
          <p:cNvSpPr txBox="1"/>
          <p:nvPr/>
        </p:nvSpPr>
        <p:spPr>
          <a:xfrm>
            <a:off x="4517136" y="4782312"/>
            <a:ext cx="3291840" cy="566928"/>
          </a:xfrm>
          <a:prstGeom prst="rect">
            <a:avLst/>
          </a:prstGeom>
          <a:noFill/>
          <a:ln/>
        </p:spPr>
        <p:txBody>
          <a:bodyPr wrap="square" lIns="0" tIns="0" rIns="0" bIns="0" rtlCol="0" anchor="t"/>
          <a:lstStyle/>
          <a:p>
            <a:pPr indent="0" marL="0">
              <a:buNone/>
            </a:pPr>
            <a:r>
              <a:rPr lang="en-US" sz="1100" dirty="0">
                <a:solidFill>
                  <a:srgbClr val="E8EEF6"/>
                </a:solidFill>
                <a:latin typeface="Calibri" pitchFamily="34" charset="0"/>
                <a:ea typeface="Calibri" pitchFamily="34" charset="-122"/>
                <a:cs typeface="Calibri" pitchFamily="34" charset="-120"/>
              </a:rPr>
              <a:t>5+ cash deposits in 7 days at 90–100% of ₹10L (CTR) or ₹50k (PAN limit).</a:t>
            </a:r>
            <a:endParaRPr lang="en-US" sz="1100" dirty="0"/>
          </a:p>
        </p:txBody>
      </p:sp>
      <p:sp>
        <p:nvSpPr>
          <p:cNvPr id="36" name="Text 27"/>
          <p:cNvSpPr txBox="1"/>
          <p:nvPr/>
        </p:nvSpPr>
        <p:spPr>
          <a:xfrm>
            <a:off x="4517136" y="5330952"/>
            <a:ext cx="3291840" cy="256032"/>
          </a:xfrm>
          <a:prstGeom prst="rect">
            <a:avLst/>
          </a:prstGeom>
          <a:noFill/>
          <a:ln/>
        </p:spPr>
        <p:txBody>
          <a:bodyPr wrap="square" lIns="0" tIns="0" rIns="0" bIns="0" rtlCol="0" anchor="t"/>
          <a:lstStyle/>
          <a:p>
            <a:pPr indent="0" marL="0">
              <a:buNone/>
            </a:pPr>
            <a:r>
              <a:rPr lang="en-US" sz="1000" i="1" dirty="0">
                <a:solidFill>
                  <a:srgbClr val="9AAEC6"/>
                </a:solidFill>
                <a:latin typeface="Calibri" pitchFamily="34" charset="0"/>
                <a:ea typeface="Calibri" pitchFamily="34" charset="-122"/>
                <a:cs typeface="Calibri" pitchFamily="34" charset="-120"/>
              </a:rPr>
              <a:t>Real Indian limits, not tuned to our data.</a:t>
            </a:r>
            <a:endParaRPr lang="en-US" sz="1000" dirty="0"/>
          </a:p>
        </p:txBody>
      </p:sp>
      <p:pic>
        <p:nvPicPr>
          <p:cNvPr id="37" name="Image 7" descr="preencoded.png">    </p:cNvPr>
          <p:cNvPicPr>
            <a:picLocks noChangeAspect="1"/>
          </p:cNvPicPr>
          <p:nvPr/>
        </p:nvPicPr>
        <p:blipFill>
          <a:blip r:embed="rId9"/>
          <a:stretch>
            <a:fillRect/>
          </a:stretch>
        </p:blipFill>
        <p:spPr>
          <a:xfrm>
            <a:off x="4517136" y="5678424"/>
            <a:ext cx="182880" cy="182880"/>
          </a:xfrm>
          <a:prstGeom prst="rect">
            <a:avLst/>
          </a:prstGeom>
        </p:spPr>
      </p:pic>
      <p:sp>
        <p:nvSpPr>
          <p:cNvPr id="38" name="Text 28"/>
          <p:cNvSpPr txBox="1"/>
          <p:nvPr/>
        </p:nvSpPr>
        <p:spPr>
          <a:xfrm>
            <a:off x="4773168" y="5650992"/>
            <a:ext cx="3063240" cy="256032"/>
          </a:xfrm>
          <a:prstGeom prst="rect">
            <a:avLst/>
          </a:prstGeom>
          <a:noFill/>
          <a:ln/>
        </p:spPr>
        <p:txBody>
          <a:bodyPr wrap="square" lIns="0" tIns="0" rIns="0" bIns="0" rtlCol="0" anchor="t"/>
          <a:lstStyle/>
          <a:p>
            <a:pPr indent="0" marL="0">
              <a:buNone/>
            </a:pPr>
            <a:r>
              <a:rPr lang="en-US" sz="950" b="1" dirty="0">
                <a:solidFill>
                  <a:srgbClr val="34D399"/>
                </a:solidFill>
                <a:latin typeface="Calibri" pitchFamily="34" charset="0"/>
                <a:ea typeface="Calibri" pitchFamily="34" charset="-122"/>
                <a:cs typeface="Calibri" pitchFamily="34" charset="-120"/>
              </a:rPr>
              <a:t>Both structuring rings · 2 findings</a:t>
            </a:r>
            <a:endParaRPr lang="en-US" sz="950" dirty="0"/>
          </a:p>
        </p:txBody>
      </p:sp>
      <p:sp>
        <p:nvSpPr>
          <p:cNvPr id="39" name="Shape 29"/>
          <p:cNvSpPr/>
          <p:nvPr/>
        </p:nvSpPr>
        <p:spPr>
          <a:xfrm>
            <a:off x="8183880" y="1810512"/>
            <a:ext cx="3474720" cy="2788920"/>
          </a:xfrm>
          <a:prstGeom prst="roundRect">
            <a:avLst>
              <a:gd name="adj" fmla="val 3279"/>
            </a:avLst>
          </a:prstGeom>
          <a:solidFill>
            <a:srgbClr val="0E1829"/>
          </a:solidFill>
          <a:ln w="9525">
            <a:solidFill>
              <a:srgbClr val="1F3352"/>
            </a:solidFill>
            <a:prstDash val="solid"/>
          </a:ln>
        </p:spPr>
      </p:sp>
      <p:sp>
        <p:nvSpPr>
          <p:cNvPr id="40" name="Shape 30"/>
          <p:cNvSpPr/>
          <p:nvPr/>
        </p:nvSpPr>
        <p:spPr>
          <a:xfrm>
            <a:off x="8339328" y="1947672"/>
            <a:ext cx="384048" cy="384048"/>
          </a:xfrm>
          <a:prstGeom prst="ellipse">
            <a:avLst/>
          </a:prstGeom>
          <a:solidFill>
            <a:srgbClr val="071A24"/>
          </a:solidFill>
          <a:ln w="15875">
            <a:solidFill>
              <a:srgbClr val="22D3EE"/>
            </a:solidFill>
            <a:prstDash val="solid"/>
          </a:ln>
        </p:spPr>
      </p:sp>
      <p:pic>
        <p:nvPicPr>
          <p:cNvPr id="41" name="Image 8" descr="preencoded.png">    </p:cNvPr>
          <p:cNvPicPr>
            <a:picLocks noChangeAspect="1"/>
          </p:cNvPicPr>
          <p:nvPr/>
        </p:nvPicPr>
        <p:blipFill>
          <a:blip r:embed="rId10"/>
          <a:stretch>
            <a:fillRect/>
          </a:stretch>
        </p:blipFill>
        <p:spPr>
          <a:xfrm>
            <a:off x="8435340" y="2043684"/>
            <a:ext cx="192024" cy="192024"/>
          </a:xfrm>
          <a:prstGeom prst="rect">
            <a:avLst/>
          </a:prstGeom>
        </p:spPr>
      </p:pic>
      <p:sp>
        <p:nvSpPr>
          <p:cNvPr id="42" name="Text 31"/>
          <p:cNvSpPr txBox="1"/>
          <p:nvPr/>
        </p:nvSpPr>
        <p:spPr>
          <a:xfrm>
            <a:off x="8823960" y="1965960"/>
            <a:ext cx="2651760" cy="347472"/>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Discovery lane</a:t>
            </a:r>
            <a:endParaRPr lang="en-US" sz="1300" dirty="0"/>
          </a:p>
        </p:txBody>
      </p:sp>
      <p:sp>
        <p:nvSpPr>
          <p:cNvPr id="43" name="Text 32"/>
          <p:cNvSpPr txBox="1"/>
          <p:nvPr/>
        </p:nvSpPr>
        <p:spPr>
          <a:xfrm>
            <a:off x="8366760" y="2395728"/>
            <a:ext cx="3154680" cy="457200"/>
          </a:xfrm>
          <a:prstGeom prst="rect">
            <a:avLst/>
          </a:prstGeom>
          <a:noFill/>
          <a:ln/>
        </p:spPr>
        <p:txBody>
          <a:bodyPr wrap="square" lIns="0" tIns="0" rIns="0" bIns="0" rtlCol="0" anchor="t"/>
          <a:lstStyle/>
          <a:p>
            <a:pPr indent="0" marL="0">
              <a:buNone/>
            </a:pPr>
            <a:r>
              <a:rPr lang="en-US" sz="1000" dirty="0">
                <a:solidFill>
                  <a:srgbClr val="E8EEF6"/>
                </a:solidFill>
                <a:latin typeface="Calibri" pitchFamily="34" charset="0"/>
                <a:ea typeface="Calibri" pitchFamily="34" charset="-122"/>
                <a:cs typeface="Calibri" pitchFamily="34" charset="-120"/>
              </a:rPr>
              <a:t>Starts from a pattern. Nobody needs to be known. Full thresholds for everyone.</a:t>
            </a:r>
            <a:endParaRPr lang="en-US" sz="1000" dirty="0"/>
          </a:p>
        </p:txBody>
      </p:sp>
      <p:sp>
        <p:nvSpPr>
          <p:cNvPr id="44" name="Shape 33"/>
          <p:cNvSpPr/>
          <p:nvPr/>
        </p:nvSpPr>
        <p:spPr>
          <a:xfrm>
            <a:off x="8339328" y="2926080"/>
            <a:ext cx="384048" cy="384048"/>
          </a:xfrm>
          <a:prstGeom prst="ellipse">
            <a:avLst/>
          </a:prstGeom>
          <a:solidFill>
            <a:srgbClr val="221A0A"/>
          </a:solidFill>
          <a:ln w="15875">
            <a:solidFill>
              <a:srgbClr val="F5A524"/>
            </a:solidFill>
            <a:prstDash val="solid"/>
          </a:ln>
        </p:spPr>
      </p:sp>
      <p:pic>
        <p:nvPicPr>
          <p:cNvPr id="45" name="Image 9" descr="preencoded.png">    </p:cNvPr>
          <p:cNvPicPr>
            <a:picLocks noChangeAspect="1"/>
          </p:cNvPicPr>
          <p:nvPr/>
        </p:nvPicPr>
        <p:blipFill>
          <a:blip r:embed="rId11"/>
          <a:stretch>
            <a:fillRect/>
          </a:stretch>
        </p:blipFill>
        <p:spPr>
          <a:xfrm>
            <a:off x="8435340" y="3022092"/>
            <a:ext cx="192024" cy="192024"/>
          </a:xfrm>
          <a:prstGeom prst="rect">
            <a:avLst/>
          </a:prstGeom>
        </p:spPr>
      </p:pic>
      <p:sp>
        <p:nvSpPr>
          <p:cNvPr id="46" name="Text 34"/>
          <p:cNvSpPr txBox="1"/>
          <p:nvPr/>
        </p:nvSpPr>
        <p:spPr>
          <a:xfrm>
            <a:off x="8823960" y="2944368"/>
            <a:ext cx="2651760" cy="347472"/>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Watchlist lane</a:t>
            </a:r>
            <a:endParaRPr lang="en-US" sz="1300" dirty="0"/>
          </a:p>
        </p:txBody>
      </p:sp>
      <p:sp>
        <p:nvSpPr>
          <p:cNvPr id="47" name="Text 35"/>
          <p:cNvSpPr txBox="1"/>
          <p:nvPr/>
        </p:nvSpPr>
        <p:spPr>
          <a:xfrm>
            <a:off x="8366760" y="3364992"/>
            <a:ext cx="3154680" cy="841248"/>
          </a:xfrm>
          <a:prstGeom prst="rect">
            <a:avLst/>
          </a:prstGeom>
          <a:noFill/>
          <a:ln/>
        </p:spPr>
        <p:txBody>
          <a:bodyPr wrap="square" lIns="0" tIns="0" rIns="0" bIns="0" rtlCol="0" anchor="t"/>
          <a:lstStyle/>
          <a:p>
            <a:pPr indent="0" marL="0">
              <a:buNone/>
            </a:pPr>
            <a:r>
              <a:rPr lang="en-US" sz="1000" dirty="0">
                <a:solidFill>
                  <a:srgbClr val="E8EEF6"/>
                </a:solidFill>
                <a:latin typeface="Calibri" pitchFamily="34" charset="0"/>
                <a:ea typeface="Calibri" pitchFamily="34" charset="-122"/>
                <a:cs typeface="Calibri" pitchFamily="34" charset="-120"/>
              </a:rPr>
              <a:t>Starts from a known name. Lower bars (Spray 4, Speed 2, Threshold 3) plus weak signals: new counterparty, fresh account, new channel. Enhanced due diligence, as FATF and RBI KYC require.</a:t>
            </a:r>
            <a:endParaRPr lang="en-US" sz="1000" dirty="0"/>
          </a:p>
        </p:txBody>
      </p:sp>
      <p:sp>
        <p:nvSpPr>
          <p:cNvPr id="48" name="Text 36"/>
          <p:cNvSpPr txBox="1"/>
          <p:nvPr/>
        </p:nvSpPr>
        <p:spPr>
          <a:xfrm>
            <a:off x="8366760" y="4206240"/>
            <a:ext cx="3154680" cy="347472"/>
          </a:xfrm>
          <a:prstGeom prst="rect">
            <a:avLst/>
          </a:prstGeom>
          <a:noFill/>
          <a:ln/>
        </p:spPr>
        <p:txBody>
          <a:bodyPr wrap="square" lIns="0" tIns="0" rIns="0" bIns="0" rtlCol="0" anchor="t"/>
          <a:lstStyle/>
          <a:p>
            <a:pPr indent="0" marL="0">
              <a:buNone/>
            </a:pPr>
            <a:r>
              <a:rPr lang="en-US" sz="900" i="1" dirty="0">
                <a:solidFill>
                  <a:srgbClr val="9AAEC6"/>
                </a:solidFill>
                <a:latin typeface="Calibri" pitchFamily="34" charset="0"/>
                <a:ea typeface="Calibri" pitchFamily="34" charset="-122"/>
                <a:cs typeface="Calibri" pitchFamily="34" charset="-120"/>
              </a:rPr>
              <a:t>A hit creates a case for a human, never a freeze. Overlapping cases merge.</a:t>
            </a:r>
            <a:endParaRPr lang="en-US" sz="900" dirty="0"/>
          </a:p>
        </p:txBody>
      </p:sp>
      <p:sp>
        <p:nvSpPr>
          <p:cNvPr id="49" name="Shape 37"/>
          <p:cNvSpPr/>
          <p:nvPr/>
        </p:nvSpPr>
        <p:spPr>
          <a:xfrm>
            <a:off x="8183880" y="4736592"/>
            <a:ext cx="3474720" cy="1371600"/>
          </a:xfrm>
          <a:prstGeom prst="roundRect">
            <a:avLst>
              <a:gd name="adj" fmla="val 6667"/>
            </a:avLst>
          </a:prstGeom>
          <a:solidFill>
            <a:srgbClr val="0B2A22"/>
          </a:solidFill>
          <a:ln w="15875">
            <a:solidFill>
              <a:srgbClr val="34D399"/>
            </a:solidFill>
            <a:prstDash val="solid"/>
          </a:ln>
        </p:spPr>
      </p:sp>
      <p:sp>
        <p:nvSpPr>
          <p:cNvPr id="50" name="Text 38"/>
          <p:cNvSpPr txBox="1"/>
          <p:nvPr/>
        </p:nvSpPr>
        <p:spPr>
          <a:xfrm>
            <a:off x="8366760" y="4828032"/>
            <a:ext cx="3200400" cy="219456"/>
          </a:xfrm>
          <a:prstGeom prst="rect">
            <a:avLst/>
          </a:prstGeom>
          <a:noFill/>
          <a:ln/>
        </p:spPr>
        <p:txBody>
          <a:bodyPr wrap="square" lIns="0" tIns="0" rIns="0" bIns="0" rtlCol="0" anchor="t"/>
          <a:lstStyle/>
          <a:p>
            <a:pPr indent="0" marL="0">
              <a:buNone/>
            </a:pPr>
            <a:r>
              <a:rPr lang="en-US" sz="850" b="1" spc="100" kern="0" dirty="0">
                <a:solidFill>
                  <a:srgbClr val="34D399"/>
                </a:solidFill>
                <a:latin typeface="Calibri" pitchFamily="34" charset="0"/>
                <a:ea typeface="Calibri" pitchFamily="34" charset="-122"/>
                <a:cs typeface="Calibri" pitchFamily="34" charset="-120"/>
              </a:rPr>
              <a:t>STRESS TEST: NOBODY ON THE WATCHLIST</a:t>
            </a:r>
            <a:endParaRPr lang="en-US" sz="850" dirty="0"/>
          </a:p>
        </p:txBody>
      </p:sp>
      <p:sp>
        <p:nvSpPr>
          <p:cNvPr id="51" name="Text 39"/>
          <p:cNvSpPr txBox="1"/>
          <p:nvPr/>
        </p:nvSpPr>
        <p:spPr>
          <a:xfrm>
            <a:off x="8366760" y="5074920"/>
            <a:ext cx="1554480" cy="548640"/>
          </a:xfrm>
          <a:prstGeom prst="rect">
            <a:avLst/>
          </a:prstGeom>
          <a:noFill/>
          <a:ln/>
        </p:spPr>
        <p:txBody>
          <a:bodyPr wrap="square" lIns="0" tIns="0" rIns="0" bIns="0" rtlCol="0" anchor="ctr"/>
          <a:lstStyle/>
          <a:p>
            <a:pPr indent="0" marL="0">
              <a:buNone/>
            </a:pPr>
            <a:r>
              <a:rPr lang="en-US" sz="2800" b="1" dirty="0">
                <a:solidFill>
                  <a:srgbClr val="34D399"/>
                </a:solidFill>
                <a:latin typeface="Cambria" pitchFamily="34" charset="0"/>
                <a:ea typeface="Cambria" pitchFamily="34" charset="-122"/>
                <a:cs typeface="Cambria" pitchFamily="34" charset="-120"/>
              </a:rPr>
              <a:t>11 / 12</a:t>
            </a:r>
            <a:endParaRPr lang="en-US" sz="2800" dirty="0"/>
          </a:p>
        </p:txBody>
      </p:sp>
      <p:sp>
        <p:nvSpPr>
          <p:cNvPr id="52" name="Text 40"/>
          <p:cNvSpPr txBox="1"/>
          <p:nvPr/>
        </p:nvSpPr>
        <p:spPr>
          <a:xfrm>
            <a:off x="8366760" y="5623560"/>
            <a:ext cx="1554480" cy="228600"/>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rings caught</a:t>
            </a:r>
            <a:endParaRPr lang="en-US" sz="1000" dirty="0"/>
          </a:p>
        </p:txBody>
      </p:sp>
      <p:sp>
        <p:nvSpPr>
          <p:cNvPr id="53" name="Text 41"/>
          <p:cNvSpPr txBox="1"/>
          <p:nvPr/>
        </p:nvSpPr>
        <p:spPr>
          <a:xfrm>
            <a:off x="10058400" y="5074920"/>
            <a:ext cx="1463040" cy="548640"/>
          </a:xfrm>
          <a:prstGeom prst="rect">
            <a:avLst/>
          </a:prstGeom>
          <a:noFill/>
          <a:ln/>
        </p:spPr>
        <p:txBody>
          <a:bodyPr wrap="square" lIns="0" tIns="0" rIns="0" bIns="0" rtlCol="0" anchor="ctr"/>
          <a:lstStyle/>
          <a:p>
            <a:pPr indent="0" marL="0">
              <a:buNone/>
            </a:pPr>
            <a:r>
              <a:rPr lang="en-US" sz="2800" b="1" dirty="0">
                <a:solidFill>
                  <a:srgbClr val="34D399"/>
                </a:solidFill>
                <a:latin typeface="Cambria" pitchFamily="34" charset="0"/>
                <a:ea typeface="Cambria" pitchFamily="34" charset="-122"/>
                <a:cs typeface="Cambria" pitchFamily="34" charset="-120"/>
              </a:rPr>
              <a:t>0</a:t>
            </a:r>
            <a:endParaRPr lang="en-US" sz="2800" dirty="0"/>
          </a:p>
        </p:txBody>
      </p:sp>
      <p:sp>
        <p:nvSpPr>
          <p:cNvPr id="54" name="Text 42"/>
          <p:cNvSpPr txBox="1"/>
          <p:nvPr/>
        </p:nvSpPr>
        <p:spPr>
          <a:xfrm>
            <a:off x="10058400" y="5623560"/>
            <a:ext cx="1463040" cy="228600"/>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false alarms</a:t>
            </a:r>
            <a:endParaRPr lang="en-US" sz="1000" dirty="0"/>
          </a:p>
        </p:txBody>
      </p:sp>
      <p:sp>
        <p:nvSpPr>
          <p:cNvPr id="55" name="Text 43"/>
          <p:cNvSpPr txBox="1"/>
          <p:nvPr/>
        </p:nvSpPr>
        <p:spPr>
          <a:xfrm>
            <a:off x="8366760" y="5833872"/>
            <a:ext cx="3200400" cy="228600"/>
          </a:xfrm>
          <a:prstGeom prst="rect">
            <a:avLst/>
          </a:prstGeom>
          <a:noFill/>
          <a:ln/>
        </p:spPr>
        <p:txBody>
          <a:bodyPr wrap="square" lIns="0" tIns="0" rIns="0" bIns="0" rtlCol="0" anchor="t"/>
          <a:lstStyle/>
          <a:p>
            <a:pPr indent="0" marL="0">
              <a:buNone/>
            </a:pPr>
            <a:r>
              <a:rPr lang="en-US" sz="950" b="1" i="1" dirty="0">
                <a:solidFill>
                  <a:srgbClr val="FFFFFF"/>
                </a:solidFill>
                <a:latin typeface="Calibri" pitchFamily="34" charset="0"/>
                <a:ea typeface="Calibri" pitchFamily="34" charset="-122"/>
                <a:cs typeface="Calibri" pitchFamily="34" charset="-120"/>
              </a:rPr>
              <a:t>The watchlist is a shortcut, not a crutch.</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WHERE WE ARE  ·  STAGES 5–8</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Results today. The rest, tonight.</a:t>
            </a:r>
            <a:endParaRPr lang="en-US" sz="3200" dirty="0"/>
          </a:p>
        </p:txBody>
      </p:sp>
      <p:sp>
        <p:nvSpPr>
          <p:cNvPr id="4" name="Text 2"/>
          <p:cNvSpPr txBox="1"/>
          <p:nvPr/>
        </p:nvSpPr>
        <p:spPr>
          <a:xfrm>
            <a:off x="548640" y="1307592"/>
            <a:ext cx="11064240" cy="365760"/>
          </a:xfrm>
          <a:prstGeom prst="rect">
            <a:avLst/>
          </a:prstGeom>
          <a:noFill/>
          <a:ln/>
        </p:spPr>
        <p:txBody>
          <a:bodyPr wrap="square" lIns="0" tIns="0" rIns="0" bIns="0" rtlCol="0" anchor="ctr"/>
          <a:lstStyle/>
          <a:p>
            <a:pPr indent="0" marL="0">
              <a:buNone/>
            </a:pPr>
            <a:r>
              <a:rPr lang="en-US" sz="1500" dirty="0">
                <a:solidFill>
                  <a:srgbClr val="9AAEC6"/>
                </a:solidFill>
                <a:latin typeface="Calibri" pitchFamily="34" charset="0"/>
                <a:ea typeface="Calibri" pitchFamily="34" charset="-122"/>
                <a:cs typeface="Calibri" pitchFamily="34" charset="-120"/>
              </a:rPr>
              <a:t>Measured against the planted answer key. Only the scoring code is allowed to read it.</a:t>
            </a:r>
            <a:endParaRPr lang="en-US" sz="1500" dirty="0"/>
          </a:p>
        </p:txBody>
      </p:sp>
      <p:sp>
        <p:nvSpPr>
          <p:cNvPr id="5" name="Text 3"/>
          <p:cNvSpPr txBox="1"/>
          <p:nvPr/>
        </p:nvSpPr>
        <p:spPr>
          <a:xfrm>
            <a:off x="548640" y="6446520"/>
            <a:ext cx="2743200" cy="228600"/>
          </a:xfrm>
          <a:prstGeom prst="rect">
            <a:avLst/>
          </a:prstGeom>
          <a:noFill/>
          <a:ln/>
        </p:spPr>
        <p:txBody>
          <a:bodyPr wrap="square" lIns="0" tIns="0" rIns="0" bIns="0" rtlCol="0" anchor="ctr"/>
          <a:lstStyle/>
          <a:p>
            <a:pPr indent="0" marL="0">
              <a:buNone/>
            </a:pPr>
            <a:r>
              <a:rPr lang="en-US" sz="900" spc="400" kern="0" dirty="0">
                <a:solidFill>
                  <a:srgbClr val="5E7390"/>
                </a:solidFill>
                <a:latin typeface="Calibri" pitchFamily="34" charset="0"/>
                <a:ea typeface="Calibri" pitchFamily="34" charset="-122"/>
                <a:cs typeface="Calibri" pitchFamily="34" charset="-120"/>
              </a:rPr>
              <a:t>CHAKRAVYUH</a:t>
            </a:r>
            <a:endParaRPr lang="en-US" sz="900" dirty="0"/>
          </a:p>
        </p:txBody>
      </p:sp>
      <p:sp>
        <p:nvSpPr>
          <p:cNvPr id="6" name="Text 4"/>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00" dirty="0">
                <a:solidFill>
                  <a:srgbClr val="5E7390"/>
                </a:solidFill>
                <a:latin typeface="Calibri" pitchFamily="34" charset="0"/>
                <a:ea typeface="Calibri" pitchFamily="34" charset="-122"/>
                <a:cs typeface="Calibri" pitchFamily="34" charset="-120"/>
              </a:rPr>
              <a:t>07</a:t>
            </a:r>
            <a:endParaRPr lang="en-US" sz="900" dirty="0"/>
          </a:p>
        </p:txBody>
      </p:sp>
      <p:sp>
        <p:nvSpPr>
          <p:cNvPr id="7" name="Shape 5"/>
          <p:cNvSpPr/>
          <p:nvPr/>
        </p:nvSpPr>
        <p:spPr>
          <a:xfrm>
            <a:off x="548640" y="1783080"/>
            <a:ext cx="2103120" cy="1097280"/>
          </a:xfrm>
          <a:prstGeom prst="roundRect">
            <a:avLst>
              <a:gd name="adj" fmla="val 8333"/>
            </a:avLst>
          </a:prstGeom>
          <a:solidFill>
            <a:srgbClr val="0E1829"/>
          </a:solidFill>
          <a:ln w="9525">
            <a:solidFill>
              <a:srgbClr val="1F3352"/>
            </a:solidFill>
            <a:prstDash val="solid"/>
          </a:ln>
        </p:spPr>
      </p:sp>
      <p:sp>
        <p:nvSpPr>
          <p:cNvPr id="8" name="Text 6"/>
          <p:cNvSpPr txBox="1"/>
          <p:nvPr/>
        </p:nvSpPr>
        <p:spPr>
          <a:xfrm>
            <a:off x="713232" y="1856232"/>
            <a:ext cx="1828800" cy="548640"/>
          </a:xfrm>
          <a:prstGeom prst="rect">
            <a:avLst/>
          </a:prstGeom>
          <a:noFill/>
          <a:ln/>
        </p:spPr>
        <p:txBody>
          <a:bodyPr wrap="square" lIns="0" tIns="0" rIns="0" bIns="0" rtlCol="0" anchor="ctr"/>
          <a:lstStyle/>
          <a:p>
            <a:pPr indent="0" marL="0">
              <a:buNone/>
            </a:pPr>
            <a:r>
              <a:rPr lang="en-US" sz="2700" b="1" dirty="0">
                <a:solidFill>
                  <a:srgbClr val="22D3EE"/>
                </a:solidFill>
                <a:latin typeface="Cambria" pitchFamily="34" charset="0"/>
                <a:ea typeface="Cambria" pitchFamily="34" charset="-122"/>
                <a:cs typeface="Cambria" pitchFamily="34" charset="-120"/>
              </a:rPr>
              <a:t>11 / 12</a:t>
            </a:r>
            <a:endParaRPr lang="en-US" sz="2700" dirty="0"/>
          </a:p>
        </p:txBody>
      </p:sp>
      <p:sp>
        <p:nvSpPr>
          <p:cNvPr id="9" name="Text 7"/>
          <p:cNvSpPr txBox="1"/>
          <p:nvPr/>
        </p:nvSpPr>
        <p:spPr>
          <a:xfrm>
            <a:off x="713232" y="2423160"/>
            <a:ext cx="1828800" cy="384048"/>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laundering rings caught</a:t>
            </a:r>
            <a:endParaRPr lang="en-US" sz="1000" dirty="0"/>
          </a:p>
        </p:txBody>
      </p:sp>
      <p:sp>
        <p:nvSpPr>
          <p:cNvPr id="10" name="Shape 8"/>
          <p:cNvSpPr/>
          <p:nvPr/>
        </p:nvSpPr>
        <p:spPr>
          <a:xfrm>
            <a:off x="2807208" y="1783080"/>
            <a:ext cx="2103120" cy="1097280"/>
          </a:xfrm>
          <a:prstGeom prst="roundRect">
            <a:avLst>
              <a:gd name="adj" fmla="val 8333"/>
            </a:avLst>
          </a:prstGeom>
          <a:solidFill>
            <a:srgbClr val="0E1829"/>
          </a:solidFill>
          <a:ln w="9525">
            <a:solidFill>
              <a:srgbClr val="1F3352"/>
            </a:solidFill>
            <a:prstDash val="solid"/>
          </a:ln>
        </p:spPr>
      </p:sp>
      <p:sp>
        <p:nvSpPr>
          <p:cNvPr id="11" name="Text 9"/>
          <p:cNvSpPr txBox="1"/>
          <p:nvPr/>
        </p:nvSpPr>
        <p:spPr>
          <a:xfrm>
            <a:off x="2971800" y="1856232"/>
            <a:ext cx="1828800" cy="548640"/>
          </a:xfrm>
          <a:prstGeom prst="rect">
            <a:avLst/>
          </a:prstGeom>
          <a:noFill/>
          <a:ln/>
        </p:spPr>
        <p:txBody>
          <a:bodyPr wrap="square" lIns="0" tIns="0" rIns="0" bIns="0" rtlCol="0" anchor="ctr"/>
          <a:lstStyle/>
          <a:p>
            <a:pPr indent="0" marL="0">
              <a:buNone/>
            </a:pPr>
            <a:r>
              <a:rPr lang="en-US" sz="2700" b="1" dirty="0">
                <a:solidFill>
                  <a:srgbClr val="34D399"/>
                </a:solidFill>
                <a:latin typeface="Cambria" pitchFamily="34" charset="0"/>
                <a:ea typeface="Cambria" pitchFamily="34" charset="-122"/>
                <a:cs typeface="Cambria" pitchFamily="34" charset="-120"/>
              </a:rPr>
              <a:t>0</a:t>
            </a:r>
            <a:endParaRPr lang="en-US" sz="2700" dirty="0"/>
          </a:p>
        </p:txBody>
      </p:sp>
      <p:sp>
        <p:nvSpPr>
          <p:cNvPr id="12" name="Text 10"/>
          <p:cNvSpPr txBox="1"/>
          <p:nvPr/>
        </p:nvSpPr>
        <p:spPr>
          <a:xfrm>
            <a:off x="2971800" y="2423160"/>
            <a:ext cx="1828800" cy="384048"/>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false alarms from 4 detectors</a:t>
            </a:r>
            <a:endParaRPr lang="en-US" sz="1000" dirty="0"/>
          </a:p>
        </p:txBody>
      </p:sp>
      <p:sp>
        <p:nvSpPr>
          <p:cNvPr id="13" name="Shape 11"/>
          <p:cNvSpPr/>
          <p:nvPr/>
        </p:nvSpPr>
        <p:spPr>
          <a:xfrm>
            <a:off x="5065776" y="1783080"/>
            <a:ext cx="2103120" cy="1097280"/>
          </a:xfrm>
          <a:prstGeom prst="roundRect">
            <a:avLst>
              <a:gd name="adj" fmla="val 8333"/>
            </a:avLst>
          </a:prstGeom>
          <a:solidFill>
            <a:srgbClr val="0E1829"/>
          </a:solidFill>
          <a:ln w="9525">
            <a:solidFill>
              <a:srgbClr val="1F3352"/>
            </a:solidFill>
            <a:prstDash val="solid"/>
          </a:ln>
        </p:spPr>
      </p:sp>
      <p:sp>
        <p:nvSpPr>
          <p:cNvPr id="14" name="Text 12"/>
          <p:cNvSpPr txBox="1"/>
          <p:nvPr/>
        </p:nvSpPr>
        <p:spPr>
          <a:xfrm>
            <a:off x="5230368" y="1856232"/>
            <a:ext cx="1828800" cy="548640"/>
          </a:xfrm>
          <a:prstGeom prst="rect">
            <a:avLst/>
          </a:prstGeom>
          <a:noFill/>
          <a:ln/>
        </p:spPr>
        <p:txBody>
          <a:bodyPr wrap="square" lIns="0" tIns="0" rIns="0" bIns="0" rtlCol="0" anchor="ctr"/>
          <a:lstStyle/>
          <a:p>
            <a:pPr indent="0" marL="0">
              <a:buNone/>
            </a:pPr>
            <a:r>
              <a:rPr lang="en-US" sz="2700" b="1" dirty="0">
                <a:solidFill>
                  <a:srgbClr val="34D399"/>
                </a:solidFill>
                <a:latin typeface="Cambria" pitchFamily="34" charset="0"/>
                <a:ea typeface="Cambria" pitchFamily="34" charset="-122"/>
                <a:cs typeface="Cambria" pitchFamily="34" charset="-120"/>
              </a:rPr>
              <a:t>1.000</a:t>
            </a:r>
            <a:endParaRPr lang="en-US" sz="2700" dirty="0"/>
          </a:p>
        </p:txBody>
      </p:sp>
      <p:sp>
        <p:nvSpPr>
          <p:cNvPr id="15" name="Text 13"/>
          <p:cNvSpPr txBox="1"/>
          <p:nvPr/>
        </p:nvSpPr>
        <p:spPr>
          <a:xfrm>
            <a:off x="5230368" y="2423160"/>
            <a:ext cx="1828800" cy="384048"/>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identity-merge precision</a:t>
            </a:r>
            <a:endParaRPr lang="en-US" sz="1000" dirty="0"/>
          </a:p>
        </p:txBody>
      </p:sp>
      <p:sp>
        <p:nvSpPr>
          <p:cNvPr id="16" name="Shape 14"/>
          <p:cNvSpPr/>
          <p:nvPr/>
        </p:nvSpPr>
        <p:spPr>
          <a:xfrm>
            <a:off x="7324344" y="1783080"/>
            <a:ext cx="2103120" cy="1097280"/>
          </a:xfrm>
          <a:prstGeom prst="roundRect">
            <a:avLst>
              <a:gd name="adj" fmla="val 8333"/>
            </a:avLst>
          </a:prstGeom>
          <a:solidFill>
            <a:srgbClr val="0E1829"/>
          </a:solidFill>
          <a:ln w="9525">
            <a:solidFill>
              <a:srgbClr val="1F3352"/>
            </a:solidFill>
            <a:prstDash val="solid"/>
          </a:ln>
        </p:spPr>
      </p:sp>
      <p:sp>
        <p:nvSpPr>
          <p:cNvPr id="17" name="Text 15"/>
          <p:cNvSpPr txBox="1"/>
          <p:nvPr/>
        </p:nvSpPr>
        <p:spPr>
          <a:xfrm>
            <a:off x="7488936" y="1856232"/>
            <a:ext cx="1828800" cy="548640"/>
          </a:xfrm>
          <a:prstGeom prst="rect">
            <a:avLst/>
          </a:prstGeom>
          <a:noFill/>
          <a:ln/>
        </p:spPr>
        <p:txBody>
          <a:bodyPr wrap="square" lIns="0" tIns="0" rIns="0" bIns="0" rtlCol="0" anchor="ctr"/>
          <a:lstStyle/>
          <a:p>
            <a:pPr indent="0" marL="0">
              <a:buNone/>
            </a:pPr>
            <a:r>
              <a:rPr lang="en-US" sz="2100" b="1" dirty="0">
                <a:solidFill>
                  <a:srgbClr val="22D3EE"/>
                </a:solidFill>
                <a:latin typeface="Cambria" pitchFamily="34" charset="0"/>
                <a:ea typeface="Cambria" pitchFamily="34" charset="-122"/>
                <a:cs typeface="Cambria" pitchFamily="34" charset="-120"/>
              </a:rPr>
              <a:t>2,050 → 5</a:t>
            </a:r>
            <a:endParaRPr lang="en-US" sz="2100" dirty="0"/>
          </a:p>
        </p:txBody>
      </p:sp>
      <p:sp>
        <p:nvSpPr>
          <p:cNvPr id="18" name="Text 16"/>
          <p:cNvSpPr txBox="1"/>
          <p:nvPr/>
        </p:nvSpPr>
        <p:spPr>
          <a:xfrm>
            <a:off x="7488936" y="2423160"/>
            <a:ext cx="1828800" cy="384048"/>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consortium candidates → confirmed</a:t>
            </a:r>
            <a:endParaRPr lang="en-US" sz="1000" dirty="0"/>
          </a:p>
        </p:txBody>
      </p:sp>
      <p:sp>
        <p:nvSpPr>
          <p:cNvPr id="19" name="Shape 17"/>
          <p:cNvSpPr/>
          <p:nvPr/>
        </p:nvSpPr>
        <p:spPr>
          <a:xfrm>
            <a:off x="9582912" y="1783080"/>
            <a:ext cx="2103120" cy="1097280"/>
          </a:xfrm>
          <a:prstGeom prst="roundRect">
            <a:avLst>
              <a:gd name="adj" fmla="val 8333"/>
            </a:avLst>
          </a:prstGeom>
          <a:solidFill>
            <a:srgbClr val="0E1829"/>
          </a:solidFill>
          <a:ln w="9525">
            <a:solidFill>
              <a:srgbClr val="1F3352"/>
            </a:solidFill>
            <a:prstDash val="solid"/>
          </a:ln>
        </p:spPr>
      </p:sp>
      <p:sp>
        <p:nvSpPr>
          <p:cNvPr id="20" name="Text 18"/>
          <p:cNvSpPr txBox="1"/>
          <p:nvPr/>
        </p:nvSpPr>
        <p:spPr>
          <a:xfrm>
            <a:off x="9747504" y="1856232"/>
            <a:ext cx="1828800" cy="548640"/>
          </a:xfrm>
          <a:prstGeom prst="rect">
            <a:avLst/>
          </a:prstGeom>
          <a:noFill/>
          <a:ln/>
        </p:spPr>
        <p:txBody>
          <a:bodyPr wrap="square" lIns="0" tIns="0" rIns="0" bIns="0" rtlCol="0" anchor="ctr"/>
          <a:lstStyle/>
          <a:p>
            <a:pPr indent="0" marL="0">
              <a:buNone/>
            </a:pPr>
            <a:r>
              <a:rPr lang="en-US" sz="2700" b="1" dirty="0">
                <a:solidFill>
                  <a:srgbClr val="22D3EE"/>
                </a:solidFill>
                <a:latin typeface="Cambria" pitchFamily="34" charset="0"/>
                <a:ea typeface="Cambria" pitchFamily="34" charset="-122"/>
                <a:cs typeface="Cambria" pitchFamily="34" charset="-120"/>
              </a:rPr>
              <a:t>6 s</a:t>
            </a:r>
            <a:endParaRPr lang="en-US" sz="2700" dirty="0"/>
          </a:p>
        </p:txBody>
      </p:sp>
      <p:sp>
        <p:nvSpPr>
          <p:cNvPr id="21" name="Text 19"/>
          <p:cNvSpPr txBox="1"/>
          <p:nvPr/>
        </p:nvSpPr>
        <p:spPr>
          <a:xfrm>
            <a:off x="9747504" y="2423160"/>
            <a:ext cx="1828800" cy="384048"/>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full run, verification included</a:t>
            </a:r>
            <a:endParaRPr lang="en-US" sz="1000" dirty="0"/>
          </a:p>
        </p:txBody>
      </p:sp>
      <p:sp>
        <p:nvSpPr>
          <p:cNvPr id="22" name="Shape 20"/>
          <p:cNvSpPr/>
          <p:nvPr/>
        </p:nvSpPr>
        <p:spPr>
          <a:xfrm>
            <a:off x="548640" y="3063240"/>
            <a:ext cx="3429000" cy="3063240"/>
          </a:xfrm>
          <a:prstGeom prst="roundRect">
            <a:avLst>
              <a:gd name="adj" fmla="val 2985"/>
            </a:avLst>
          </a:prstGeom>
          <a:solidFill>
            <a:srgbClr val="3A2A0C"/>
          </a:solidFill>
          <a:ln w="9525">
            <a:solidFill>
              <a:srgbClr val="5A4420"/>
            </a:solidFill>
            <a:prstDash val="solid"/>
          </a:ln>
        </p:spPr>
      </p:sp>
      <p:pic>
        <p:nvPicPr>
          <p:cNvPr id="23" name="Image 0" descr="preencoded.png">    </p:cNvPr>
          <p:cNvPicPr>
            <a:picLocks noChangeAspect="1"/>
          </p:cNvPicPr>
          <p:nvPr/>
        </p:nvPicPr>
        <p:blipFill>
          <a:blip r:embed="rId2"/>
          <a:stretch>
            <a:fillRect/>
          </a:stretch>
        </p:blipFill>
        <p:spPr>
          <a:xfrm>
            <a:off x="731520" y="3218688"/>
            <a:ext cx="292608" cy="292608"/>
          </a:xfrm>
          <a:prstGeom prst="rect">
            <a:avLst/>
          </a:prstGeom>
        </p:spPr>
      </p:pic>
      <p:sp>
        <p:nvSpPr>
          <p:cNvPr id="24" name="Text 21"/>
          <p:cNvSpPr txBox="1"/>
          <p:nvPr/>
        </p:nvSpPr>
        <p:spPr>
          <a:xfrm>
            <a:off x="1097280" y="3200400"/>
            <a:ext cx="2788920" cy="329184"/>
          </a:xfrm>
          <a:prstGeom prst="rect">
            <a:avLst/>
          </a:prstGeom>
          <a:noFill/>
          <a:ln/>
        </p:spPr>
        <p:txBody>
          <a:bodyPr wrap="square" lIns="0" tIns="0" rIns="0" bIns="0" rtlCol="0" anchor="ctr"/>
          <a:lstStyle/>
          <a:p>
            <a:pPr indent="0" marL="0">
              <a:buNone/>
            </a:pPr>
            <a:r>
              <a:rPr lang="en-US" sz="1250" b="1" dirty="0">
                <a:solidFill>
                  <a:srgbClr val="F5A524"/>
                </a:solidFill>
                <a:latin typeface="Calibri" pitchFamily="34" charset="0"/>
                <a:ea typeface="Calibri" pitchFamily="34" charset="-122"/>
                <a:cs typeface="Calibri" pitchFamily="34" charset="-120"/>
              </a:rPr>
              <a:t>The one we missed, on purpose</a:t>
            </a:r>
            <a:endParaRPr lang="en-US" sz="1250" dirty="0"/>
          </a:p>
        </p:txBody>
      </p:sp>
      <p:sp>
        <p:nvSpPr>
          <p:cNvPr id="25" name="Text 22"/>
          <p:cNvSpPr txBox="1"/>
          <p:nvPr/>
        </p:nvSpPr>
        <p:spPr>
          <a:xfrm>
            <a:off x="731520" y="3639312"/>
            <a:ext cx="3108960" cy="1051560"/>
          </a:xfrm>
          <a:prstGeom prst="rect">
            <a:avLst/>
          </a:prstGeom>
          <a:noFill/>
          <a:ln/>
        </p:spPr>
        <p:txBody>
          <a:bodyPr wrap="square" lIns="0" tIns="0" rIns="0" bIns="0" rtlCol="0" anchor="t"/>
          <a:lstStyle/>
          <a:p>
            <a:pPr indent="0" marL="0">
              <a:buNone/>
            </a:pPr>
            <a:r>
              <a:rPr lang="en-US" sz="1050" dirty="0">
                <a:solidFill>
                  <a:srgbClr val="E8EEF6"/>
                </a:solidFill>
                <a:latin typeface="Calibri" pitchFamily="34" charset="0"/>
                <a:ea typeface="Calibri" pitchFamily="34" charset="-122"/>
                <a:cs typeface="Calibri" pitchFamily="34" charset="-120"/>
              </a:rPr>
              <a:t>CIRC_5_SUBTLE takes 6 days to come back, outside our 72-hour window. Thresholds come from real behaviour, not the answer key, so we didn’t tune for it.</a:t>
            </a:r>
            <a:endParaRPr lang="en-US" sz="1050" dirty="0"/>
          </a:p>
        </p:txBody>
      </p:sp>
      <p:sp>
        <p:nvSpPr>
          <p:cNvPr id="26" name="Text 23"/>
          <p:cNvSpPr txBox="1"/>
          <p:nvPr/>
        </p:nvSpPr>
        <p:spPr>
          <a:xfrm>
            <a:off x="731520" y="4526280"/>
            <a:ext cx="3108960" cy="731520"/>
          </a:xfrm>
          <a:prstGeom prst="rect">
            <a:avLst/>
          </a:prstGeom>
          <a:noFill/>
          <a:ln/>
        </p:spPr>
        <p:txBody>
          <a:bodyPr wrap="square" lIns="0" tIns="0" rIns="0" bIns="0" rtlCol="0" anchor="t"/>
          <a:lstStyle/>
          <a:p>
            <a:pPr indent="0" marL="0">
              <a:buNone/>
            </a:pPr>
            <a:r>
              <a:rPr lang="en-US" sz="1000" dirty="0">
                <a:solidFill>
                  <a:srgbClr val="9AAEC6"/>
                </a:solidFill>
                <a:latin typeface="Calibri" pitchFamily="34" charset="0"/>
                <a:ea typeface="Calibri" pitchFamily="34" charset="-122"/>
                <a:cs typeface="Calibri" pitchFamily="34" charset="-120"/>
              </a:rPr>
              <a:t>Every finding is a real ring: Circle 6 · Spray 3 · Speed 21 · Threshold 2 (Speed includes mule relay fragments that Stage 5 merges).</a:t>
            </a:r>
            <a:endParaRPr lang="en-US" sz="1000" dirty="0"/>
          </a:p>
        </p:txBody>
      </p:sp>
      <p:sp>
        <p:nvSpPr>
          <p:cNvPr id="27" name="Text 24"/>
          <p:cNvSpPr txBox="1"/>
          <p:nvPr/>
        </p:nvSpPr>
        <p:spPr>
          <a:xfrm>
            <a:off x="731520" y="5349240"/>
            <a:ext cx="3108960" cy="548640"/>
          </a:xfrm>
          <a:prstGeom prst="rect">
            <a:avLst/>
          </a:prstGeom>
          <a:noFill/>
          <a:ln/>
        </p:spPr>
        <p:txBody>
          <a:bodyPr wrap="square" lIns="0" tIns="0" rIns="0" bIns="0" rtlCol="0" anchor="t"/>
          <a:lstStyle/>
          <a:p>
            <a:pPr indent="0" marL="0">
              <a:buNone/>
            </a:pPr>
            <a:r>
              <a:rPr lang="en-US" sz="1100" b="1" i="1" dirty="0">
                <a:solidFill>
                  <a:srgbClr val="FFFFFF"/>
                </a:solidFill>
                <a:latin typeface="Calibri" pitchFamily="34" charset="0"/>
                <a:ea typeface="Calibri" pitchFamily="34" charset="-122"/>
                <a:cs typeface="Calibri" pitchFamily="34" charset="-120"/>
              </a:rPr>
              <a:t>Better to miss one slow loop than accuse an innocent person.</a:t>
            </a:r>
            <a:endParaRPr lang="en-US" sz="1100" dirty="0"/>
          </a:p>
        </p:txBody>
      </p:sp>
      <p:sp>
        <p:nvSpPr>
          <p:cNvPr id="28" name="Shape 25"/>
          <p:cNvSpPr/>
          <p:nvPr/>
        </p:nvSpPr>
        <p:spPr>
          <a:xfrm>
            <a:off x="4160520" y="3063240"/>
            <a:ext cx="1783080" cy="2331720"/>
          </a:xfrm>
          <a:prstGeom prst="roundRect">
            <a:avLst>
              <a:gd name="adj" fmla="val 5128"/>
            </a:avLst>
          </a:prstGeom>
          <a:solidFill>
            <a:srgbClr val="0E1829"/>
          </a:solidFill>
          <a:ln w="9525">
            <a:solidFill>
              <a:srgbClr val="1F3352"/>
            </a:solidFill>
            <a:prstDash val="solid"/>
          </a:ln>
        </p:spPr>
      </p:sp>
      <p:sp>
        <p:nvSpPr>
          <p:cNvPr id="29" name="Shape 26"/>
          <p:cNvSpPr/>
          <p:nvPr/>
        </p:nvSpPr>
        <p:spPr>
          <a:xfrm>
            <a:off x="4297680" y="3182112"/>
            <a:ext cx="402336" cy="402336"/>
          </a:xfrm>
          <a:prstGeom prst="ellipse">
            <a:avLst/>
          </a:prstGeom>
          <a:solidFill>
            <a:srgbClr val="071A24"/>
          </a:solidFill>
          <a:ln w="15875">
            <a:solidFill>
              <a:srgbClr val="22D3EE"/>
            </a:solidFill>
            <a:prstDash val="solid"/>
          </a:ln>
        </p:spPr>
      </p:sp>
      <p:pic>
        <p:nvPicPr>
          <p:cNvPr id="30" name="Image 1" descr="preencoded.png">    </p:cNvPr>
          <p:cNvPicPr>
            <a:picLocks noChangeAspect="1"/>
          </p:cNvPicPr>
          <p:nvPr/>
        </p:nvPicPr>
        <p:blipFill>
          <a:blip r:embed="rId3"/>
          <a:stretch>
            <a:fillRect/>
          </a:stretch>
        </p:blipFill>
        <p:spPr>
          <a:xfrm>
            <a:off x="4398264" y="3282696"/>
            <a:ext cx="201168" cy="201168"/>
          </a:xfrm>
          <a:prstGeom prst="rect">
            <a:avLst/>
          </a:prstGeom>
        </p:spPr>
      </p:pic>
      <p:sp>
        <p:nvSpPr>
          <p:cNvPr id="31" name="Shape 27"/>
          <p:cNvSpPr/>
          <p:nvPr/>
        </p:nvSpPr>
        <p:spPr>
          <a:xfrm>
            <a:off x="4892040" y="3264408"/>
            <a:ext cx="914400" cy="237744"/>
          </a:xfrm>
          <a:prstGeom prst="roundRect">
            <a:avLst>
              <a:gd name="adj" fmla="val 50000"/>
            </a:avLst>
          </a:prstGeom>
          <a:solidFill>
            <a:srgbClr val="0B1320"/>
          </a:solidFill>
          <a:ln w="9525">
            <a:solidFill>
              <a:srgbClr val="22D3EE"/>
            </a:solidFill>
            <a:prstDash val="solid"/>
          </a:ln>
        </p:spPr>
      </p:sp>
      <p:sp>
        <p:nvSpPr>
          <p:cNvPr id="32" name="Text 28"/>
          <p:cNvSpPr txBox="1"/>
          <p:nvPr/>
        </p:nvSpPr>
        <p:spPr>
          <a:xfrm>
            <a:off x="4892040" y="3264408"/>
            <a:ext cx="914400" cy="237744"/>
          </a:xfrm>
          <a:prstGeom prst="rect">
            <a:avLst/>
          </a:prstGeom>
          <a:noFill/>
          <a:ln/>
        </p:spPr>
        <p:txBody>
          <a:bodyPr wrap="square" lIns="0" tIns="0" rIns="0" bIns="0" rtlCol="0" anchor="ctr"/>
          <a:lstStyle/>
          <a:p>
            <a:pPr algn="ctr" indent="0" marL="0">
              <a:buNone/>
            </a:pPr>
            <a:r>
              <a:rPr lang="en-US" sz="900" b="1" spc="100" kern="0" dirty="0">
                <a:solidFill>
                  <a:srgbClr val="22D3EE"/>
                </a:solidFill>
                <a:latin typeface="Calibri" pitchFamily="34" charset="0"/>
                <a:ea typeface="Calibri" pitchFamily="34" charset="-122"/>
                <a:cs typeface="Calibri" pitchFamily="34" charset="-120"/>
              </a:rPr>
              <a:t>11:00 PM</a:t>
            </a:r>
            <a:endParaRPr lang="en-US" sz="900" dirty="0"/>
          </a:p>
        </p:txBody>
      </p:sp>
      <p:sp>
        <p:nvSpPr>
          <p:cNvPr id="33" name="Text 29"/>
          <p:cNvSpPr txBox="1"/>
          <p:nvPr/>
        </p:nvSpPr>
        <p:spPr>
          <a:xfrm>
            <a:off x="4297680" y="3657600"/>
            <a:ext cx="160020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5  Case builder</a:t>
            </a:r>
            <a:endParaRPr lang="en-US" sz="1150" dirty="0"/>
          </a:p>
        </p:txBody>
      </p:sp>
      <p:sp>
        <p:nvSpPr>
          <p:cNvPr id="34" name="Text 30"/>
          <p:cNvSpPr txBox="1"/>
          <p:nvPr/>
        </p:nvSpPr>
        <p:spPr>
          <a:xfrm>
            <a:off x="4270248" y="3977640"/>
            <a:ext cx="1600200"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Seed → merge → expand → prune: 42 findings become a handful of cases</a:t>
            </a:r>
            <a:endParaRPr lang="en-US" sz="900" dirty="0"/>
          </a:p>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Context kept, marked “not accused”</a:t>
            </a:r>
            <a:endParaRPr lang="en-US" sz="900" dirty="0"/>
          </a:p>
        </p:txBody>
      </p:sp>
      <p:sp>
        <p:nvSpPr>
          <p:cNvPr id="35" name="Shape 31"/>
          <p:cNvSpPr/>
          <p:nvPr/>
        </p:nvSpPr>
        <p:spPr>
          <a:xfrm>
            <a:off x="6053328" y="3063240"/>
            <a:ext cx="1783080" cy="2331720"/>
          </a:xfrm>
          <a:prstGeom prst="roundRect">
            <a:avLst>
              <a:gd name="adj" fmla="val 5128"/>
            </a:avLst>
          </a:prstGeom>
          <a:solidFill>
            <a:srgbClr val="0E1829"/>
          </a:solidFill>
          <a:ln w="9525">
            <a:solidFill>
              <a:srgbClr val="1F3352"/>
            </a:solidFill>
            <a:prstDash val="solid"/>
          </a:ln>
        </p:spPr>
      </p:sp>
      <p:sp>
        <p:nvSpPr>
          <p:cNvPr id="36" name="Shape 32"/>
          <p:cNvSpPr/>
          <p:nvPr/>
        </p:nvSpPr>
        <p:spPr>
          <a:xfrm>
            <a:off x="6190488" y="3182112"/>
            <a:ext cx="402336" cy="402336"/>
          </a:xfrm>
          <a:prstGeom prst="ellipse">
            <a:avLst/>
          </a:prstGeom>
          <a:solidFill>
            <a:srgbClr val="1A1638"/>
          </a:solidFill>
          <a:ln w="15875">
            <a:solidFill>
              <a:srgbClr val="A78BFA"/>
            </a:solidFill>
            <a:prstDash val="solid"/>
          </a:ln>
        </p:spPr>
      </p:sp>
      <p:pic>
        <p:nvPicPr>
          <p:cNvPr id="37" name="Image 2" descr="preencoded.png">    </p:cNvPr>
          <p:cNvPicPr>
            <a:picLocks noChangeAspect="1"/>
          </p:cNvPicPr>
          <p:nvPr/>
        </p:nvPicPr>
        <p:blipFill>
          <a:blip r:embed="rId4"/>
          <a:stretch>
            <a:fillRect/>
          </a:stretch>
        </p:blipFill>
        <p:spPr>
          <a:xfrm>
            <a:off x="6291072" y="3282696"/>
            <a:ext cx="201168" cy="201168"/>
          </a:xfrm>
          <a:prstGeom prst="rect">
            <a:avLst/>
          </a:prstGeom>
        </p:spPr>
      </p:pic>
      <p:sp>
        <p:nvSpPr>
          <p:cNvPr id="38" name="Shape 33"/>
          <p:cNvSpPr/>
          <p:nvPr/>
        </p:nvSpPr>
        <p:spPr>
          <a:xfrm>
            <a:off x="6784848" y="3264408"/>
            <a:ext cx="914400" cy="237744"/>
          </a:xfrm>
          <a:prstGeom prst="roundRect">
            <a:avLst>
              <a:gd name="adj" fmla="val 50000"/>
            </a:avLst>
          </a:prstGeom>
          <a:solidFill>
            <a:srgbClr val="0B1320"/>
          </a:solidFill>
          <a:ln w="9525">
            <a:solidFill>
              <a:srgbClr val="A78BFA"/>
            </a:solidFill>
            <a:prstDash val="solid"/>
          </a:ln>
        </p:spPr>
      </p:sp>
      <p:sp>
        <p:nvSpPr>
          <p:cNvPr id="39" name="Text 34"/>
          <p:cNvSpPr txBox="1"/>
          <p:nvPr/>
        </p:nvSpPr>
        <p:spPr>
          <a:xfrm>
            <a:off x="6784848" y="3264408"/>
            <a:ext cx="914400" cy="237744"/>
          </a:xfrm>
          <a:prstGeom prst="rect">
            <a:avLst/>
          </a:prstGeom>
          <a:noFill/>
          <a:ln/>
        </p:spPr>
        <p:txBody>
          <a:bodyPr wrap="square" lIns="0" tIns="0" rIns="0" bIns="0" rtlCol="0" anchor="ctr"/>
          <a:lstStyle/>
          <a:p>
            <a:pPr algn="ctr" indent="0" marL="0">
              <a:buNone/>
            </a:pPr>
            <a:r>
              <a:rPr lang="en-US" sz="900" b="1" spc="100" kern="0" dirty="0">
                <a:solidFill>
                  <a:srgbClr val="A78BFA"/>
                </a:solidFill>
                <a:latin typeface="Calibri" pitchFamily="34" charset="0"/>
                <a:ea typeface="Calibri" pitchFamily="34" charset="-122"/>
                <a:cs typeface="Calibri" pitchFamily="34" charset="-120"/>
              </a:rPr>
              <a:t>1:00 AM</a:t>
            </a:r>
            <a:endParaRPr lang="en-US" sz="900" dirty="0"/>
          </a:p>
        </p:txBody>
      </p:sp>
      <p:sp>
        <p:nvSpPr>
          <p:cNvPr id="40" name="Text 35"/>
          <p:cNvSpPr txBox="1"/>
          <p:nvPr/>
        </p:nvSpPr>
        <p:spPr>
          <a:xfrm>
            <a:off x="6190488" y="3657600"/>
            <a:ext cx="160020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6  Investigator AI</a:t>
            </a:r>
            <a:endParaRPr lang="en-US" sz="1150" dirty="0"/>
          </a:p>
        </p:txBody>
      </p:sp>
      <p:sp>
        <p:nvSpPr>
          <p:cNvPr id="41" name="Text 36"/>
          <p:cNvSpPr txBox="1"/>
          <p:nvPr/>
        </p:nvSpPr>
        <p:spPr>
          <a:xfrm>
            <a:off x="6163056" y="3977640"/>
            <a:ext cx="1600200"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Writes what happened, order, amounts, method, next step</a:t>
            </a:r>
            <a:endParaRPr lang="en-US" sz="900" dirty="0"/>
          </a:p>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Translator, not detective</a:t>
            </a:r>
            <a:endParaRPr lang="en-US" sz="900" dirty="0"/>
          </a:p>
        </p:txBody>
      </p:sp>
      <p:sp>
        <p:nvSpPr>
          <p:cNvPr id="42" name="Shape 37"/>
          <p:cNvSpPr/>
          <p:nvPr/>
        </p:nvSpPr>
        <p:spPr>
          <a:xfrm>
            <a:off x="7946136" y="3063240"/>
            <a:ext cx="1783080" cy="2331720"/>
          </a:xfrm>
          <a:prstGeom prst="roundRect">
            <a:avLst>
              <a:gd name="adj" fmla="val 5128"/>
            </a:avLst>
          </a:prstGeom>
          <a:solidFill>
            <a:srgbClr val="0E1829"/>
          </a:solidFill>
          <a:ln w="9525">
            <a:solidFill>
              <a:srgbClr val="1F3352"/>
            </a:solidFill>
            <a:prstDash val="solid"/>
          </a:ln>
        </p:spPr>
      </p:sp>
      <p:sp>
        <p:nvSpPr>
          <p:cNvPr id="43" name="Shape 38"/>
          <p:cNvSpPr/>
          <p:nvPr/>
        </p:nvSpPr>
        <p:spPr>
          <a:xfrm>
            <a:off x="8083296" y="3182112"/>
            <a:ext cx="402336" cy="402336"/>
          </a:xfrm>
          <a:prstGeom prst="ellipse">
            <a:avLst/>
          </a:prstGeom>
          <a:solidFill>
            <a:srgbClr val="1A1638"/>
          </a:solidFill>
          <a:ln w="15875">
            <a:solidFill>
              <a:srgbClr val="A78BFA"/>
            </a:solidFill>
            <a:prstDash val="solid"/>
          </a:ln>
        </p:spPr>
      </p:sp>
      <p:pic>
        <p:nvPicPr>
          <p:cNvPr id="44" name="Image 3" descr="preencoded.png">    </p:cNvPr>
          <p:cNvPicPr>
            <a:picLocks noChangeAspect="1"/>
          </p:cNvPicPr>
          <p:nvPr/>
        </p:nvPicPr>
        <p:blipFill>
          <a:blip r:embed="rId5"/>
          <a:stretch>
            <a:fillRect/>
          </a:stretch>
        </p:blipFill>
        <p:spPr>
          <a:xfrm>
            <a:off x="8183880" y="3282696"/>
            <a:ext cx="201168" cy="201168"/>
          </a:xfrm>
          <a:prstGeom prst="rect">
            <a:avLst/>
          </a:prstGeom>
        </p:spPr>
      </p:pic>
      <p:sp>
        <p:nvSpPr>
          <p:cNvPr id="45" name="Shape 39"/>
          <p:cNvSpPr/>
          <p:nvPr/>
        </p:nvSpPr>
        <p:spPr>
          <a:xfrm>
            <a:off x="8677656" y="3264408"/>
            <a:ext cx="914400" cy="237744"/>
          </a:xfrm>
          <a:prstGeom prst="roundRect">
            <a:avLst>
              <a:gd name="adj" fmla="val 50000"/>
            </a:avLst>
          </a:prstGeom>
          <a:solidFill>
            <a:srgbClr val="0B1320"/>
          </a:solidFill>
          <a:ln w="9525">
            <a:solidFill>
              <a:srgbClr val="A78BFA"/>
            </a:solidFill>
            <a:prstDash val="solid"/>
          </a:ln>
        </p:spPr>
      </p:sp>
      <p:sp>
        <p:nvSpPr>
          <p:cNvPr id="46" name="Text 40"/>
          <p:cNvSpPr txBox="1"/>
          <p:nvPr/>
        </p:nvSpPr>
        <p:spPr>
          <a:xfrm>
            <a:off x="8677656" y="3264408"/>
            <a:ext cx="914400" cy="237744"/>
          </a:xfrm>
          <a:prstGeom prst="rect">
            <a:avLst/>
          </a:prstGeom>
          <a:noFill/>
          <a:ln/>
        </p:spPr>
        <p:txBody>
          <a:bodyPr wrap="square" lIns="0" tIns="0" rIns="0" bIns="0" rtlCol="0" anchor="ctr"/>
          <a:lstStyle/>
          <a:p>
            <a:pPr algn="ctr" indent="0" marL="0">
              <a:buNone/>
            </a:pPr>
            <a:r>
              <a:rPr lang="en-US" sz="900" b="1" spc="100" kern="0" dirty="0">
                <a:solidFill>
                  <a:srgbClr val="A78BFA"/>
                </a:solidFill>
                <a:latin typeface="Calibri" pitchFamily="34" charset="0"/>
                <a:ea typeface="Calibri" pitchFamily="34" charset="-122"/>
                <a:cs typeface="Calibri" pitchFamily="34" charset="-120"/>
              </a:rPr>
              <a:t>1:00 AM</a:t>
            </a:r>
            <a:endParaRPr lang="en-US" sz="900" dirty="0"/>
          </a:p>
        </p:txBody>
      </p:sp>
      <p:sp>
        <p:nvSpPr>
          <p:cNvPr id="47" name="Text 41"/>
          <p:cNvSpPr txBox="1"/>
          <p:nvPr/>
        </p:nvSpPr>
        <p:spPr>
          <a:xfrm>
            <a:off x="8083296" y="3657600"/>
            <a:ext cx="160020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7  Verifier AI</a:t>
            </a:r>
            <a:endParaRPr lang="en-US" sz="1150" dirty="0"/>
          </a:p>
        </p:txBody>
      </p:sp>
      <p:sp>
        <p:nvSpPr>
          <p:cNvPr id="48" name="Text 42"/>
          <p:cNvSpPr txBox="1"/>
          <p:nvPr/>
        </p:nvSpPr>
        <p:spPr>
          <a:xfrm>
            <a:off x="8055864" y="3977640"/>
            <a:ext cx="1600200"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Re-checks every number against raw data</a:t>
            </a:r>
            <a:endParaRPr lang="en-US" sz="900" dirty="0"/>
          </a:p>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Pass / revise / reject + confidence</a:t>
            </a:r>
            <a:endParaRPr lang="en-US" sz="900" dirty="0"/>
          </a:p>
        </p:txBody>
      </p:sp>
      <p:sp>
        <p:nvSpPr>
          <p:cNvPr id="49" name="Shape 43"/>
          <p:cNvSpPr/>
          <p:nvPr/>
        </p:nvSpPr>
        <p:spPr>
          <a:xfrm>
            <a:off x="9838944" y="3063240"/>
            <a:ext cx="1783080" cy="2331720"/>
          </a:xfrm>
          <a:prstGeom prst="roundRect">
            <a:avLst>
              <a:gd name="adj" fmla="val 5128"/>
            </a:avLst>
          </a:prstGeom>
          <a:solidFill>
            <a:srgbClr val="0E1829"/>
          </a:solidFill>
          <a:ln w="9525">
            <a:solidFill>
              <a:srgbClr val="1F3352"/>
            </a:solidFill>
            <a:prstDash val="solid"/>
          </a:ln>
        </p:spPr>
      </p:sp>
      <p:sp>
        <p:nvSpPr>
          <p:cNvPr id="50" name="Shape 44"/>
          <p:cNvSpPr/>
          <p:nvPr/>
        </p:nvSpPr>
        <p:spPr>
          <a:xfrm>
            <a:off x="9976104" y="3182112"/>
            <a:ext cx="402336" cy="402336"/>
          </a:xfrm>
          <a:prstGeom prst="ellipse">
            <a:avLst/>
          </a:prstGeom>
          <a:solidFill>
            <a:srgbClr val="161E2C"/>
          </a:solidFill>
          <a:ln w="15875">
            <a:solidFill>
              <a:srgbClr val="FFFFFF"/>
            </a:solidFill>
            <a:prstDash val="solid"/>
          </a:ln>
        </p:spPr>
      </p:sp>
      <p:pic>
        <p:nvPicPr>
          <p:cNvPr id="51" name="Image 4" descr="preencoded.png">    </p:cNvPr>
          <p:cNvPicPr>
            <a:picLocks noChangeAspect="1"/>
          </p:cNvPicPr>
          <p:nvPr/>
        </p:nvPicPr>
        <p:blipFill>
          <a:blip r:embed="rId6"/>
          <a:stretch>
            <a:fillRect/>
          </a:stretch>
        </p:blipFill>
        <p:spPr>
          <a:xfrm>
            <a:off x="10076688" y="3282696"/>
            <a:ext cx="201168" cy="201168"/>
          </a:xfrm>
          <a:prstGeom prst="rect">
            <a:avLst/>
          </a:prstGeom>
        </p:spPr>
      </p:pic>
      <p:sp>
        <p:nvSpPr>
          <p:cNvPr id="52" name="Shape 45"/>
          <p:cNvSpPr/>
          <p:nvPr/>
        </p:nvSpPr>
        <p:spPr>
          <a:xfrm>
            <a:off x="10570464" y="3264408"/>
            <a:ext cx="914400" cy="237744"/>
          </a:xfrm>
          <a:prstGeom prst="roundRect">
            <a:avLst>
              <a:gd name="adj" fmla="val 50000"/>
            </a:avLst>
          </a:prstGeom>
          <a:solidFill>
            <a:srgbClr val="0B1320"/>
          </a:solidFill>
          <a:ln w="9525">
            <a:solidFill>
              <a:srgbClr val="9AAEC6"/>
            </a:solidFill>
            <a:prstDash val="solid"/>
          </a:ln>
        </p:spPr>
      </p:sp>
      <p:sp>
        <p:nvSpPr>
          <p:cNvPr id="53" name="Text 46"/>
          <p:cNvSpPr txBox="1"/>
          <p:nvPr/>
        </p:nvSpPr>
        <p:spPr>
          <a:xfrm>
            <a:off x="10570464" y="3264408"/>
            <a:ext cx="914400" cy="237744"/>
          </a:xfrm>
          <a:prstGeom prst="rect">
            <a:avLst/>
          </a:prstGeom>
          <a:noFill/>
          <a:ln/>
        </p:spPr>
        <p:txBody>
          <a:bodyPr wrap="square" lIns="0" tIns="0" rIns="0" bIns="0" rtlCol="0" anchor="ctr"/>
          <a:lstStyle/>
          <a:p>
            <a:pPr algn="ctr" indent="0" marL="0">
              <a:buNone/>
            </a:pPr>
            <a:r>
              <a:rPr lang="en-US" sz="900" b="1" spc="100" kern="0" dirty="0">
                <a:solidFill>
                  <a:srgbClr val="9AAEC6"/>
                </a:solidFill>
                <a:latin typeface="Calibri" pitchFamily="34" charset="0"/>
                <a:ea typeface="Calibri" pitchFamily="34" charset="-122"/>
                <a:cs typeface="Calibri" pitchFamily="34" charset="-120"/>
              </a:rPr>
              <a:t>3:30 AM</a:t>
            </a:r>
            <a:endParaRPr lang="en-US" sz="900" dirty="0"/>
          </a:p>
        </p:txBody>
      </p:sp>
      <p:sp>
        <p:nvSpPr>
          <p:cNvPr id="54" name="Text 47"/>
          <p:cNvSpPr txBox="1"/>
          <p:nvPr/>
        </p:nvSpPr>
        <p:spPr>
          <a:xfrm>
            <a:off x="9976104" y="3657600"/>
            <a:ext cx="160020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8  Officer</a:t>
            </a:r>
            <a:endParaRPr lang="en-US" sz="1150" dirty="0"/>
          </a:p>
        </p:txBody>
      </p:sp>
      <p:sp>
        <p:nvSpPr>
          <p:cNvPr id="55" name="Text 48"/>
          <p:cNvSpPr txBox="1"/>
          <p:nvPr/>
        </p:nvSpPr>
        <p:spPr>
          <a:xfrm>
            <a:off x="9948672" y="3977640"/>
            <a:ext cx="1600200"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Map fades to the ring; approve → draft STR</a:t>
            </a:r>
            <a:endParaRPr lang="en-US" sz="900" dirty="0"/>
          </a:p>
          <a:p>
            <a:pPr marL="342900" indent="-342900">
              <a:spcAft>
                <a:spcPts val="300"/>
              </a:spcAft>
              <a:buSzPct val="100000"/>
              <a:buChar char="•"/>
            </a:pPr>
            <a:r>
              <a:rPr lang="en-US" sz="900" dirty="0">
                <a:solidFill>
                  <a:srgbClr val="E8EEF6"/>
                </a:solidFill>
                <a:latin typeface="Calibri" pitchFamily="34" charset="0"/>
                <a:ea typeface="Calibri" pitchFamily="34" charset="-122"/>
                <a:cs typeface="Calibri" pitchFamily="34" charset="-120"/>
              </a:rPr>
              <a:t>Nothing is ever auto-filed</a:t>
            </a:r>
            <a:endParaRPr lang="en-US" sz="900" dirty="0"/>
          </a:p>
        </p:txBody>
      </p:sp>
      <p:sp>
        <p:nvSpPr>
          <p:cNvPr id="56" name="Shape 49"/>
          <p:cNvSpPr/>
          <p:nvPr/>
        </p:nvSpPr>
        <p:spPr>
          <a:xfrm>
            <a:off x="4160520" y="5513832"/>
            <a:ext cx="7498080" cy="612648"/>
          </a:xfrm>
          <a:prstGeom prst="roundRect">
            <a:avLst>
              <a:gd name="adj" fmla="val 14925"/>
            </a:avLst>
          </a:prstGeom>
          <a:solidFill>
            <a:srgbClr val="12203A"/>
          </a:solidFill>
          <a:ln w="9525">
            <a:solidFill>
              <a:srgbClr val="1F3352"/>
            </a:solidFill>
            <a:prstDash val="solid"/>
          </a:ln>
        </p:spPr>
      </p:sp>
      <p:pic>
        <p:nvPicPr>
          <p:cNvPr id="57" name="Image 5" descr="preencoded.png">    </p:cNvPr>
          <p:cNvPicPr>
            <a:picLocks noChangeAspect="1"/>
          </p:cNvPicPr>
          <p:nvPr/>
        </p:nvPicPr>
        <p:blipFill>
          <a:blip r:embed="rId7"/>
          <a:stretch>
            <a:fillRect/>
          </a:stretch>
        </p:blipFill>
        <p:spPr>
          <a:xfrm>
            <a:off x="4297680" y="5669280"/>
            <a:ext cx="274320" cy="274320"/>
          </a:xfrm>
          <a:prstGeom prst="rect">
            <a:avLst/>
          </a:prstGeom>
        </p:spPr>
      </p:pic>
      <p:sp>
        <p:nvSpPr>
          <p:cNvPr id="58" name="Text 50"/>
          <p:cNvSpPr txBox="1"/>
          <p:nvPr/>
        </p:nvSpPr>
        <p:spPr>
          <a:xfrm>
            <a:off x="4663440" y="5541264"/>
            <a:ext cx="6903720" cy="54864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4:30 AM deploy on Streamlit Cloud · 5:30 AM demo video · 6:00 AM submit. </a:t>
            </a:r>
            <a:pPr indent="0" marL="0">
              <a:buNone/>
            </a:pPr>
            <a:r>
              <a:rPr lang="en-US" sz="950" dirty="0">
                <a:solidFill>
                  <a:srgbClr val="9AAEC6"/>
                </a:solidFill>
                <a:latin typeface="Calibri" pitchFamily="34" charset="0"/>
                <a:ea typeface="Calibri" pitchFamily="34" charset="-122"/>
                <a:cs typeface="Calibri" pitchFamily="34" charset="-120"/>
              </a:rPr>
              <a:t>All AI output cached: the demo runs offline. Cut first if late: the graph picture. Never cut: ER, Circle, the written case, the approve button.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LIVE DEMO  ·  MENTOR ASKS</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90-second demo</a:t>
            </a:r>
            <a:endParaRPr lang="en-US" sz="3200" dirty="0"/>
          </a:p>
        </p:txBody>
      </p:sp>
      <p:sp>
        <p:nvSpPr>
          <p:cNvPr id="4" name="Text 2"/>
          <p:cNvSpPr txBox="1"/>
          <p:nvPr/>
        </p:nvSpPr>
        <p:spPr>
          <a:xfrm>
            <a:off x="548640" y="1307592"/>
            <a:ext cx="11064240" cy="365760"/>
          </a:xfrm>
          <a:prstGeom prst="rect">
            <a:avLst/>
          </a:prstGeom>
          <a:noFill/>
          <a:ln/>
        </p:spPr>
        <p:txBody>
          <a:bodyPr wrap="square" lIns="0" tIns="0" rIns="0" bIns="0" rtlCol="0" anchor="ctr"/>
          <a:lstStyle/>
          <a:p>
            <a:pPr indent="0" marL="0">
              <a:buNone/>
            </a:pPr>
            <a:r>
              <a:rPr lang="en-US" sz="1500" dirty="0">
                <a:solidFill>
                  <a:srgbClr val="9AAEC6"/>
                </a:solidFill>
                <a:latin typeface="Calibri" pitchFamily="34" charset="0"/>
                <a:ea typeface="Calibri" pitchFamily="34" charset="-122"/>
                <a:cs typeface="Calibri" pitchFamily="34" charset="-120"/>
              </a:rPr>
              <a:t>Beats 1–5 run on our real pipeline today. Beats 6–7 land tonight.</a:t>
            </a:r>
            <a:endParaRPr lang="en-US" sz="1500" dirty="0"/>
          </a:p>
        </p:txBody>
      </p:sp>
      <p:sp>
        <p:nvSpPr>
          <p:cNvPr id="5" name="Text 3"/>
          <p:cNvSpPr txBox="1"/>
          <p:nvPr/>
        </p:nvSpPr>
        <p:spPr>
          <a:xfrm>
            <a:off x="548640" y="6446520"/>
            <a:ext cx="2743200" cy="228600"/>
          </a:xfrm>
          <a:prstGeom prst="rect">
            <a:avLst/>
          </a:prstGeom>
          <a:noFill/>
          <a:ln/>
        </p:spPr>
        <p:txBody>
          <a:bodyPr wrap="square" lIns="0" tIns="0" rIns="0" bIns="0" rtlCol="0" anchor="ctr"/>
          <a:lstStyle/>
          <a:p>
            <a:pPr indent="0" marL="0">
              <a:buNone/>
            </a:pPr>
            <a:r>
              <a:rPr lang="en-US" sz="900" spc="400" kern="0" dirty="0">
                <a:solidFill>
                  <a:srgbClr val="5E7390"/>
                </a:solidFill>
                <a:latin typeface="Calibri" pitchFamily="34" charset="0"/>
                <a:ea typeface="Calibri" pitchFamily="34" charset="-122"/>
                <a:cs typeface="Calibri" pitchFamily="34" charset="-120"/>
              </a:rPr>
              <a:t>CHAKRAVYUH</a:t>
            </a:r>
            <a:endParaRPr lang="en-US" sz="900" dirty="0"/>
          </a:p>
        </p:txBody>
      </p:sp>
      <p:sp>
        <p:nvSpPr>
          <p:cNvPr id="6" name="Text 4"/>
          <p:cNvSpPr txBox="1"/>
          <p:nvPr/>
        </p:nvSpPr>
        <p:spPr>
          <a:xfrm>
            <a:off x="10725912" y="6446520"/>
            <a:ext cx="914400" cy="228600"/>
          </a:xfrm>
          <a:prstGeom prst="rect">
            <a:avLst/>
          </a:prstGeom>
          <a:noFill/>
          <a:ln/>
        </p:spPr>
        <p:txBody>
          <a:bodyPr wrap="square" lIns="0" tIns="0" rIns="0" bIns="0" rtlCol="0" anchor="ctr"/>
          <a:lstStyle/>
          <a:p>
            <a:pPr algn="r" indent="0" marL="0">
              <a:buNone/>
            </a:pPr>
            <a:r>
              <a:rPr lang="en-US" sz="900" dirty="0">
                <a:solidFill>
                  <a:srgbClr val="5E7390"/>
                </a:solidFill>
                <a:latin typeface="Calibri" pitchFamily="34" charset="0"/>
                <a:ea typeface="Calibri" pitchFamily="34" charset="-122"/>
                <a:cs typeface="Calibri" pitchFamily="34" charset="-120"/>
              </a:rPr>
              <a:t>08</a:t>
            </a:r>
            <a:endParaRPr lang="en-US" sz="900" dirty="0"/>
          </a:p>
        </p:txBody>
      </p:sp>
      <p:sp>
        <p:nvSpPr>
          <p:cNvPr id="7" name="Shape 5"/>
          <p:cNvSpPr/>
          <p:nvPr/>
        </p:nvSpPr>
        <p:spPr>
          <a:xfrm>
            <a:off x="548640" y="1810512"/>
            <a:ext cx="384048" cy="384048"/>
          </a:xfrm>
          <a:prstGeom prst="ellipse">
            <a:avLst/>
          </a:prstGeom>
          <a:solidFill>
            <a:srgbClr val="071A24"/>
          </a:solidFill>
          <a:ln w="15875">
            <a:solidFill>
              <a:srgbClr val="22D3EE"/>
            </a:solidFill>
            <a:prstDash val="solid"/>
          </a:ln>
        </p:spPr>
      </p:sp>
      <p:sp>
        <p:nvSpPr>
          <p:cNvPr id="8" name="Text 6"/>
          <p:cNvSpPr txBox="1"/>
          <p:nvPr/>
        </p:nvSpPr>
        <p:spPr>
          <a:xfrm>
            <a:off x="548640" y="1810512"/>
            <a:ext cx="384048" cy="384048"/>
          </a:xfrm>
          <a:prstGeom prst="rect">
            <a:avLst/>
          </a:prstGeom>
          <a:noFill/>
          <a:ln/>
        </p:spPr>
        <p:txBody>
          <a:bodyPr wrap="square" lIns="0" tIns="0" rIns="0" bIns="0" rtlCol="0" anchor="ctr"/>
          <a:lstStyle/>
          <a:p>
            <a:pPr algn="ctr" indent="0" marL="0">
              <a:buNone/>
            </a:pPr>
            <a:r>
              <a:rPr lang="en-US" sz="1250" b="1" dirty="0">
                <a:solidFill>
                  <a:srgbClr val="22D3EE"/>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1078992" y="1828800"/>
            <a:ext cx="16002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mess</a:t>
            </a:r>
            <a:endParaRPr lang="en-US" sz="1250" dirty="0"/>
          </a:p>
        </p:txBody>
      </p:sp>
      <p:sp>
        <p:nvSpPr>
          <p:cNvPr id="10" name="Text 8"/>
          <p:cNvSpPr txBox="1"/>
          <p:nvPr/>
        </p:nvSpPr>
        <p:spPr>
          <a:xfrm>
            <a:off x="2697480" y="1828800"/>
            <a:ext cx="3520440" cy="347472"/>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80,000 transactions. Nothing looks wrong.</a:t>
            </a:r>
            <a:endParaRPr lang="en-US" sz="1050" dirty="0"/>
          </a:p>
        </p:txBody>
      </p:sp>
      <p:sp>
        <p:nvSpPr>
          <p:cNvPr id="11" name="Shape 9"/>
          <p:cNvSpPr/>
          <p:nvPr/>
        </p:nvSpPr>
        <p:spPr>
          <a:xfrm>
            <a:off x="740664" y="2212848"/>
            <a:ext cx="0" cy="128016"/>
          </a:xfrm>
          <a:prstGeom prst="line">
            <a:avLst/>
          </a:prstGeom>
          <a:noFill/>
          <a:ln w="12700">
            <a:solidFill>
              <a:srgbClr val="1F3352"/>
            </a:solidFill>
            <a:prstDash val="solid"/>
          </a:ln>
        </p:spPr>
      </p:sp>
      <p:sp>
        <p:nvSpPr>
          <p:cNvPr id="12" name="Shape 10"/>
          <p:cNvSpPr/>
          <p:nvPr/>
        </p:nvSpPr>
        <p:spPr>
          <a:xfrm>
            <a:off x="548640" y="2359152"/>
            <a:ext cx="384048" cy="384048"/>
          </a:xfrm>
          <a:prstGeom prst="ellipse">
            <a:avLst/>
          </a:prstGeom>
          <a:solidFill>
            <a:srgbClr val="071A24"/>
          </a:solidFill>
          <a:ln w="15875">
            <a:solidFill>
              <a:srgbClr val="22D3EE"/>
            </a:solidFill>
            <a:prstDash val="solid"/>
          </a:ln>
        </p:spPr>
      </p:sp>
      <p:sp>
        <p:nvSpPr>
          <p:cNvPr id="13" name="Text 11"/>
          <p:cNvSpPr txBox="1"/>
          <p:nvPr/>
        </p:nvSpPr>
        <p:spPr>
          <a:xfrm>
            <a:off x="548640" y="2359152"/>
            <a:ext cx="384048" cy="384048"/>
          </a:xfrm>
          <a:prstGeom prst="rect">
            <a:avLst/>
          </a:prstGeom>
          <a:noFill/>
          <a:ln/>
        </p:spPr>
        <p:txBody>
          <a:bodyPr wrap="square" lIns="0" tIns="0" rIns="0" bIns="0" rtlCol="0" anchor="ctr"/>
          <a:lstStyle/>
          <a:p>
            <a:pPr algn="ctr" indent="0" marL="0">
              <a:buNone/>
            </a:pPr>
            <a:r>
              <a:rPr lang="en-US" sz="1250" b="1" dirty="0">
                <a:solidFill>
                  <a:srgbClr val="22D3EE"/>
                </a:solidFill>
                <a:latin typeface="Calibri" pitchFamily="34" charset="0"/>
                <a:ea typeface="Calibri" pitchFamily="34" charset="-122"/>
                <a:cs typeface="Calibri" pitchFamily="34" charset="-120"/>
              </a:rPr>
              <a:t>2</a:t>
            </a:r>
            <a:endParaRPr lang="en-US" sz="1250" dirty="0"/>
          </a:p>
        </p:txBody>
      </p:sp>
      <p:sp>
        <p:nvSpPr>
          <p:cNvPr id="14" name="Text 12"/>
          <p:cNvSpPr txBox="1"/>
          <p:nvPr/>
        </p:nvSpPr>
        <p:spPr>
          <a:xfrm>
            <a:off x="1078992" y="2377440"/>
            <a:ext cx="16002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fragments</a:t>
            </a:r>
            <a:endParaRPr lang="en-US" sz="1250" dirty="0"/>
          </a:p>
        </p:txBody>
      </p:sp>
      <p:sp>
        <p:nvSpPr>
          <p:cNvPr id="15" name="Text 13"/>
          <p:cNvSpPr txBox="1"/>
          <p:nvPr/>
        </p:nvSpPr>
        <p:spPr>
          <a:xfrm>
            <a:off x="2697480" y="2377440"/>
            <a:ext cx="3520440" cy="347472"/>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Balaji Malhotra, written 4 ways across 3 systems.</a:t>
            </a:r>
            <a:endParaRPr lang="en-US" sz="1050" dirty="0"/>
          </a:p>
        </p:txBody>
      </p:sp>
      <p:sp>
        <p:nvSpPr>
          <p:cNvPr id="16" name="Shape 14"/>
          <p:cNvSpPr/>
          <p:nvPr/>
        </p:nvSpPr>
        <p:spPr>
          <a:xfrm>
            <a:off x="740664" y="2761488"/>
            <a:ext cx="0" cy="128016"/>
          </a:xfrm>
          <a:prstGeom prst="line">
            <a:avLst/>
          </a:prstGeom>
          <a:noFill/>
          <a:ln w="12700">
            <a:solidFill>
              <a:srgbClr val="1F3352"/>
            </a:solidFill>
            <a:prstDash val="solid"/>
          </a:ln>
        </p:spPr>
      </p:sp>
      <p:sp>
        <p:nvSpPr>
          <p:cNvPr id="17" name="Shape 15"/>
          <p:cNvSpPr/>
          <p:nvPr/>
        </p:nvSpPr>
        <p:spPr>
          <a:xfrm>
            <a:off x="548640" y="2907792"/>
            <a:ext cx="384048" cy="384048"/>
          </a:xfrm>
          <a:prstGeom prst="ellipse">
            <a:avLst/>
          </a:prstGeom>
          <a:solidFill>
            <a:srgbClr val="071A24"/>
          </a:solidFill>
          <a:ln w="15875">
            <a:solidFill>
              <a:srgbClr val="22D3EE"/>
            </a:solidFill>
            <a:prstDash val="solid"/>
          </a:ln>
        </p:spPr>
      </p:sp>
      <p:sp>
        <p:nvSpPr>
          <p:cNvPr id="18" name="Text 16"/>
          <p:cNvSpPr txBox="1"/>
          <p:nvPr/>
        </p:nvSpPr>
        <p:spPr>
          <a:xfrm>
            <a:off x="548640" y="2907792"/>
            <a:ext cx="384048" cy="384048"/>
          </a:xfrm>
          <a:prstGeom prst="rect">
            <a:avLst/>
          </a:prstGeom>
          <a:noFill/>
          <a:ln/>
        </p:spPr>
        <p:txBody>
          <a:bodyPr wrap="square" lIns="0" tIns="0" rIns="0" bIns="0" rtlCol="0" anchor="ctr"/>
          <a:lstStyle/>
          <a:p>
            <a:pPr algn="ctr" indent="0" marL="0">
              <a:buNone/>
            </a:pPr>
            <a:r>
              <a:rPr lang="en-US" sz="1250" b="1" dirty="0">
                <a:solidFill>
                  <a:srgbClr val="22D3EE"/>
                </a:solidFill>
                <a:latin typeface="Calibri" pitchFamily="34" charset="0"/>
                <a:ea typeface="Calibri" pitchFamily="34" charset="-122"/>
                <a:cs typeface="Calibri" pitchFamily="34" charset="-120"/>
              </a:rPr>
              <a:t>3</a:t>
            </a:r>
            <a:endParaRPr lang="en-US" sz="1250" dirty="0"/>
          </a:p>
        </p:txBody>
      </p:sp>
      <p:sp>
        <p:nvSpPr>
          <p:cNvPr id="19" name="Text 17"/>
          <p:cNvSpPr txBox="1"/>
          <p:nvPr/>
        </p:nvSpPr>
        <p:spPr>
          <a:xfrm>
            <a:off x="1078992" y="2926080"/>
            <a:ext cx="16002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Resolve</a:t>
            </a:r>
            <a:endParaRPr lang="en-US" sz="1250" dirty="0"/>
          </a:p>
        </p:txBody>
      </p:sp>
      <p:sp>
        <p:nvSpPr>
          <p:cNvPr id="20" name="Text 18"/>
          <p:cNvSpPr txBox="1"/>
          <p:nvPr/>
        </p:nvSpPr>
        <p:spPr>
          <a:xfrm>
            <a:off x="2697480" y="2926080"/>
            <a:ext cx="3520440" cy="347472"/>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2,500 accounts → 1,828 people. The circle appears.</a:t>
            </a:r>
            <a:endParaRPr lang="en-US" sz="1050" dirty="0"/>
          </a:p>
        </p:txBody>
      </p:sp>
      <p:sp>
        <p:nvSpPr>
          <p:cNvPr id="21" name="Shape 19"/>
          <p:cNvSpPr/>
          <p:nvPr/>
        </p:nvSpPr>
        <p:spPr>
          <a:xfrm>
            <a:off x="740664" y="3310128"/>
            <a:ext cx="0" cy="128016"/>
          </a:xfrm>
          <a:prstGeom prst="line">
            <a:avLst/>
          </a:prstGeom>
          <a:noFill/>
          <a:ln w="12700">
            <a:solidFill>
              <a:srgbClr val="1F3352"/>
            </a:solidFill>
            <a:prstDash val="solid"/>
          </a:ln>
        </p:spPr>
      </p:sp>
      <p:sp>
        <p:nvSpPr>
          <p:cNvPr id="22" name="Shape 20"/>
          <p:cNvSpPr/>
          <p:nvPr/>
        </p:nvSpPr>
        <p:spPr>
          <a:xfrm>
            <a:off x="548640" y="3456432"/>
            <a:ext cx="384048" cy="384048"/>
          </a:xfrm>
          <a:prstGeom prst="ellipse">
            <a:avLst/>
          </a:prstGeom>
          <a:solidFill>
            <a:srgbClr val="071A24"/>
          </a:solidFill>
          <a:ln w="15875">
            <a:solidFill>
              <a:srgbClr val="22D3EE"/>
            </a:solidFill>
            <a:prstDash val="solid"/>
          </a:ln>
        </p:spPr>
      </p:sp>
      <p:sp>
        <p:nvSpPr>
          <p:cNvPr id="23" name="Text 21"/>
          <p:cNvSpPr txBox="1"/>
          <p:nvPr/>
        </p:nvSpPr>
        <p:spPr>
          <a:xfrm>
            <a:off x="548640" y="3456432"/>
            <a:ext cx="384048" cy="384048"/>
          </a:xfrm>
          <a:prstGeom prst="rect">
            <a:avLst/>
          </a:prstGeom>
          <a:noFill/>
          <a:ln/>
        </p:spPr>
        <p:txBody>
          <a:bodyPr wrap="square" lIns="0" tIns="0" rIns="0" bIns="0" rtlCol="0" anchor="ctr"/>
          <a:lstStyle/>
          <a:p>
            <a:pPr algn="ctr" indent="0" marL="0">
              <a:buNone/>
            </a:pPr>
            <a:r>
              <a:rPr lang="en-US" sz="1250" b="1" dirty="0">
                <a:solidFill>
                  <a:srgbClr val="22D3EE"/>
                </a:solidFill>
                <a:latin typeface="Calibri" pitchFamily="34" charset="0"/>
                <a:ea typeface="Calibri" pitchFamily="34" charset="-122"/>
                <a:cs typeface="Calibri" pitchFamily="34" charset="-120"/>
              </a:rPr>
              <a:t>4</a:t>
            </a:r>
            <a:endParaRPr lang="en-US" sz="1250" dirty="0"/>
          </a:p>
        </p:txBody>
      </p:sp>
      <p:sp>
        <p:nvSpPr>
          <p:cNvPr id="24" name="Text 22"/>
          <p:cNvSpPr txBox="1"/>
          <p:nvPr/>
        </p:nvSpPr>
        <p:spPr>
          <a:xfrm>
            <a:off x="1078992" y="3474720"/>
            <a:ext cx="16002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Two banks, blind</a:t>
            </a:r>
            <a:endParaRPr lang="en-US" sz="1250" dirty="0"/>
          </a:p>
        </p:txBody>
      </p:sp>
      <p:sp>
        <p:nvSpPr>
          <p:cNvPr id="25" name="Text 23"/>
          <p:cNvSpPr txBox="1"/>
          <p:nvPr/>
        </p:nvSpPr>
        <p:spPr>
          <a:xfrm>
            <a:off x="2697480" y="3474720"/>
            <a:ext cx="3520440" cy="347472"/>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Each bank sees 5 of 6 hops. The consortium closes it.</a:t>
            </a:r>
            <a:endParaRPr lang="en-US" sz="1050" dirty="0"/>
          </a:p>
        </p:txBody>
      </p:sp>
      <p:sp>
        <p:nvSpPr>
          <p:cNvPr id="26" name="Shape 24"/>
          <p:cNvSpPr/>
          <p:nvPr/>
        </p:nvSpPr>
        <p:spPr>
          <a:xfrm>
            <a:off x="740664" y="3858768"/>
            <a:ext cx="0" cy="128016"/>
          </a:xfrm>
          <a:prstGeom prst="line">
            <a:avLst/>
          </a:prstGeom>
          <a:noFill/>
          <a:ln w="12700">
            <a:solidFill>
              <a:srgbClr val="1F3352"/>
            </a:solidFill>
            <a:prstDash val="solid"/>
          </a:ln>
        </p:spPr>
      </p:sp>
      <p:sp>
        <p:nvSpPr>
          <p:cNvPr id="27" name="Shape 25"/>
          <p:cNvSpPr/>
          <p:nvPr/>
        </p:nvSpPr>
        <p:spPr>
          <a:xfrm>
            <a:off x="548640" y="4005072"/>
            <a:ext cx="384048" cy="384048"/>
          </a:xfrm>
          <a:prstGeom prst="ellipse">
            <a:avLst/>
          </a:prstGeom>
          <a:solidFill>
            <a:srgbClr val="071A24"/>
          </a:solidFill>
          <a:ln w="15875">
            <a:solidFill>
              <a:srgbClr val="22D3EE"/>
            </a:solidFill>
            <a:prstDash val="solid"/>
          </a:ln>
        </p:spPr>
      </p:sp>
      <p:sp>
        <p:nvSpPr>
          <p:cNvPr id="28" name="Text 26"/>
          <p:cNvSpPr txBox="1"/>
          <p:nvPr/>
        </p:nvSpPr>
        <p:spPr>
          <a:xfrm>
            <a:off x="548640" y="4005072"/>
            <a:ext cx="384048" cy="384048"/>
          </a:xfrm>
          <a:prstGeom prst="rect">
            <a:avLst/>
          </a:prstGeom>
          <a:noFill/>
          <a:ln/>
        </p:spPr>
        <p:txBody>
          <a:bodyPr wrap="square" lIns="0" tIns="0" rIns="0" bIns="0" rtlCol="0" anchor="ctr"/>
          <a:lstStyle/>
          <a:p>
            <a:pPr algn="ctr" indent="0" marL="0">
              <a:buNone/>
            </a:pPr>
            <a:r>
              <a:rPr lang="en-US" sz="1250" b="1" dirty="0">
                <a:solidFill>
                  <a:srgbClr val="22D3EE"/>
                </a:solidFill>
                <a:latin typeface="Calibri" pitchFamily="34" charset="0"/>
                <a:ea typeface="Calibri" pitchFamily="34" charset="-122"/>
                <a:cs typeface="Calibri" pitchFamily="34" charset="-120"/>
              </a:rPr>
              <a:t>5</a:t>
            </a:r>
            <a:endParaRPr lang="en-US" sz="1250" dirty="0"/>
          </a:p>
        </p:txBody>
      </p:sp>
      <p:sp>
        <p:nvSpPr>
          <p:cNvPr id="29" name="Text 27"/>
          <p:cNvSpPr txBox="1"/>
          <p:nvPr/>
        </p:nvSpPr>
        <p:spPr>
          <a:xfrm>
            <a:off x="1078992" y="4023360"/>
            <a:ext cx="16002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Run the swarm</a:t>
            </a:r>
            <a:endParaRPr lang="en-US" sz="1250" dirty="0"/>
          </a:p>
        </p:txBody>
      </p:sp>
      <p:sp>
        <p:nvSpPr>
          <p:cNvPr id="30" name="Text 28"/>
          <p:cNvSpPr txBox="1"/>
          <p:nvPr/>
        </p:nvSpPr>
        <p:spPr>
          <a:xfrm>
            <a:off x="2697480" y="4023360"/>
            <a:ext cx="3520440" cy="347472"/>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11 of 12 rings, 0 false alarms, in seconds.</a:t>
            </a:r>
            <a:endParaRPr lang="en-US" sz="1050" dirty="0"/>
          </a:p>
        </p:txBody>
      </p:sp>
      <p:sp>
        <p:nvSpPr>
          <p:cNvPr id="31" name="Shape 29"/>
          <p:cNvSpPr/>
          <p:nvPr/>
        </p:nvSpPr>
        <p:spPr>
          <a:xfrm>
            <a:off x="740664" y="4407408"/>
            <a:ext cx="0" cy="128016"/>
          </a:xfrm>
          <a:prstGeom prst="line">
            <a:avLst/>
          </a:prstGeom>
          <a:noFill/>
          <a:ln w="12700">
            <a:solidFill>
              <a:srgbClr val="1F3352"/>
            </a:solidFill>
            <a:prstDash val="solid"/>
          </a:ln>
        </p:spPr>
      </p:sp>
      <p:sp>
        <p:nvSpPr>
          <p:cNvPr id="32" name="Shape 30"/>
          <p:cNvSpPr/>
          <p:nvPr/>
        </p:nvSpPr>
        <p:spPr>
          <a:xfrm>
            <a:off x="548640" y="4553712"/>
            <a:ext cx="384048" cy="384048"/>
          </a:xfrm>
          <a:prstGeom prst="ellipse">
            <a:avLst/>
          </a:prstGeom>
          <a:solidFill>
            <a:srgbClr val="1A1638"/>
          </a:solidFill>
          <a:ln w="15875">
            <a:solidFill>
              <a:srgbClr val="A78BFA"/>
            </a:solidFill>
            <a:prstDash val="solid"/>
          </a:ln>
        </p:spPr>
      </p:sp>
      <p:sp>
        <p:nvSpPr>
          <p:cNvPr id="33" name="Text 31"/>
          <p:cNvSpPr txBox="1"/>
          <p:nvPr/>
        </p:nvSpPr>
        <p:spPr>
          <a:xfrm>
            <a:off x="548640" y="4553712"/>
            <a:ext cx="384048" cy="384048"/>
          </a:xfrm>
          <a:prstGeom prst="rect">
            <a:avLst/>
          </a:prstGeom>
          <a:noFill/>
          <a:ln/>
        </p:spPr>
        <p:txBody>
          <a:bodyPr wrap="square" lIns="0" tIns="0" rIns="0" bIns="0" rtlCol="0" anchor="ctr"/>
          <a:lstStyle/>
          <a:p>
            <a:pPr algn="ctr" indent="0" marL="0">
              <a:buNone/>
            </a:pPr>
            <a:r>
              <a:rPr lang="en-US" sz="1250" b="1" dirty="0">
                <a:solidFill>
                  <a:srgbClr val="A78BFA"/>
                </a:solidFill>
                <a:latin typeface="Calibri" pitchFamily="34" charset="0"/>
                <a:ea typeface="Calibri" pitchFamily="34" charset="-122"/>
                <a:cs typeface="Calibri" pitchFamily="34" charset="-120"/>
              </a:rPr>
              <a:t>6</a:t>
            </a:r>
            <a:endParaRPr lang="en-US" sz="1250" dirty="0"/>
          </a:p>
        </p:txBody>
      </p:sp>
      <p:sp>
        <p:nvSpPr>
          <p:cNvPr id="34" name="Text 32"/>
          <p:cNvSpPr txBox="1"/>
          <p:nvPr/>
        </p:nvSpPr>
        <p:spPr>
          <a:xfrm>
            <a:off x="1078992" y="4572000"/>
            <a:ext cx="16002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case</a:t>
            </a:r>
            <a:endParaRPr lang="en-US" sz="1250" dirty="0"/>
          </a:p>
        </p:txBody>
      </p:sp>
      <p:sp>
        <p:nvSpPr>
          <p:cNvPr id="35" name="Text 33"/>
          <p:cNvSpPr txBox="1"/>
          <p:nvPr/>
        </p:nvSpPr>
        <p:spPr>
          <a:xfrm>
            <a:off x="2697480" y="4572000"/>
            <a:ext cx="3520440" cy="347472"/>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The map fades to three people and the loop.</a:t>
            </a:r>
            <a:endParaRPr lang="en-US" sz="1050" dirty="0"/>
          </a:p>
        </p:txBody>
      </p:sp>
      <p:sp>
        <p:nvSpPr>
          <p:cNvPr id="36" name="Shape 34"/>
          <p:cNvSpPr/>
          <p:nvPr/>
        </p:nvSpPr>
        <p:spPr>
          <a:xfrm>
            <a:off x="740664" y="4956048"/>
            <a:ext cx="0" cy="128016"/>
          </a:xfrm>
          <a:prstGeom prst="line">
            <a:avLst/>
          </a:prstGeom>
          <a:noFill/>
          <a:ln w="12700">
            <a:solidFill>
              <a:srgbClr val="1F3352"/>
            </a:solidFill>
            <a:prstDash val="solid"/>
          </a:ln>
        </p:spPr>
      </p:sp>
      <p:sp>
        <p:nvSpPr>
          <p:cNvPr id="37" name="Shape 35"/>
          <p:cNvSpPr/>
          <p:nvPr/>
        </p:nvSpPr>
        <p:spPr>
          <a:xfrm>
            <a:off x="548640" y="5102352"/>
            <a:ext cx="384048" cy="384048"/>
          </a:xfrm>
          <a:prstGeom prst="ellipse">
            <a:avLst/>
          </a:prstGeom>
          <a:solidFill>
            <a:srgbClr val="1A1638"/>
          </a:solidFill>
          <a:ln w="15875">
            <a:solidFill>
              <a:srgbClr val="A78BFA"/>
            </a:solidFill>
            <a:prstDash val="solid"/>
          </a:ln>
        </p:spPr>
      </p:sp>
      <p:sp>
        <p:nvSpPr>
          <p:cNvPr id="38" name="Text 36"/>
          <p:cNvSpPr txBox="1"/>
          <p:nvPr/>
        </p:nvSpPr>
        <p:spPr>
          <a:xfrm>
            <a:off x="548640" y="5102352"/>
            <a:ext cx="384048" cy="384048"/>
          </a:xfrm>
          <a:prstGeom prst="rect">
            <a:avLst/>
          </a:prstGeom>
          <a:noFill/>
          <a:ln/>
        </p:spPr>
        <p:txBody>
          <a:bodyPr wrap="square" lIns="0" tIns="0" rIns="0" bIns="0" rtlCol="0" anchor="ctr"/>
          <a:lstStyle/>
          <a:p>
            <a:pPr algn="ctr" indent="0" marL="0">
              <a:buNone/>
            </a:pPr>
            <a:r>
              <a:rPr lang="en-US" sz="1250" b="1" dirty="0">
                <a:solidFill>
                  <a:srgbClr val="A78BFA"/>
                </a:solidFill>
                <a:latin typeface="Calibri" pitchFamily="34" charset="0"/>
                <a:ea typeface="Calibri" pitchFamily="34" charset="-122"/>
                <a:cs typeface="Calibri" pitchFamily="34" charset="-120"/>
              </a:rPr>
              <a:t>7</a:t>
            </a:r>
            <a:endParaRPr lang="en-US" sz="1250" dirty="0"/>
          </a:p>
        </p:txBody>
      </p:sp>
      <p:sp>
        <p:nvSpPr>
          <p:cNvPr id="39" name="Text 37"/>
          <p:cNvSpPr txBox="1"/>
          <p:nvPr/>
        </p:nvSpPr>
        <p:spPr>
          <a:xfrm>
            <a:off x="1078992" y="5120640"/>
            <a:ext cx="160020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verdict</a:t>
            </a:r>
            <a:endParaRPr lang="en-US" sz="1250" dirty="0"/>
          </a:p>
        </p:txBody>
      </p:sp>
      <p:sp>
        <p:nvSpPr>
          <p:cNvPr id="40" name="Text 38"/>
          <p:cNvSpPr txBox="1"/>
          <p:nvPr/>
        </p:nvSpPr>
        <p:spPr>
          <a:xfrm>
            <a:off x="2697480" y="5120640"/>
            <a:ext cx="3520440" cy="347472"/>
          </a:xfrm>
          <a:prstGeom prst="rect">
            <a:avLst/>
          </a:prstGeom>
          <a:noFill/>
          <a:ln/>
        </p:spPr>
        <p:txBody>
          <a:bodyPr wrap="square" lIns="0" tIns="0" rIns="0" bIns="0" rtlCol="0" anchor="ctr"/>
          <a:lstStyle/>
          <a:p>
            <a:pPr indent="0" marL="0">
              <a:buNone/>
            </a:pPr>
            <a:r>
              <a:rPr lang="en-US" sz="1050" dirty="0">
                <a:solidFill>
                  <a:srgbClr val="9AAEC6"/>
                </a:solidFill>
                <a:latin typeface="Calibri" pitchFamily="34" charset="0"/>
                <a:ea typeface="Calibri" pitchFamily="34" charset="-122"/>
                <a:cs typeface="Calibri" pitchFamily="34" charset="-120"/>
              </a:rPr>
              <a:t>Every claim verified. The officer clicks approve.</a:t>
            </a:r>
            <a:endParaRPr lang="en-US" sz="1050" dirty="0"/>
          </a:p>
        </p:txBody>
      </p:sp>
      <p:sp>
        <p:nvSpPr>
          <p:cNvPr id="41" name="Text 39"/>
          <p:cNvSpPr txBox="1"/>
          <p:nvPr/>
        </p:nvSpPr>
        <p:spPr>
          <a:xfrm>
            <a:off x="548640" y="5715000"/>
            <a:ext cx="5669280" cy="365760"/>
          </a:xfrm>
          <a:prstGeom prst="rect">
            <a:avLst/>
          </a:prstGeom>
          <a:noFill/>
          <a:ln/>
        </p:spPr>
        <p:txBody>
          <a:bodyPr wrap="square" lIns="0" tIns="0" rIns="0" bIns="0" rtlCol="0" anchor="t"/>
          <a:lstStyle/>
          <a:p>
            <a:pPr indent="0" marL="0">
              <a:buNone/>
            </a:pPr>
            <a:r>
              <a:rPr lang="en-US" sz="1050" i="1" dirty="0">
                <a:solidFill>
                  <a:srgbClr val="FFFFFF"/>
                </a:solidFill>
                <a:latin typeface="Calibri" pitchFamily="34" charset="0"/>
                <a:ea typeface="Calibri" pitchFamily="34" charset="-122"/>
                <a:cs typeface="Calibri" pitchFamily="34" charset="-120"/>
              </a:rPr>
              <a:t>Strongest beat: 3. The circle was always there; the bank just couldn’t see it was the same people.</a:t>
            </a:r>
            <a:endParaRPr lang="en-US" sz="1050" dirty="0"/>
          </a:p>
        </p:txBody>
      </p:sp>
      <p:sp>
        <p:nvSpPr>
          <p:cNvPr id="42" name="Shape 40"/>
          <p:cNvSpPr/>
          <p:nvPr/>
        </p:nvSpPr>
        <p:spPr>
          <a:xfrm>
            <a:off x="6446520" y="1810512"/>
            <a:ext cx="5212080" cy="1325880"/>
          </a:xfrm>
          <a:prstGeom prst="roundRect">
            <a:avLst>
              <a:gd name="adj" fmla="val 6897"/>
            </a:avLst>
          </a:prstGeom>
          <a:solidFill>
            <a:srgbClr val="060E18"/>
          </a:solidFill>
          <a:ln w="9525">
            <a:solidFill>
              <a:srgbClr val="1F3352"/>
            </a:solidFill>
            <a:prstDash val="solid"/>
          </a:ln>
        </p:spPr>
      </p:sp>
      <p:sp>
        <p:nvSpPr>
          <p:cNvPr id="43" name="Text 41"/>
          <p:cNvSpPr txBox="1"/>
          <p:nvPr/>
        </p:nvSpPr>
        <p:spPr>
          <a:xfrm>
            <a:off x="6629400" y="1901952"/>
            <a:ext cx="2743200" cy="201168"/>
          </a:xfrm>
          <a:prstGeom prst="rect">
            <a:avLst/>
          </a:prstGeom>
          <a:noFill/>
          <a:ln/>
        </p:spPr>
        <p:txBody>
          <a:bodyPr wrap="square" lIns="0" tIns="0" rIns="0" bIns="0" rtlCol="0" anchor="t"/>
          <a:lstStyle/>
          <a:p>
            <a:pPr indent="0" marL="0">
              <a:buNone/>
            </a:pPr>
            <a:r>
              <a:rPr lang="en-US" sz="900" b="1" spc="300" kern="0" dirty="0">
                <a:solidFill>
                  <a:srgbClr val="22D3EE"/>
                </a:solidFill>
                <a:latin typeface="Calibri" pitchFamily="34" charset="0"/>
                <a:ea typeface="Calibri" pitchFamily="34" charset="-122"/>
                <a:cs typeface="Calibri" pitchFamily="34" charset="-120"/>
              </a:rPr>
              <a:t>RUN IT NOW</a:t>
            </a:r>
            <a:endParaRPr lang="en-US" sz="900" dirty="0"/>
          </a:p>
        </p:txBody>
      </p:sp>
      <p:sp>
        <p:nvSpPr>
          <p:cNvPr id="44" name="Text 42"/>
          <p:cNvSpPr txBox="1"/>
          <p:nvPr/>
        </p:nvSpPr>
        <p:spPr>
          <a:xfrm>
            <a:off x="6629400" y="2194560"/>
            <a:ext cx="2743200" cy="274320"/>
          </a:xfrm>
          <a:prstGeom prst="rect">
            <a:avLst/>
          </a:prstGeom>
          <a:noFill/>
          <a:ln/>
        </p:spPr>
        <p:txBody>
          <a:bodyPr wrap="square" lIns="0" tIns="0" rIns="0" bIns="0" rtlCol="0" anchor="ctr"/>
          <a:lstStyle/>
          <a:p>
            <a:pPr indent="0" marL="0">
              <a:buNone/>
            </a:pPr>
            <a:r>
              <a:rPr lang="en-US" sz="950" dirty="0">
                <a:solidFill>
                  <a:srgbClr val="34D399"/>
                </a:solidFill>
                <a:latin typeface="Courier New" pitchFamily="34" charset="0"/>
                <a:ea typeface="Courier New" pitchFamily="34" charset="-122"/>
                <a:cs typeface="Courier New" pitchFamily="34" charset="-120"/>
              </a:rPr>
              <a:t>$ python3 entity_resolution.py</a:t>
            </a:r>
            <a:endParaRPr lang="en-US" sz="950" dirty="0"/>
          </a:p>
        </p:txBody>
      </p:sp>
      <p:sp>
        <p:nvSpPr>
          <p:cNvPr id="45" name="Text 43"/>
          <p:cNvSpPr txBox="1"/>
          <p:nvPr/>
        </p:nvSpPr>
        <p:spPr>
          <a:xfrm>
            <a:off x="9418320" y="2194560"/>
            <a:ext cx="2194560" cy="274320"/>
          </a:xfrm>
          <a:prstGeom prst="rect">
            <a:avLst/>
          </a:prstGeom>
          <a:noFill/>
          <a:ln/>
        </p:spPr>
        <p:txBody>
          <a:bodyPr wrap="square" lIns="0" tIns="0" rIns="0" bIns="0" rtlCol="0" anchor="ctr"/>
          <a:lstStyle/>
          <a:p>
            <a:pPr indent="0" marL="0">
              <a:buNone/>
            </a:pPr>
            <a:r>
              <a:rPr lang="en-US" sz="900" dirty="0">
                <a:solidFill>
                  <a:srgbClr val="9AAEC6"/>
                </a:solidFill>
                <a:latin typeface="Courier New" pitchFamily="34" charset="0"/>
                <a:ea typeface="Courier New" pitchFamily="34" charset="-122"/>
                <a:cs typeface="Courier New" pitchFamily="34" charset="-120"/>
              </a:rPr>
              <a:t>→ precision 1.0000</a:t>
            </a:r>
            <a:endParaRPr lang="en-US" sz="900" dirty="0"/>
          </a:p>
        </p:txBody>
      </p:sp>
      <p:sp>
        <p:nvSpPr>
          <p:cNvPr id="46" name="Text 44"/>
          <p:cNvSpPr txBox="1"/>
          <p:nvPr/>
        </p:nvSpPr>
        <p:spPr>
          <a:xfrm>
            <a:off x="6629400" y="2487168"/>
            <a:ext cx="2743200" cy="274320"/>
          </a:xfrm>
          <a:prstGeom prst="rect">
            <a:avLst/>
          </a:prstGeom>
          <a:noFill/>
          <a:ln/>
        </p:spPr>
        <p:txBody>
          <a:bodyPr wrap="square" lIns="0" tIns="0" rIns="0" bIns="0" rtlCol="0" anchor="ctr"/>
          <a:lstStyle/>
          <a:p>
            <a:pPr indent="0" marL="0">
              <a:buNone/>
            </a:pPr>
            <a:r>
              <a:rPr lang="en-US" sz="950" dirty="0">
                <a:solidFill>
                  <a:srgbClr val="34D399"/>
                </a:solidFill>
                <a:latin typeface="Courier New" pitchFamily="34" charset="0"/>
                <a:ea typeface="Courier New" pitchFamily="34" charset="-122"/>
                <a:cs typeface="Courier New" pitchFamily="34" charset="-120"/>
              </a:rPr>
              <a:t>$ python3 graph_builder.py</a:t>
            </a:r>
            <a:endParaRPr lang="en-US" sz="950" dirty="0"/>
          </a:p>
        </p:txBody>
      </p:sp>
      <p:sp>
        <p:nvSpPr>
          <p:cNvPr id="47" name="Text 45"/>
          <p:cNvSpPr txBox="1"/>
          <p:nvPr/>
        </p:nvSpPr>
        <p:spPr>
          <a:xfrm>
            <a:off x="9418320" y="2487168"/>
            <a:ext cx="2194560" cy="274320"/>
          </a:xfrm>
          <a:prstGeom prst="rect">
            <a:avLst/>
          </a:prstGeom>
          <a:noFill/>
          <a:ln/>
        </p:spPr>
        <p:txBody>
          <a:bodyPr wrap="square" lIns="0" tIns="0" rIns="0" bIns="0" rtlCol="0" anchor="ctr"/>
          <a:lstStyle/>
          <a:p>
            <a:pPr indent="0" marL="0">
              <a:buNone/>
            </a:pPr>
            <a:r>
              <a:rPr lang="en-US" sz="900" dirty="0">
                <a:solidFill>
                  <a:srgbClr val="9AAEC6"/>
                </a:solidFill>
                <a:latin typeface="Courier New" pitchFamily="34" charset="0"/>
                <a:ea typeface="Courier New" pitchFamily="34" charset="-122"/>
                <a:cs typeface="Courier New" pitchFamily="34" charset="-120"/>
              </a:rPr>
              <a:t>→ only CONSORTIUM finds hero</a:t>
            </a:r>
            <a:endParaRPr lang="en-US" sz="900" dirty="0"/>
          </a:p>
        </p:txBody>
      </p:sp>
      <p:sp>
        <p:nvSpPr>
          <p:cNvPr id="48" name="Text 46"/>
          <p:cNvSpPr txBox="1"/>
          <p:nvPr/>
        </p:nvSpPr>
        <p:spPr>
          <a:xfrm>
            <a:off x="6629400" y="2779776"/>
            <a:ext cx="2743200" cy="274320"/>
          </a:xfrm>
          <a:prstGeom prst="rect">
            <a:avLst/>
          </a:prstGeom>
          <a:noFill/>
          <a:ln/>
        </p:spPr>
        <p:txBody>
          <a:bodyPr wrap="square" lIns="0" tIns="0" rIns="0" bIns="0" rtlCol="0" anchor="ctr"/>
          <a:lstStyle/>
          <a:p>
            <a:pPr indent="0" marL="0">
              <a:buNone/>
            </a:pPr>
            <a:r>
              <a:rPr lang="en-US" sz="950" dirty="0">
                <a:solidFill>
                  <a:srgbClr val="34D399"/>
                </a:solidFill>
                <a:latin typeface="Courier New" pitchFamily="34" charset="0"/>
                <a:ea typeface="Courier New" pitchFamily="34" charset="-122"/>
                <a:cs typeface="Courier New" pitchFamily="34" charset="-120"/>
              </a:rPr>
              <a:t>$ python3 detectors.py</a:t>
            </a:r>
            <a:endParaRPr lang="en-US" sz="950" dirty="0"/>
          </a:p>
        </p:txBody>
      </p:sp>
      <p:sp>
        <p:nvSpPr>
          <p:cNvPr id="49" name="Text 47"/>
          <p:cNvSpPr txBox="1"/>
          <p:nvPr/>
        </p:nvSpPr>
        <p:spPr>
          <a:xfrm>
            <a:off x="9418320" y="2779776"/>
            <a:ext cx="2194560" cy="274320"/>
          </a:xfrm>
          <a:prstGeom prst="rect">
            <a:avLst/>
          </a:prstGeom>
          <a:noFill/>
          <a:ln/>
        </p:spPr>
        <p:txBody>
          <a:bodyPr wrap="square" lIns="0" tIns="0" rIns="0" bIns="0" rtlCol="0" anchor="ctr"/>
          <a:lstStyle/>
          <a:p>
            <a:pPr indent="0" marL="0">
              <a:buNone/>
            </a:pPr>
            <a:r>
              <a:rPr lang="en-US" sz="900" dirty="0">
                <a:solidFill>
                  <a:srgbClr val="9AAEC6"/>
                </a:solidFill>
                <a:latin typeface="Courier New" pitchFamily="34" charset="0"/>
                <a:ea typeface="Courier New" pitchFamily="34" charset="-122"/>
                <a:cs typeface="Courier New" pitchFamily="34" charset="-120"/>
              </a:rPr>
              <a:t>→ 11/12 rings, 0 false</a:t>
            </a:r>
            <a:endParaRPr lang="en-US" sz="900" dirty="0"/>
          </a:p>
        </p:txBody>
      </p:sp>
      <p:sp>
        <p:nvSpPr>
          <p:cNvPr id="50" name="Shape 48"/>
          <p:cNvSpPr/>
          <p:nvPr/>
        </p:nvSpPr>
        <p:spPr>
          <a:xfrm>
            <a:off x="6446520" y="3273552"/>
            <a:ext cx="5212080" cy="2761488"/>
          </a:xfrm>
          <a:prstGeom prst="roundRect">
            <a:avLst>
              <a:gd name="adj" fmla="val 3311"/>
            </a:avLst>
          </a:prstGeom>
          <a:solidFill>
            <a:srgbClr val="082330"/>
          </a:solidFill>
          <a:ln w="15875">
            <a:solidFill>
              <a:srgbClr val="22D3EE"/>
            </a:solidFill>
            <a:prstDash val="solid"/>
          </a:ln>
        </p:spPr>
      </p:sp>
      <p:sp>
        <p:nvSpPr>
          <p:cNvPr id="51" name="Shape 49"/>
          <p:cNvSpPr/>
          <p:nvPr/>
        </p:nvSpPr>
        <p:spPr>
          <a:xfrm>
            <a:off x="6601968" y="3401568"/>
            <a:ext cx="384048" cy="384048"/>
          </a:xfrm>
          <a:prstGeom prst="ellipse">
            <a:avLst/>
          </a:prstGeom>
          <a:solidFill>
            <a:srgbClr val="071A24"/>
          </a:solidFill>
          <a:ln w="15875">
            <a:solidFill>
              <a:srgbClr val="22D3EE"/>
            </a:solidFill>
            <a:prstDash val="solid"/>
          </a:ln>
        </p:spPr>
      </p:sp>
      <p:pic>
        <p:nvPicPr>
          <p:cNvPr id="52" name="Image 0" descr="preencoded.png">    </p:cNvPr>
          <p:cNvPicPr>
            <a:picLocks noChangeAspect="1"/>
          </p:cNvPicPr>
          <p:nvPr/>
        </p:nvPicPr>
        <p:blipFill>
          <a:blip r:embed="rId2"/>
          <a:stretch>
            <a:fillRect/>
          </a:stretch>
        </p:blipFill>
        <p:spPr>
          <a:xfrm>
            <a:off x="6697980" y="3497580"/>
            <a:ext cx="192024" cy="192024"/>
          </a:xfrm>
          <a:prstGeom prst="rect">
            <a:avLst/>
          </a:prstGeom>
        </p:spPr>
      </p:pic>
      <p:sp>
        <p:nvSpPr>
          <p:cNvPr id="53" name="Text 50"/>
          <p:cNvSpPr txBox="1"/>
          <p:nvPr/>
        </p:nvSpPr>
        <p:spPr>
          <a:xfrm>
            <a:off x="7086600" y="3419856"/>
            <a:ext cx="3657600" cy="34747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Questions for you</a:t>
            </a:r>
            <a:endParaRPr lang="en-US" sz="1500" dirty="0"/>
          </a:p>
        </p:txBody>
      </p:sp>
      <p:sp>
        <p:nvSpPr>
          <p:cNvPr id="54" name="Text 51"/>
          <p:cNvSpPr txBox="1"/>
          <p:nvPr/>
        </p:nvSpPr>
        <p:spPr>
          <a:xfrm>
            <a:off x="6629400" y="3931920"/>
            <a:ext cx="274320" cy="384048"/>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1</a:t>
            </a:r>
            <a:endParaRPr lang="en-US" sz="1300" dirty="0"/>
          </a:p>
        </p:txBody>
      </p:sp>
      <p:sp>
        <p:nvSpPr>
          <p:cNvPr id="55" name="Text 52"/>
          <p:cNvSpPr txBox="1"/>
          <p:nvPr/>
        </p:nvSpPr>
        <p:spPr>
          <a:xfrm>
            <a:off x="6931152" y="3931920"/>
            <a:ext cx="4617720" cy="384048"/>
          </a:xfrm>
          <a:prstGeom prst="rect">
            <a:avLst/>
          </a:prstGeom>
          <a:noFill/>
          <a:ln/>
        </p:spPr>
        <p:txBody>
          <a:bodyPr wrap="square" lIns="0" tIns="0" rIns="0" bIns="0" rtlCol="0" anchor="ctr"/>
          <a:lstStyle/>
          <a:p>
            <a:pPr indent="0" marL="0">
              <a:buNone/>
            </a:pPr>
            <a:r>
              <a:rPr lang="en-US" sz="1000" dirty="0">
                <a:solidFill>
                  <a:srgbClr val="E8EEF6"/>
                </a:solidFill>
                <a:latin typeface="Calibri" pitchFamily="34" charset="0"/>
                <a:ea typeface="Calibri" pitchFamily="34" charset="-122"/>
                <a:cs typeface="Calibri" pitchFamily="34" charset="-120"/>
              </a:rPr>
              <a:t>Is salted-hash linkage convincing enough for a banking judge?</a:t>
            </a:r>
            <a:endParaRPr lang="en-US" sz="1000" dirty="0"/>
          </a:p>
        </p:txBody>
      </p:sp>
      <p:sp>
        <p:nvSpPr>
          <p:cNvPr id="56" name="Text 53"/>
          <p:cNvSpPr txBox="1"/>
          <p:nvPr/>
        </p:nvSpPr>
        <p:spPr>
          <a:xfrm>
            <a:off x="6629400" y="4443984"/>
            <a:ext cx="274320" cy="384048"/>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2</a:t>
            </a:r>
            <a:endParaRPr lang="en-US" sz="1300" dirty="0"/>
          </a:p>
        </p:txBody>
      </p:sp>
      <p:sp>
        <p:nvSpPr>
          <p:cNvPr id="57" name="Text 54"/>
          <p:cNvSpPr txBox="1"/>
          <p:nvPr/>
        </p:nvSpPr>
        <p:spPr>
          <a:xfrm>
            <a:off x="6931152" y="4443984"/>
            <a:ext cx="4617720" cy="384048"/>
          </a:xfrm>
          <a:prstGeom prst="rect">
            <a:avLst/>
          </a:prstGeom>
          <a:noFill/>
          <a:ln/>
        </p:spPr>
        <p:txBody>
          <a:bodyPr wrap="square" lIns="0" tIns="0" rIns="0" bIns="0" rtlCol="0" anchor="ctr"/>
          <a:lstStyle/>
          <a:p>
            <a:pPr indent="0" marL="0">
              <a:buNone/>
            </a:pPr>
            <a:r>
              <a:rPr lang="en-US" sz="1000" dirty="0">
                <a:solidFill>
                  <a:srgbClr val="E8EEF6"/>
                </a:solidFill>
                <a:latin typeface="Calibri" pitchFamily="34" charset="0"/>
                <a:ea typeface="Calibri" pitchFamily="34" charset="-122"/>
                <a:cs typeface="Calibri" pitchFamily="34" charset="-120"/>
              </a:rPr>
              <a:t>Which beat should lead: identity resolution or the cross-bank reveal?</a:t>
            </a:r>
            <a:endParaRPr lang="en-US" sz="1000" dirty="0"/>
          </a:p>
        </p:txBody>
      </p:sp>
      <p:sp>
        <p:nvSpPr>
          <p:cNvPr id="58" name="Text 55"/>
          <p:cNvSpPr txBox="1"/>
          <p:nvPr/>
        </p:nvSpPr>
        <p:spPr>
          <a:xfrm>
            <a:off x="6629400" y="4956048"/>
            <a:ext cx="274320" cy="384048"/>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3</a:t>
            </a:r>
            <a:endParaRPr lang="en-US" sz="1300" dirty="0"/>
          </a:p>
        </p:txBody>
      </p:sp>
      <p:sp>
        <p:nvSpPr>
          <p:cNvPr id="59" name="Text 56"/>
          <p:cNvSpPr txBox="1"/>
          <p:nvPr/>
        </p:nvSpPr>
        <p:spPr>
          <a:xfrm>
            <a:off x="6931152" y="4956048"/>
            <a:ext cx="4617720" cy="384048"/>
          </a:xfrm>
          <a:prstGeom prst="rect">
            <a:avLst/>
          </a:prstGeom>
          <a:noFill/>
          <a:ln/>
        </p:spPr>
        <p:txBody>
          <a:bodyPr wrap="square" lIns="0" tIns="0" rIns="0" bIns="0" rtlCol="0" anchor="ctr"/>
          <a:lstStyle/>
          <a:p>
            <a:pPr indent="0" marL="0">
              <a:buNone/>
            </a:pPr>
            <a:r>
              <a:rPr lang="en-US" sz="1000" dirty="0">
                <a:solidFill>
                  <a:srgbClr val="E8EEF6"/>
                </a:solidFill>
                <a:latin typeface="Calibri" pitchFamily="34" charset="0"/>
                <a:ea typeface="Calibri" pitchFamily="34" charset="-122"/>
                <a:cs typeface="Calibri" pitchFamily="34" charset="-120"/>
              </a:rPr>
              <a:t>What would make you doubt our 0 false alarms, so we answer it first?</a:t>
            </a:r>
            <a:endParaRPr lang="en-US" sz="1000" dirty="0"/>
          </a:p>
        </p:txBody>
      </p:sp>
      <p:sp>
        <p:nvSpPr>
          <p:cNvPr id="60" name="Text 57"/>
          <p:cNvSpPr txBox="1"/>
          <p:nvPr/>
        </p:nvSpPr>
        <p:spPr>
          <a:xfrm>
            <a:off x="6629400" y="5468112"/>
            <a:ext cx="274320" cy="384048"/>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4</a:t>
            </a:r>
            <a:endParaRPr lang="en-US" sz="1300" dirty="0"/>
          </a:p>
        </p:txBody>
      </p:sp>
      <p:sp>
        <p:nvSpPr>
          <p:cNvPr id="61" name="Text 58"/>
          <p:cNvSpPr txBox="1"/>
          <p:nvPr/>
        </p:nvSpPr>
        <p:spPr>
          <a:xfrm>
            <a:off x="6931152" y="5468112"/>
            <a:ext cx="4617720" cy="384048"/>
          </a:xfrm>
          <a:prstGeom prst="rect">
            <a:avLst/>
          </a:prstGeom>
          <a:noFill/>
          <a:ln/>
        </p:spPr>
        <p:txBody>
          <a:bodyPr wrap="square" lIns="0" tIns="0" rIns="0" bIns="0" rtlCol="0" anchor="ctr"/>
          <a:lstStyle/>
          <a:p>
            <a:pPr indent="0" marL="0">
              <a:buNone/>
            </a:pPr>
            <a:r>
              <a:rPr lang="en-US" sz="1000" dirty="0">
                <a:solidFill>
                  <a:srgbClr val="E8EEF6"/>
                </a:solidFill>
                <a:latin typeface="Calibri" pitchFamily="34" charset="0"/>
                <a:ea typeface="Calibri" pitchFamily="34" charset="-122"/>
                <a:cs typeface="Calibri" pitchFamily="34" charset="-120"/>
              </a:rPr>
              <a:t>Is a separate verifier AI worth the build time, or should that time go to the dashboard?</a:t>
            </a:r>
            <a:endParaRPr lang="en-US" sz="1000" dirty="0"/>
          </a:p>
        </p:txBody>
      </p:sp>
      <p:sp>
        <p:nvSpPr>
          <p:cNvPr id="62" name="Text 59"/>
          <p:cNvSpPr txBox="1"/>
          <p:nvPr/>
        </p:nvSpPr>
        <p:spPr>
          <a:xfrm>
            <a:off x="548640" y="6144768"/>
            <a:ext cx="11109960" cy="292608"/>
          </a:xfrm>
          <a:prstGeom prst="rect">
            <a:avLst/>
          </a:prstGeom>
          <a:noFill/>
          <a:ln/>
        </p:spPr>
        <p:txBody>
          <a:bodyPr wrap="square" lIns="0" tIns="0" rIns="0" bIns="0" rtlCol="0" anchor="t"/>
          <a:lstStyle/>
          <a:p>
            <a:pPr indent="0" marL="0">
              <a:buNone/>
            </a:pPr>
            <a:r>
              <a:rPr lang="en-US" sz="1300" i="1" dirty="0">
                <a:solidFill>
                  <a:srgbClr val="9AAEC6"/>
                </a:solidFill>
                <a:latin typeface="Cambria" pitchFamily="34" charset="0"/>
                <a:ea typeface="Cambria" pitchFamily="34" charset="-122"/>
                <a:cs typeface="Cambria" pitchFamily="34" charset="-120"/>
              </a:rPr>
              <a:t>Existing systems score transactions. </a:t>
            </a:r>
            <a:pPr indent="0" marL="0">
              <a:buNone/>
            </a:pPr>
            <a:r>
              <a:rPr lang="en-US" sz="1300" i="1" dirty="0">
                <a:solidFill>
                  <a:srgbClr val="FFFFFF"/>
                </a:solidFill>
                <a:latin typeface="Cambria" pitchFamily="34" charset="0"/>
                <a:ea typeface="Cambria" pitchFamily="34" charset="-122"/>
                <a:cs typeface="Cambria" pitchFamily="34" charset="-120"/>
              </a:rPr>
              <a:t>Chakravyuh scores networks, and hands the officer a finished case. </a:t>
            </a:r>
            <a:pPr indent="0" marL="0">
              <a:buNone/>
            </a:pPr>
            <a:r>
              <a:rPr lang="en-US" sz="1300" b="1" i="1" dirty="0">
                <a:solidFill>
                  <a:srgbClr val="22D3EE"/>
                </a:solidFill>
                <a:latin typeface="Cambria" pitchFamily="34" charset="0"/>
                <a:ea typeface="Cambria" pitchFamily="34" charset="-122"/>
                <a:cs typeface="Cambria"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CHAKRAVYUH — Mentor Session</dc:title>
  <dc:subject>PptxGenJS Presentation</dc:subject>
  <dc:creator>Team Tech Coders</dc:creator>
  <cp:lastModifiedBy>Team Tech Coders</cp:lastModifiedBy>
  <cp:revision>1</cp:revision>
  <dcterms:created xsi:type="dcterms:W3CDTF">2026-09-18T16:16:50Z</dcterms:created>
  <dcterms:modified xsi:type="dcterms:W3CDTF">2026-09-18T16:16:50Z</dcterms:modified>
</cp:coreProperties>
</file>